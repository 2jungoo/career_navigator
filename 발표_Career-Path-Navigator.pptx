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자소서를 올리면 어떤 직무에 맞는지 분석하고 직무와 연구실을 추천해 주는 NLP 시스템, Career-Path Navigator를 발표하겠습니다.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자소서를 쓸 때 가장 큰 고민은 '내가 어떤 직무에 맞는가'입니다. 이 막연한 질문을, 입력된 텍스트의 특성을 분석해 정량적으로 답하는 문제로 정의했습니다.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취업·진학 준비생을 대상으로 16개 직무 도메인을 다룹니다. 특정 직군에 국한되지 않고 입력 텍스트 특성으로 판단하는 범용 시스템입니다.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전체 흐름입니다. 문서를 올리면 텍스트를 추출·전처리하고, 네 가지 분류기를 거쳐 하이브리드로 결합한 뒤 도메인을 판정하고 추천합니다. 이제 분류기를 하나씩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키워드는 'Docker' 같은 전문 용어를 정확히 잡지만 맥락을 모릅니다. SBERT는 의미를 잡지만 다국어 범용 모델이라 한국어 전문 용어엔 약합니다. 흥미롭게도 SBERT 단독은 키워드보다 낮습니다. 그래서 둘을 합칩니다.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키워드 45%, 의미 55%로 합치면 90.5%로, 각 단독보다 높습니다. 서로의 약점을 보완하기 때문입니다. 가중치도 0.3~0.9 구간이 모두 비슷한 고원이라, 0.45가 안정적인 선택임을 민감도 분석으로 확인했습니다.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단순 코사인을 넘어, SBERT 위에 로지스틱 회귀 헤드를 학습시켰습니다. 표준화·클래스가중·누수 없는 교차검증으로 LOOCV를 79.8%까지 올렸습니다. 비선형 MLP도 같은 조건에서 실험했는데 67.9%로 오히려 낮았습니다. 데이터가 적을 때는 선형이 낫다는 걸 실험으로 확인했고, 배포는 LogReg로 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평가셋은 16개 도메인을 각 5개씩 균형 있게 84개로 구성했습니다. 특히 키워드 없이 의미로만 판단해야 하는 문장과 도메인이 섞인 문장을 일부러 넣었습니다. 또 실제 자소서 PDF 30개를 별도 확보했습니다.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7가지 방법을 동일 조건에서 비교했습니다. 기본값인 SBERT Hybrid가 90.5%로 가장 안정적이고, 부트스트랩 2,000회로 95% 신뢰구간까지 함께 보고합니다.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강조하고 싶은 부분입니다. 합성 90.5%가 실제 자소서에선 72.4%로 떨어집니다. 이 일반화 갭을 숨기지 않고 공개합니다. 또 실데이터를 학습에 더 넣어봤더니 오히려 성능이 떨어졌습니다. 데이터는 양이 아니라 질이라는 걸 실험으로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데이터를 늘릴수록 헤드 성능이 계속 오르고 아직 고원에 도달하지 않았습니다. 즉 헤드의 한계는 알고리즘이 아니라 데이터 양임을 정량적으로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실제로 자소서를 올려보겠습니다. 도메인이 분류되고, 어떤 키워드가 근거였는지, 그리고 어떤 직무·연구실이 추천되는지 한눈에 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한계로는 모델 크기와 평가셋 규모가 있고, 향후 한국어 특화 모델 교체와 실제 채용공고 매칭으로 확장할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역할 분담입니다. 데이터·모델·평가·프론트엔드로 나눠 진행했고, git과 단일 출처 원칙으로 협업했습니다. 이상 발표를 마치겠습니다.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자연어처리 기말 프로젝트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40280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Universal Career-Path Navigator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11880"/>
            <a:ext cx="128016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0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자소서·CV 텍스트 기반 직무 도메인 추정 &amp; 직무·연구실 추천 NLP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5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팀명 [팀명 입력]   ·   팀원 [4명 이름]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과목 자연어처리   ·   발표일 2026-06-__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도입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문제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20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취업·진학생의 두 가지 고민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8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      ·  </a:t>
            </a:r>
            <a:r>
              <a:rPr sz="1800" b="0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"내가 어떤 직무·분야에 맞는 사람일까?"  — 본인도 모름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8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      ·  </a:t>
            </a:r>
            <a:r>
              <a:rPr sz="1800" b="0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"내 경험에 맞는 직무·연구실은 어디일까?"  — 탐색 비용 큼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20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해결 정의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8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      ·  </a:t>
            </a:r>
            <a:r>
              <a:rPr sz="1800" b="0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자소서 텍스트를 NLP로 분석 → 적합 도메인 추정 + 근거 기반 추천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8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      ·  </a:t>
            </a:r>
            <a:r>
              <a:rPr sz="1800" b="0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막연한 질문을 '입력 텍스트 특성으로 정량 답하는 문제'로 재정의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37376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Career-Path Navigator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00800"/>
            <a:ext cx="1737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02</a:t>
            </a:r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도입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범용(General Purpose) 시스템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활용: 취업 준비 / 자소서 점검 / 연구실 탐색 / 직무 전환 의사결정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2670048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공학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331720"/>
            <a:ext cx="2670048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331720"/>
            <a:ext cx="2670048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기획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2331720"/>
            <a:ext cx="2670048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연구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46120"/>
            <a:ext cx="2670048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관리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3246120"/>
            <a:ext cx="2670048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행정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246120"/>
            <a:ext cx="2670048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경제·금융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3246120"/>
            <a:ext cx="2670048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경영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160520"/>
            <a:ext cx="2670048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간호·보건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4160520"/>
            <a:ext cx="2670048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자연과학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160520"/>
            <a:ext cx="2670048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인문사회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4160520"/>
            <a:ext cx="2670048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예술·디자인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074920"/>
            <a:ext cx="2670048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제조·생산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5074920"/>
            <a:ext cx="2670048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에너지·발전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5074920"/>
            <a:ext cx="2670048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항공·우주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5074920"/>
            <a:ext cx="2670048" cy="74980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미디어·콘텐츠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0533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16개 직무 도메인 — 특정 개인이 아닌 입력 텍스트 특성으로 판단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Career-Path Navigator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6400800"/>
            <a:ext cx="1737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03</a:t>
            </a:r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도입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시스템 전체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57400" y="1783080"/>
            <a:ext cx="804672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PDF / TXT / MD 업로드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2377440"/>
            <a:ext cx="80467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57400" y="2514600"/>
            <a:ext cx="804672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텍스트 추출 (pdf.js)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3108960"/>
            <a:ext cx="80467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3246120"/>
            <a:ext cx="804672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한국어 문장분리 + 정규화 + 불용어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840480"/>
            <a:ext cx="80467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3977640"/>
            <a:ext cx="8046720" cy="603504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4개 분류기  ▸ 키워드 / BoN / SBERT / 학습헤드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572000"/>
            <a:ext cx="80467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57400" y="4709160"/>
            <a:ext cx="8046720" cy="603504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Hybrid 결합  (키워드 45% + 의미 55%)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5303520"/>
            <a:ext cx="80467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440680"/>
            <a:ext cx="804672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도메인 분류 + 직무·연구실 추천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Career-Path Navigator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6400800"/>
            <a:ext cx="1737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04</a:t>
            </a:r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방법론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분류 방법 ①②③ — 점진 고도화</a:t>
            </a:r>
            <a:r>
              <a:rPr sz="2200" b="1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   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83080"/>
          <a:ext cx="1083564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88920"/>
                <a:gridCol w="4206240"/>
                <a:gridCol w="201168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3A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anchor="ctr" marT="50800" marB="50800">
                    <a:lnB w="25400" cap="flat">
                      <a:solidFill>
                        <a:srgbClr val="1E3A8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3A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원리</a:t>
                      </a:r>
                    </a:p>
                  </a:txBody>
                  <a:tcPr anchor="ctr" marT="50800" marB="50800">
                    <a:lnB w="25400" cap="flat">
                      <a:solidFill>
                        <a:srgbClr val="1E3A8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3A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합성 정확도</a:t>
                      </a:r>
                    </a:p>
                  </a:txBody>
                  <a:tcPr anchor="ctr" marT="50800" marB="50800">
                    <a:lnB w="25400" cap="flat">
                      <a:solidFill>
                        <a:srgbClr val="1E3A8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E3A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한계</a:t>
                      </a:r>
                    </a:p>
                  </a:txBody>
                  <a:tcPr anchor="ctr" marT="50800" marB="50800">
                    <a:lnB w="25400" cap="flat">
                      <a:solidFill>
                        <a:srgbClr val="1E3A8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키워드 (Baseline)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600+ 도메인 사전 매칭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86.9%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단어 의미·맥락 모름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BoN 코사인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자모 2~3-gram 빈도 벡터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Hybrid 89.3%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어휘 겹침만 봄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SBERT 코사인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MiniLM-L12 384-d 의미 임베딩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78.6% (단독)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한국어 특화 X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43484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100" b="1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핵심 관찰: SBERT 단독(78.6%)이 키워드(86.9%)보다 낮다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→ 키워드는 전문 용어를 정확히, SBERT는 맥락을 — 그래서 둘을 합친다 (다음 장)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Career-Path Navigator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00800"/>
            <a:ext cx="1737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05</a:t>
            </a:r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방법론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Hybrid 결합 + 가중치 근거</a:t>
            </a:r>
            <a:r>
              <a:rPr sz="2200" b="1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   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10835640" cy="9144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최종 점수 = 키워드(정규화) × 0.45  +  SBERT(정규화) × 0.55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7180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9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19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결과: SBERT Hybrid 90.5% — 각 단독(86.9% · 78.6%)보다 높음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      ·  </a:t>
            </a:r>
            <a:r>
              <a:rPr sz="1700" b="0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두 방법이 서로의 약점을 보완 → 상호 보완 입증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9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19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가중치 민감도: 0.3~0.9 구간에서 정확도 고원(plateau)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      ·  </a:t>
            </a:r>
            <a:r>
              <a:rPr sz="1700" b="0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0.45는 임의값이 아니라 sweep 실험으로 검증된 안정 구간 내 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Career-Path Navigator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00800"/>
            <a:ext cx="1737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06</a:t>
            </a:r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방법론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학습 헤드 + 알고리즘 비교</a:t>
            </a:r>
            <a:r>
              <a:rPr sz="2200" b="1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   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18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frozen SBERT 임베딩 위에 학습하는 분류 헤드 (지도학습 요소)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18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고도화 3종: 표준화 + 클래스가중(balanced) + 누수 없는 nested CV(C 선택)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6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      ·  </a:t>
            </a:r>
            <a:r>
              <a:rPr sz="1600" b="0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nested LOOCV  42.6% → 76.5% → (평가셋 균형화) 79.8%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1800" b="1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알고리즘 비교 (동일 LOOCV): LogReg 79.8%  vs  MLP 67.9%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6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      ·  </a:t>
            </a:r>
            <a:r>
              <a:rPr sz="1600" b="0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클래스당 5개 소규모 → 선형이 비선형보다 우수 (MLP 과적합)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6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      ·  </a:t>
            </a:r>
            <a:r>
              <a:rPr sz="1600" b="0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배포는 LogReg 유지 (브라우저 선형 추론 W·x+b 와 호환)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37376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Career-Path Navigator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00800"/>
            <a:ext cx="1737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07</a:t>
            </a:r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방법론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데이터셋 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18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평가셋 84개 — 16개 도메인 각 5개 균형 + insufficient 4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6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      ·  </a:t>
            </a:r>
            <a:r>
              <a:rPr sz="1600" b="0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synthetic 61 / lexical_gap 11(의미만 판단) / stress_test 8(도메인 혼재) / negative 4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18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실제 자소서 PDF 30개 (평균 ~2,400자) — 홀드아웃용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18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단일 출처화: evaluationDataset.js → exportEvalDataset.mjs로 JSON 자동 생성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6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      ·  </a:t>
            </a:r>
            <a:r>
              <a:rPr sz="1600" b="0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앱·Python 학습 간 불일치 방지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전처리: 문장분리 / 정규화 / 불용어 28개 / 키워드 가중치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37376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Career-Path Navigator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00800"/>
            <a:ext cx="1737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08</a:t>
            </a:r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7-way Ablation (95% 부트스트랩 CI)</a:t>
            </a:r>
            <a:r>
              <a:rPr sz="2200" b="1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   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37360"/>
          <a:ext cx="10835640" cy="3840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9080"/>
                <a:gridCol w="1645920"/>
                <a:gridCol w="2194560"/>
                <a:gridCol w="1554480"/>
                <a:gridCol w="1371600"/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3A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anchor="ctr" marT="50800" marB="50800">
                    <a:lnB w="25400" cap="flat">
                      <a:solidFill>
                        <a:srgbClr val="1E3A8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E3A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Accuracy</a:t>
                      </a:r>
                    </a:p>
                  </a:txBody>
                  <a:tcPr anchor="ctr" marT="50800" marB="50800">
                    <a:lnB w="25400" cap="flat">
                      <a:solidFill>
                        <a:srgbClr val="1E3A8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E3A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95% CI</a:t>
                      </a:r>
                    </a:p>
                  </a:txBody>
                  <a:tcPr anchor="ctr" marT="50800" marB="50800">
                    <a:lnB w="25400" cap="flat">
                      <a:solidFill>
                        <a:srgbClr val="1E3A8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E3A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Macro F1</a:t>
                      </a:r>
                    </a:p>
                  </a:txBody>
                  <a:tcPr anchor="ctr" marT="50800" marB="50800">
                    <a:lnB w="25400" cap="flat">
                      <a:solidFill>
                        <a:srgbClr val="1E3A8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E3A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Cov</a:t>
                      </a:r>
                    </a:p>
                  </a:txBody>
                  <a:tcPr anchor="ctr" marT="50800" marB="50800">
                    <a:lnB w="25400" cap="flat">
                      <a:solidFill>
                        <a:srgbClr val="1E3A8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Keyword-only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86.9%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[79.8, 94.0]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87.4%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89.3%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BoN Hybrid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89.3%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[82.1, 95.2]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89.4%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91.7%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SBERT-only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78.6%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[69.0, 86.9]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79.5%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89.3%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B4530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SBERT Hybrid  ★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B4530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90.5%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B4530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[83.3, 96.4]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B4530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90.7%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B4530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91.7%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SBERT Hybrid + Threshold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90.5%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[83.3, 96.4]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90.7%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91.7%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Learned Head (LOOCV)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79.8%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[70.2, 86.9]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78.6%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Learned Head Hybrid (참고)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92.9%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[86.9, 97.6]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89.7%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806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동일 조건 비교 · 부트스트랩 2,000회 · 서비스 기본값 = SBERT Hybrid (90.5%)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Career-Path Navigator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00800"/>
            <a:ext cx="1737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09</a:t>
            </a:r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평가 · 핵심 차별점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정직성: 일반화 갭 &amp; 음성 결과</a:t>
            </a:r>
            <a:r>
              <a:rPr sz="2200" b="1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   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1800" b="1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합성 90.5% → 실데이터 홀드아웃 72.4% (실제 자소서 29개)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6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      ·  </a:t>
            </a:r>
            <a:r>
              <a:rPr sz="1600" b="0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실데이터에선 Macro F1 기준 SBERT Hybrid(86.4%)가 Keyword(79.0%)를 더 뚜렷이 앞섬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18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"97.1% → 90.5%는 성능 저하가 아니다"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6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      ·  </a:t>
            </a:r>
            <a:r>
              <a:rPr sz="1600" b="0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평가셋을 키우고 어렵게 만들어 과대평가를 바로잡은 정직한 수치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18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실데이터 투입 실험 (음성 결과)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6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      ·  </a:t>
            </a:r>
            <a:r>
              <a:rPr sz="1600" b="0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PDF를 학습에 추가하니 79.8% → 77.4% 하락 → "데이터 무작정 확대는 답이 아니다"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37376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Career-Path Navigator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00800"/>
            <a:ext cx="1737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학습곡선 — 한계는 알고리즘이 아니라 데이터 양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74519"/>
          <a:ext cx="539496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/>
                <a:gridCol w="173736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E3A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샘플 수</a:t>
                      </a:r>
                    </a:p>
                  </a:txBody>
                  <a:tcPr anchor="ctr" marT="50800" marB="50800">
                    <a:lnB w="25400" cap="flat">
                      <a:solidFill>
                        <a:srgbClr val="1E3A8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3A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Accuracy</a:t>
                      </a:r>
                    </a:p>
                  </a:txBody>
                  <a:tcPr anchor="ctr" marT="50800" marB="50800">
                    <a:lnB w="25400" cap="flat">
                      <a:solidFill>
                        <a:srgbClr val="1E3A8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3A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Macro F1</a:t>
                      </a:r>
                    </a:p>
                  </a:txBody>
                  <a:tcPr anchor="ctr" marT="50800" marB="50800">
                    <a:lnB w="25400" cap="flat">
                      <a:solidFill>
                        <a:srgbClr val="1E3A8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41.7%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0.322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66.7%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0.622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71.4%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0.660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56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76.2%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0.732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92240" y="1920240"/>
            <a:ext cx="521208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18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곡선이 상승 중 · 고원 미도달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6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      ·  </a:t>
            </a:r>
            <a:r>
              <a:rPr sz="1600" b="0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헤드의 한계 = 알고리즘이 아니라 데이터 양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6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      ·  </a:t>
            </a:r>
            <a:r>
              <a:rPr sz="1600" b="0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질 좋은 데이터를 더 모으면 코사인(90.5%)에 근접 가능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6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      ·  </a:t>
            </a:r>
            <a:r>
              <a:rPr sz="1600" b="0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기준선: 코사인 90.5% · 랜덤 6.25%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Career-Path Navigator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00800"/>
            <a:ext cx="1737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11</a:t>
            </a:r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라이브 데모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20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자소서 PDF 업로드 → 도메인 분류 결과 + 레이더 차트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20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Audit Panel: 분류 근거 키워드·가중치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20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Mind-Map: 역량 → 직무·연구실 연결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2000" b="0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(옵션) Document Inspector: 두 자소서 유사도 비교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937760"/>
            <a:ext cx="10835640" cy="96012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💡 SBERT 첫 로딩 수 초 → 데모 영상 사전 녹화 권장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Career-Path Navigator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00800"/>
            <a:ext cx="1737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12</a:t>
            </a:r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한계 &amp; 향후 방향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457200" cy="50800"/>
          </a:xfrm>
          <a:prstGeom prst="rect">
            <a:avLst/>
          </a:prstGeom>
          <a:solidFill>
            <a:srgbClr val="576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51206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SBERT 모델 ~40MB 첫 로딩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평가셋 규모 (84개)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어휘 중의성 (논문·브랜드 등)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합성 ↔ 실데이터 갭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828800"/>
            <a:ext cx="45720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9385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향후 방향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514600"/>
            <a:ext cx="51206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한국어 특화 SBERT (bge-m3-ko)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채용공고 크롤링·매칭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평가셋 확대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—  </a:t>
            </a: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fine-tuned SBERT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Career-Path Navigator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6400800"/>
            <a:ext cx="1737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13</a:t>
            </a:r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팀 역할분담 &amp; 협업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960120" cy="444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28800"/>
          <a:ext cx="10835640" cy="2468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280"/>
                <a:gridCol w="3337560"/>
                <a:gridCol w="6400800"/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E3A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팀원</a:t>
                      </a:r>
                    </a:p>
                  </a:txBody>
                  <a:tcPr anchor="ctr" marT="50800" marB="50800">
                    <a:lnB w="25400" cap="flat">
                      <a:solidFill>
                        <a:srgbClr val="1E3A8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3A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</a:t>
                      </a:r>
                    </a:p>
                  </a:txBody>
                  <a:tcPr anchor="ctr" marT="50800" marB="50800">
                    <a:lnB w="25400" cap="flat">
                      <a:solidFill>
                        <a:srgbClr val="1E3A8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E3A8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anchor="ctr" marT="50800" marB="50800">
                    <a:lnB w="25400" cap="flat">
                      <a:solidFill>
                        <a:srgbClr val="1E3A8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수집·라벨링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평가셋 84개, PDF 30개, 도메인 프로파일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NLP 파이프라인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4개 분류기, Hybrid, 임베딩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평가·실험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ablation, LOOCV, CI, 학습곡선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프론트엔드·시각화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F17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React 대시보드, 차트, Mind-Map</a:t>
                      </a:r>
                    </a:p>
                  </a:txBody>
                  <a:tcPr anchor="ctr" marT="38100" marB="38100">
                    <a:lnB w="9525" cap="flat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5720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협업: git 이력 · 단일 출처·재현 가능 워크플로우 · 동료평가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※ A~D를 실제 팀원 이름으로 교체하세요 (ROLES.md 참고)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Career-Path Navigator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00800"/>
            <a:ext cx="1737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76374"/>
                </a:solidFill>
                <a:latin typeface="맑은 고딕"/>
                <a:ea typeface="맑은 고딕"/>
                <a:cs typeface="맑은 고딕"/>
              </a:rPr>
              <a:t>14</a:t>
            </a:r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