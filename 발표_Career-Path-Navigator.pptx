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1380" autoAdjust="0"/>
  </p:normalViewPr>
  <p:slideViewPr>
    <p:cSldViewPr snapToGrid="0" snapToObjects="1">
      <p:cViewPr varScale="1">
        <p:scale>
          <a:sx n="46" d="100"/>
          <a:sy n="46" d="100"/>
        </p:scale>
        <p:origin x="1827" y="3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3711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[0:00~0:30]</a:t>
            </a:r>
          </a:p>
          <a:p>
            <a:r>
              <a:rPr dirty="0" err="1"/>
              <a:t>안녕하</a:t>
            </a:r>
            <a:r>
              <a:rPr lang="ko-KR" altLang="en-US" dirty="0"/>
              <a:t>세요 </a:t>
            </a:r>
            <a:r>
              <a:rPr lang="en-US" dirty="0"/>
              <a:t>5</a:t>
            </a:r>
            <a:r>
              <a:rPr lang="ko-KR" altLang="en-US" dirty="0"/>
              <a:t>조 </a:t>
            </a:r>
            <a:r>
              <a:rPr dirty="0" err="1"/>
              <a:t>자연어처리</a:t>
            </a:r>
            <a:r>
              <a:rPr dirty="0"/>
              <a:t> </a:t>
            </a:r>
            <a:r>
              <a:rPr dirty="0" err="1"/>
              <a:t>기말</a:t>
            </a:r>
            <a:r>
              <a:rPr dirty="0"/>
              <a:t> </a:t>
            </a:r>
            <a:r>
              <a:rPr dirty="0" err="1"/>
              <a:t>프로젝트</a:t>
            </a:r>
            <a:r>
              <a:rPr dirty="0"/>
              <a:t> Career-Path Navigator </a:t>
            </a:r>
            <a:r>
              <a:rPr dirty="0" err="1"/>
              <a:t>발표를</a:t>
            </a:r>
            <a:r>
              <a:rPr dirty="0"/>
              <a:t> </a:t>
            </a:r>
            <a:r>
              <a:rPr dirty="0" err="1"/>
              <a:t>시작하겠습니다</a:t>
            </a:r>
            <a:r>
              <a:rPr dirty="0"/>
              <a:t>.</a:t>
            </a:r>
          </a:p>
          <a:p>
            <a:r>
              <a:rPr dirty="0" err="1"/>
              <a:t>저희</a:t>
            </a:r>
            <a:r>
              <a:rPr dirty="0"/>
              <a:t> </a:t>
            </a:r>
            <a:r>
              <a:rPr dirty="0" err="1"/>
              <a:t>시스템을</a:t>
            </a:r>
            <a:r>
              <a:rPr dirty="0"/>
              <a:t> 한 </a:t>
            </a:r>
            <a:r>
              <a:rPr dirty="0" err="1"/>
              <a:t>줄로</a:t>
            </a:r>
            <a:r>
              <a:rPr dirty="0"/>
              <a:t> </a:t>
            </a:r>
            <a:r>
              <a:rPr dirty="0" err="1"/>
              <a:t>요약하면</a:t>
            </a:r>
            <a:r>
              <a:rPr lang="en-US" dirty="0"/>
              <a:t> </a:t>
            </a:r>
            <a:r>
              <a:rPr dirty="0" err="1"/>
              <a:t>자소서</a:t>
            </a:r>
            <a:r>
              <a:rPr dirty="0"/>
              <a:t> 한 </a:t>
            </a:r>
            <a:r>
              <a:rPr dirty="0" err="1"/>
              <a:t>장을</a:t>
            </a:r>
            <a:r>
              <a:rPr dirty="0"/>
              <a:t> </a:t>
            </a:r>
            <a:r>
              <a:rPr dirty="0" err="1"/>
              <a:t>올리면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직무에</a:t>
            </a:r>
            <a:r>
              <a:rPr dirty="0"/>
              <a:t> </a:t>
            </a:r>
            <a:r>
              <a:rPr dirty="0" err="1"/>
              <a:t>맞는지</a:t>
            </a:r>
            <a:r>
              <a:rPr dirty="0"/>
              <a:t> </a:t>
            </a:r>
            <a:r>
              <a:rPr dirty="0" err="1"/>
              <a:t>판정하고</a:t>
            </a:r>
            <a:r>
              <a:rPr dirty="0"/>
              <a:t>, </a:t>
            </a:r>
            <a:r>
              <a:rPr dirty="0" err="1"/>
              <a:t>직무와</a:t>
            </a:r>
            <a:r>
              <a:rPr dirty="0"/>
              <a:t> </a:t>
            </a:r>
            <a:r>
              <a:rPr dirty="0" err="1"/>
              <a:t>연구실을</a:t>
            </a:r>
            <a:r>
              <a:rPr dirty="0"/>
              <a:t> </a:t>
            </a:r>
            <a:r>
              <a:rPr dirty="0" err="1"/>
              <a:t>근거와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추천해</a:t>
            </a:r>
            <a:r>
              <a:rPr dirty="0"/>
              <a:t> </a:t>
            </a:r>
            <a:r>
              <a:rPr dirty="0" err="1"/>
              <a:t>주는</a:t>
            </a:r>
            <a:r>
              <a:rPr dirty="0"/>
              <a:t> NLP </a:t>
            </a:r>
            <a:r>
              <a:rPr dirty="0" err="1"/>
              <a:t>시스템입니다</a:t>
            </a:r>
            <a:r>
              <a:rPr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[0:30~1:30]</a:t>
            </a:r>
          </a:p>
          <a:p>
            <a:r>
              <a:rPr dirty="0" err="1"/>
              <a:t>취업이나</a:t>
            </a:r>
            <a:r>
              <a:rPr dirty="0"/>
              <a:t> </a:t>
            </a:r>
            <a:r>
              <a:rPr dirty="0" err="1"/>
              <a:t>진학을</a:t>
            </a:r>
            <a:r>
              <a:rPr dirty="0"/>
              <a:t> </a:t>
            </a:r>
            <a:r>
              <a:rPr dirty="0" err="1"/>
              <a:t>준비할</a:t>
            </a:r>
            <a:r>
              <a:rPr dirty="0"/>
              <a:t> 때 </a:t>
            </a:r>
            <a:r>
              <a:rPr dirty="0" err="1"/>
              <a:t>누구나</a:t>
            </a:r>
            <a:r>
              <a:rPr dirty="0"/>
              <a:t> 두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고민을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 첫</a:t>
            </a:r>
            <a:r>
              <a:rPr lang="ko-KR" altLang="en-US" dirty="0"/>
              <a:t>번</a:t>
            </a:r>
            <a:r>
              <a:rPr dirty="0"/>
              <a:t>째</a:t>
            </a:r>
            <a:r>
              <a:rPr lang="ko-KR" altLang="en-US" dirty="0"/>
              <a:t>는</a:t>
            </a:r>
            <a:r>
              <a:rPr dirty="0"/>
              <a:t> "</a:t>
            </a:r>
            <a:r>
              <a:rPr dirty="0" err="1"/>
              <a:t>내가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직무에</a:t>
            </a:r>
            <a:r>
              <a:rPr dirty="0"/>
              <a:t> </a:t>
            </a:r>
            <a:r>
              <a:rPr dirty="0" err="1"/>
              <a:t>맞는</a:t>
            </a:r>
            <a:r>
              <a:rPr dirty="0"/>
              <a:t> </a:t>
            </a:r>
            <a:r>
              <a:rPr dirty="0" err="1"/>
              <a:t>사람일까</a:t>
            </a:r>
            <a:r>
              <a:rPr dirty="0"/>
              <a:t>"</a:t>
            </a:r>
            <a:r>
              <a:rPr lang="ko-KR" altLang="en-US" dirty="0"/>
              <a:t>라는 고민과</a:t>
            </a:r>
            <a:r>
              <a:rPr dirty="0"/>
              <a:t> </a:t>
            </a:r>
            <a:r>
              <a:rPr lang="en-US" dirty="0"/>
              <a:t>,</a:t>
            </a:r>
            <a:r>
              <a:rPr lang="ko-KR" altLang="en-US" dirty="0"/>
              <a:t>두번째로는</a:t>
            </a:r>
            <a:r>
              <a:rPr lang="en-US" dirty="0"/>
              <a:t> </a:t>
            </a:r>
            <a:r>
              <a:rPr lang="ko-KR" altLang="en-US" dirty="0"/>
              <a:t>학과 특성상 대학원 진학을 많이 고민하는데</a:t>
            </a:r>
            <a:r>
              <a:rPr dirty="0"/>
              <a:t> ＂내 </a:t>
            </a:r>
            <a:r>
              <a:rPr dirty="0" err="1"/>
              <a:t>경험에</a:t>
            </a:r>
            <a:r>
              <a:rPr dirty="0"/>
              <a:t> </a:t>
            </a:r>
            <a:r>
              <a:rPr dirty="0" err="1"/>
              <a:t>맞는</a:t>
            </a:r>
            <a:r>
              <a:rPr dirty="0"/>
              <a:t> </a:t>
            </a:r>
            <a:r>
              <a:rPr dirty="0" err="1"/>
              <a:t>직무나</a:t>
            </a:r>
            <a:r>
              <a:rPr dirty="0"/>
              <a:t> </a:t>
            </a:r>
            <a:r>
              <a:rPr dirty="0" err="1"/>
              <a:t>연구실은</a:t>
            </a:r>
            <a:r>
              <a:rPr dirty="0"/>
              <a:t> </a:t>
            </a:r>
            <a:r>
              <a:rPr dirty="0" err="1"/>
              <a:t>어디일까</a:t>
            </a:r>
            <a:r>
              <a:rPr dirty="0"/>
              <a:t>＂</a:t>
            </a:r>
            <a:r>
              <a:rPr lang="ko-KR" altLang="en-US" dirty="0"/>
              <a:t>라는 고민입니다</a:t>
            </a:r>
            <a:r>
              <a:rPr lang="en-US" altLang="ko-KR" dirty="0"/>
              <a:t>.</a:t>
            </a:r>
            <a:r>
              <a:rPr dirty="0"/>
              <a:t> </a:t>
            </a:r>
            <a:r>
              <a:rPr lang="ko-KR" altLang="en-US" dirty="0"/>
              <a:t>대부분의 학생들은 자신의 적합성을 잘 모르고</a:t>
            </a:r>
            <a:r>
              <a:rPr dirty="0"/>
              <a:t> </a:t>
            </a:r>
            <a:r>
              <a:rPr lang="ko-KR" altLang="en-US" dirty="0"/>
              <a:t>직무 및 연구실의 </a:t>
            </a:r>
            <a:r>
              <a:rPr dirty="0" err="1"/>
              <a:t>선택지가</a:t>
            </a:r>
            <a:r>
              <a:rPr dirty="0"/>
              <a:t> </a:t>
            </a:r>
            <a:r>
              <a:rPr dirty="0" err="1"/>
              <a:t>수백</a:t>
            </a:r>
            <a:r>
              <a:rPr dirty="0"/>
              <a:t> </a:t>
            </a:r>
            <a:r>
              <a:rPr dirty="0" err="1"/>
              <a:t>개라</a:t>
            </a:r>
            <a:r>
              <a:rPr dirty="0"/>
              <a:t> </a:t>
            </a:r>
            <a:r>
              <a:rPr dirty="0" err="1"/>
              <a:t>하나씩</a:t>
            </a:r>
            <a:r>
              <a:rPr dirty="0"/>
              <a:t> </a:t>
            </a:r>
            <a:r>
              <a:rPr dirty="0" err="1"/>
              <a:t>찾아보는</a:t>
            </a:r>
            <a:r>
              <a:rPr dirty="0"/>
              <a:t> </a:t>
            </a:r>
            <a:r>
              <a:rPr dirty="0" err="1"/>
              <a:t>비용이</a:t>
            </a:r>
            <a:r>
              <a:rPr dirty="0"/>
              <a:t> </a:t>
            </a:r>
            <a:r>
              <a:rPr dirty="0" err="1"/>
              <a:t>큽니다</a:t>
            </a:r>
            <a:r>
              <a:rPr dirty="0"/>
              <a:t>.</a:t>
            </a:r>
          </a:p>
          <a:p>
            <a:r>
              <a:rPr lang="ko-KR" altLang="en-US" dirty="0"/>
              <a:t>이 부분을 문제로 정의하고 </a:t>
            </a:r>
            <a:r>
              <a:rPr dirty="0" err="1"/>
              <a:t>사람이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텍스트가</a:t>
            </a:r>
            <a:r>
              <a:rPr dirty="0"/>
              <a:t> </a:t>
            </a:r>
            <a:r>
              <a:rPr dirty="0" err="1"/>
              <a:t>답하게</a:t>
            </a:r>
            <a:r>
              <a:rPr dirty="0"/>
              <a:t> </a:t>
            </a:r>
            <a:r>
              <a:rPr dirty="0" err="1"/>
              <a:t>하자</a:t>
            </a:r>
            <a:r>
              <a:rPr dirty="0"/>
              <a:t>.</a:t>
            </a:r>
            <a:r>
              <a:rPr lang="en-US" dirty="0"/>
              <a:t> </a:t>
            </a:r>
            <a:r>
              <a:rPr lang="ko-KR" altLang="en-US" dirty="0"/>
              <a:t>라는 모토로 프로젝트를 진행했습니다</a:t>
            </a:r>
            <a:r>
              <a:rPr lang="en-US" altLang="ko-KR" dirty="0"/>
              <a:t>.</a:t>
            </a:r>
            <a:r>
              <a:rPr dirty="0"/>
              <a:t> </a:t>
            </a:r>
            <a:r>
              <a:rPr dirty="0" err="1"/>
              <a:t>자소서</a:t>
            </a:r>
            <a:r>
              <a:rPr dirty="0"/>
              <a:t> </a:t>
            </a:r>
            <a:r>
              <a:rPr dirty="0" err="1"/>
              <a:t>텍스트를</a:t>
            </a:r>
            <a:r>
              <a:rPr dirty="0"/>
              <a:t> </a:t>
            </a:r>
            <a:r>
              <a:rPr dirty="0" err="1"/>
              <a:t>넣으면</a:t>
            </a:r>
            <a:r>
              <a:rPr dirty="0"/>
              <a:t>, </a:t>
            </a:r>
            <a:r>
              <a:rPr dirty="0" err="1"/>
              <a:t>NLP가</a:t>
            </a:r>
            <a:r>
              <a:rPr dirty="0"/>
              <a:t> 16개 </a:t>
            </a:r>
            <a:r>
              <a:rPr dirty="0" err="1"/>
              <a:t>도메인</a:t>
            </a:r>
            <a:r>
              <a:rPr dirty="0"/>
              <a:t> 중 </a:t>
            </a:r>
            <a:r>
              <a:rPr dirty="0" err="1"/>
              <a:t>적합한</a:t>
            </a:r>
            <a:r>
              <a:rPr dirty="0"/>
              <a:t> </a:t>
            </a:r>
            <a:r>
              <a:rPr dirty="0" err="1"/>
              <a:t>곳을</a:t>
            </a:r>
            <a:r>
              <a:rPr dirty="0"/>
              <a:t> </a:t>
            </a:r>
            <a:r>
              <a:rPr dirty="0" err="1"/>
              <a:t>판정하고</a:t>
            </a:r>
            <a:r>
              <a:rPr dirty="0"/>
              <a:t>, </a:t>
            </a:r>
            <a:r>
              <a:rPr dirty="0" err="1"/>
              <a:t>판정</a:t>
            </a:r>
            <a:r>
              <a:rPr dirty="0"/>
              <a:t> </a:t>
            </a:r>
            <a:r>
              <a:rPr dirty="0" err="1"/>
              <a:t>근거와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직무·연구실을</a:t>
            </a:r>
            <a:r>
              <a:rPr dirty="0"/>
              <a:t> </a:t>
            </a:r>
            <a:r>
              <a:rPr dirty="0" err="1"/>
              <a:t>추천합니다</a:t>
            </a:r>
            <a:r>
              <a:rPr dirty="0"/>
              <a:t>.</a:t>
            </a:r>
          </a:p>
          <a:p>
            <a:r>
              <a:rPr dirty="0" err="1"/>
              <a:t>여기서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lang="ko-KR" altLang="en-US" dirty="0"/>
              <a:t>것은 </a:t>
            </a:r>
            <a:r>
              <a:rPr dirty="0" err="1"/>
              <a:t>점수만</a:t>
            </a:r>
            <a:r>
              <a:rPr dirty="0"/>
              <a:t> </a:t>
            </a:r>
            <a:r>
              <a:rPr dirty="0" err="1"/>
              <a:t>던져주는</a:t>
            </a:r>
            <a:r>
              <a:rPr dirty="0"/>
              <a:t> </a:t>
            </a:r>
            <a:r>
              <a:rPr lang="ko-KR" altLang="en-US" dirty="0"/>
              <a:t>것이 </a:t>
            </a:r>
            <a:r>
              <a:rPr dirty="0" err="1"/>
              <a:t>아니라</a:t>
            </a:r>
            <a:r>
              <a:rPr dirty="0"/>
              <a:t>,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키워드와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유사도가</a:t>
            </a:r>
            <a:r>
              <a:rPr dirty="0"/>
              <a:t> 그 </a:t>
            </a:r>
            <a:r>
              <a:rPr dirty="0" err="1"/>
              <a:t>판정을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근거를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보여주는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추천입니다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[1:30~2:10]</a:t>
            </a:r>
          </a:p>
          <a:p>
            <a:r>
              <a:rPr lang="ko-KR" altLang="en-US" dirty="0"/>
              <a:t>다음은 </a:t>
            </a:r>
            <a:r>
              <a:rPr lang="en-US" dirty="0"/>
              <a:t>16</a:t>
            </a:r>
            <a:r>
              <a:rPr lang="ko-KR" altLang="en-US" dirty="0"/>
              <a:t>개의 </a:t>
            </a:r>
            <a:r>
              <a:rPr dirty="0" err="1"/>
              <a:t>대상</a:t>
            </a:r>
            <a:r>
              <a:rPr dirty="0"/>
              <a:t> </a:t>
            </a:r>
            <a:r>
              <a:rPr dirty="0" err="1"/>
              <a:t>도메인입니다</a:t>
            </a:r>
            <a:r>
              <a:rPr dirty="0"/>
              <a:t>. </a:t>
            </a:r>
            <a:r>
              <a:rPr dirty="0" err="1"/>
              <a:t>공학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IT </a:t>
            </a:r>
            <a:r>
              <a:rPr dirty="0" err="1"/>
              <a:t>직군</a:t>
            </a:r>
            <a:r>
              <a:rPr lang="ko-KR" altLang="en-US" dirty="0"/>
              <a:t>뿐</a:t>
            </a:r>
            <a:r>
              <a:rPr dirty="0" err="1"/>
              <a:t>만이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간호·보건</a:t>
            </a:r>
            <a:r>
              <a:rPr dirty="0"/>
              <a:t>, </a:t>
            </a:r>
            <a:r>
              <a:rPr dirty="0" err="1"/>
              <a:t>예술·디자인</a:t>
            </a:r>
            <a:r>
              <a:rPr dirty="0"/>
              <a:t>, </a:t>
            </a:r>
            <a:r>
              <a:rPr dirty="0" err="1"/>
              <a:t>항공·우주까지</a:t>
            </a:r>
            <a:r>
              <a:rPr dirty="0"/>
              <a:t> </a:t>
            </a:r>
            <a:r>
              <a:rPr lang="ko-KR" altLang="en-US" dirty="0"/>
              <a:t>총 </a:t>
            </a:r>
            <a:r>
              <a:rPr dirty="0"/>
              <a:t>16개 </a:t>
            </a:r>
            <a:r>
              <a:rPr dirty="0" err="1"/>
              <a:t>직무</a:t>
            </a:r>
            <a:r>
              <a:rPr dirty="0"/>
              <a:t> </a:t>
            </a:r>
            <a:r>
              <a:rPr dirty="0" err="1"/>
              <a:t>도메인을</a:t>
            </a:r>
            <a:r>
              <a:rPr dirty="0"/>
              <a:t> </a:t>
            </a:r>
            <a:r>
              <a:rPr dirty="0" err="1"/>
              <a:t>다룹니다</a:t>
            </a:r>
            <a:r>
              <a:rPr dirty="0"/>
              <a:t>.</a:t>
            </a:r>
          </a:p>
          <a:p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개인이나</a:t>
            </a:r>
            <a:r>
              <a:rPr dirty="0"/>
              <a:t> </a:t>
            </a:r>
            <a:r>
              <a:rPr dirty="0" err="1"/>
              <a:t>직군에</a:t>
            </a:r>
            <a:r>
              <a:rPr dirty="0"/>
              <a:t> </a:t>
            </a:r>
            <a:r>
              <a:rPr dirty="0" err="1"/>
              <a:t>맞춘</a:t>
            </a:r>
            <a:r>
              <a:rPr dirty="0"/>
              <a:t> </a:t>
            </a:r>
            <a:r>
              <a:rPr dirty="0" err="1"/>
              <a:t>시스템이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, </a:t>
            </a:r>
            <a:r>
              <a:rPr dirty="0" err="1"/>
              <a:t>입력된</a:t>
            </a:r>
            <a:r>
              <a:rPr dirty="0"/>
              <a:t> </a:t>
            </a:r>
            <a:r>
              <a:rPr dirty="0" err="1"/>
              <a:t>텍스트의</a:t>
            </a:r>
            <a:r>
              <a:rPr dirty="0"/>
              <a:t> </a:t>
            </a:r>
            <a:r>
              <a:rPr dirty="0" err="1"/>
              <a:t>특성만으로</a:t>
            </a:r>
            <a:r>
              <a:rPr dirty="0"/>
              <a:t> </a:t>
            </a:r>
            <a:r>
              <a:rPr dirty="0" err="1"/>
              <a:t>판단하는</a:t>
            </a:r>
            <a:r>
              <a:rPr dirty="0"/>
              <a:t> </a:t>
            </a:r>
            <a:r>
              <a:rPr dirty="0" err="1"/>
              <a:t>범용</a:t>
            </a:r>
            <a:r>
              <a:rPr dirty="0"/>
              <a:t> </a:t>
            </a:r>
            <a:r>
              <a:rPr dirty="0" err="1"/>
              <a:t>시스템</a:t>
            </a:r>
            <a:r>
              <a:rPr lang="ko-KR" altLang="en-US" dirty="0"/>
              <a:t>이고 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코드와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사전</a:t>
            </a:r>
            <a:r>
              <a:rPr dirty="0"/>
              <a:t> </a:t>
            </a:r>
            <a:r>
              <a:rPr dirty="0" err="1"/>
              <a:t>구조에서</a:t>
            </a:r>
            <a:r>
              <a:rPr dirty="0"/>
              <a:t> </a:t>
            </a:r>
            <a:r>
              <a:rPr dirty="0" err="1"/>
              <a:t>도메인만</a:t>
            </a:r>
            <a:r>
              <a:rPr dirty="0"/>
              <a:t> </a:t>
            </a:r>
            <a:r>
              <a:rPr dirty="0" err="1"/>
              <a:t>추가하면</a:t>
            </a:r>
            <a:r>
              <a:rPr dirty="0"/>
              <a:t> </a:t>
            </a:r>
            <a:r>
              <a:rPr dirty="0" err="1"/>
              <a:t>확장</a:t>
            </a:r>
            <a:r>
              <a:rPr lang="ko-KR" altLang="en-US" dirty="0"/>
              <a:t>할 수 있다는 점이 있습니다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[2:10~3:10]</a:t>
            </a:r>
          </a:p>
          <a:p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파이프라인입니다</a:t>
            </a:r>
            <a:r>
              <a:rPr dirty="0"/>
              <a:t>. </a:t>
            </a:r>
            <a:r>
              <a:rPr dirty="0" err="1"/>
              <a:t>PDF나</a:t>
            </a:r>
            <a:r>
              <a:rPr dirty="0"/>
              <a:t> </a:t>
            </a:r>
            <a:r>
              <a:rPr dirty="0" err="1"/>
              <a:t>텍스트</a:t>
            </a:r>
            <a:r>
              <a:rPr dirty="0"/>
              <a:t> </a:t>
            </a:r>
            <a:r>
              <a:rPr dirty="0" err="1"/>
              <a:t>파일을</a:t>
            </a:r>
            <a:r>
              <a:rPr dirty="0"/>
              <a:t> </a:t>
            </a:r>
            <a:r>
              <a:rPr dirty="0" err="1"/>
              <a:t>올리면</a:t>
            </a:r>
            <a:r>
              <a:rPr dirty="0"/>
              <a:t> </a:t>
            </a:r>
            <a:r>
              <a:rPr dirty="0" err="1"/>
              <a:t>pdf.js로</a:t>
            </a:r>
            <a:r>
              <a:rPr dirty="0"/>
              <a:t> </a:t>
            </a:r>
            <a:r>
              <a:rPr dirty="0" err="1"/>
              <a:t>텍스트를</a:t>
            </a:r>
            <a:r>
              <a:rPr dirty="0"/>
              <a:t> </a:t>
            </a:r>
            <a:r>
              <a:rPr dirty="0" err="1"/>
              <a:t>추출하고</a:t>
            </a:r>
            <a:r>
              <a:rPr dirty="0"/>
              <a:t>, </a:t>
            </a:r>
            <a:r>
              <a:rPr dirty="0" err="1"/>
              <a:t>한국어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분리·정규화·불용어</a:t>
            </a:r>
            <a:r>
              <a:rPr dirty="0"/>
              <a:t> </a:t>
            </a:r>
            <a:r>
              <a:rPr dirty="0" err="1"/>
              <a:t>처리를</a:t>
            </a:r>
            <a:r>
              <a:rPr dirty="0"/>
              <a:t> </a:t>
            </a:r>
            <a:r>
              <a:rPr dirty="0" err="1"/>
              <a:t>거칩니다</a:t>
            </a:r>
            <a:r>
              <a:rPr dirty="0"/>
              <a:t>.</a:t>
            </a:r>
          </a:p>
          <a:p>
            <a:r>
              <a:rPr dirty="0" err="1"/>
              <a:t>키워드</a:t>
            </a:r>
            <a:r>
              <a:rPr dirty="0"/>
              <a:t>, Bag-of-N-grams, SBERT,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헤드</a:t>
            </a:r>
            <a:r>
              <a:rPr dirty="0"/>
              <a:t> — 네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분류기가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텍스트를</a:t>
            </a:r>
            <a:r>
              <a:rPr dirty="0"/>
              <a:t> </a:t>
            </a:r>
            <a:r>
              <a:rPr dirty="0" err="1"/>
              <a:t>각자</a:t>
            </a:r>
            <a:r>
              <a:rPr dirty="0"/>
              <a:t> </a:t>
            </a:r>
            <a:r>
              <a:rPr dirty="0" err="1"/>
              <a:t>분석하고</a:t>
            </a:r>
            <a:r>
              <a:rPr dirty="0"/>
              <a:t>, 그 </a:t>
            </a:r>
            <a:r>
              <a:rPr dirty="0" err="1"/>
              <a:t>결과를</a:t>
            </a:r>
            <a:r>
              <a:rPr dirty="0"/>
              <a:t> </a:t>
            </a:r>
            <a:r>
              <a:rPr dirty="0" err="1"/>
              <a:t>키워드</a:t>
            </a:r>
            <a:r>
              <a:rPr dirty="0"/>
              <a:t> 0.45 </a:t>
            </a:r>
            <a:r>
              <a:rPr lang="en-US" dirty="0"/>
              <a:t>+ </a:t>
            </a:r>
            <a:r>
              <a:rPr dirty="0"/>
              <a:t> </a:t>
            </a:r>
            <a:r>
              <a:rPr dirty="0" err="1"/>
              <a:t>의미</a:t>
            </a:r>
            <a:r>
              <a:rPr dirty="0"/>
              <a:t> 0.55로 </a:t>
            </a:r>
            <a:r>
              <a:rPr dirty="0" err="1"/>
              <a:t>하이브리드</a:t>
            </a:r>
            <a:r>
              <a:rPr dirty="0"/>
              <a:t> </a:t>
            </a:r>
            <a:r>
              <a:rPr dirty="0" err="1"/>
              <a:t>결합해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도메인을</a:t>
            </a:r>
            <a:r>
              <a:rPr dirty="0"/>
              <a:t> </a:t>
            </a:r>
            <a:r>
              <a:rPr dirty="0" err="1"/>
              <a:t>판정합니다</a:t>
            </a:r>
            <a:r>
              <a:rPr dirty="0"/>
              <a:t>.</a:t>
            </a:r>
            <a:r>
              <a:rPr lang="en-US" dirty="0"/>
              <a:t> </a:t>
            </a:r>
            <a:r>
              <a:rPr lang="ko-KR" altLang="en-US" dirty="0"/>
              <a:t>추론 과정 및 </a:t>
            </a:r>
            <a:r>
              <a:rPr lang="en-US" altLang="ko-KR" dirty="0"/>
              <a:t>SBERT </a:t>
            </a:r>
            <a:r>
              <a:rPr lang="ko-KR" altLang="en-US" dirty="0" err="1"/>
              <a:t>임베딩도</a:t>
            </a:r>
            <a:r>
              <a:rPr lang="ko-KR" altLang="en-US" dirty="0"/>
              <a:t> 브라우저에서 실시간 계산됩니다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[3:10~4:20]</a:t>
            </a:r>
          </a:p>
          <a:p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베이스라인인</a:t>
            </a:r>
            <a:r>
              <a:rPr dirty="0"/>
              <a:t>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방식입니다</a:t>
            </a:r>
            <a:r>
              <a:rPr dirty="0"/>
              <a:t>. 600개 </a:t>
            </a:r>
            <a:r>
              <a:rPr dirty="0" err="1"/>
              <a:t>이상의</a:t>
            </a:r>
            <a:r>
              <a:rPr dirty="0"/>
              <a:t> </a:t>
            </a:r>
            <a:r>
              <a:rPr dirty="0" err="1"/>
              <a:t>도메인</a:t>
            </a:r>
            <a:r>
              <a:rPr dirty="0"/>
              <a:t> </a:t>
            </a:r>
            <a:r>
              <a:rPr dirty="0" err="1"/>
              <a:t>사전을</a:t>
            </a:r>
            <a:r>
              <a:rPr dirty="0"/>
              <a:t> </a:t>
            </a:r>
            <a:r>
              <a:rPr dirty="0" err="1"/>
              <a:t>매칭해서</a:t>
            </a:r>
            <a:r>
              <a:rPr dirty="0"/>
              <a:t> 86.9%가 </a:t>
            </a:r>
            <a:r>
              <a:rPr dirty="0" err="1"/>
              <a:t>나옵니다</a:t>
            </a:r>
            <a:r>
              <a:rPr dirty="0"/>
              <a:t>. </a:t>
            </a:r>
            <a:r>
              <a:rPr dirty="0" err="1"/>
              <a:t>단순하지만</a:t>
            </a:r>
            <a:r>
              <a:rPr lang="ko-KR" altLang="en-US" dirty="0"/>
              <a:t> </a:t>
            </a:r>
            <a:r>
              <a:rPr dirty="0" err="1"/>
              <a:t>단어의</a:t>
            </a:r>
            <a:r>
              <a:rPr dirty="0"/>
              <a:t> </a:t>
            </a:r>
            <a:r>
              <a:rPr dirty="0" err="1"/>
              <a:t>의미나</a:t>
            </a:r>
            <a:r>
              <a:rPr dirty="0"/>
              <a:t> </a:t>
            </a:r>
            <a:r>
              <a:rPr dirty="0" err="1"/>
              <a:t>맥락은</a:t>
            </a:r>
            <a:r>
              <a:rPr dirty="0"/>
              <a:t> </a:t>
            </a:r>
            <a:r>
              <a:rPr lang="ko-KR" altLang="en-US" dirty="0"/>
              <a:t>모른다는 단점이 있습니다</a:t>
            </a:r>
            <a:r>
              <a:rPr dirty="0"/>
              <a:t>.</a:t>
            </a:r>
          </a:p>
          <a:p>
            <a:r>
              <a:rPr dirty="0" err="1"/>
              <a:t>둘째</a:t>
            </a:r>
            <a:r>
              <a:rPr dirty="0"/>
              <a:t>, </a:t>
            </a:r>
            <a:r>
              <a:rPr dirty="0" err="1"/>
              <a:t>BoN</a:t>
            </a:r>
            <a:r>
              <a:rPr dirty="0"/>
              <a:t> </a:t>
            </a:r>
            <a:r>
              <a:rPr dirty="0" err="1"/>
              <a:t>코사인</a:t>
            </a:r>
            <a:r>
              <a:rPr lang="ko-KR" altLang="en-US" dirty="0"/>
              <a:t>으로</a:t>
            </a:r>
            <a:r>
              <a:rPr dirty="0"/>
              <a:t> </a:t>
            </a:r>
            <a:r>
              <a:rPr dirty="0" err="1"/>
              <a:t>음절</a:t>
            </a:r>
            <a:r>
              <a:rPr dirty="0"/>
              <a:t> 2~3그램 </a:t>
            </a:r>
            <a:r>
              <a:rPr dirty="0" err="1"/>
              <a:t>빈도</a:t>
            </a:r>
            <a:r>
              <a:rPr dirty="0"/>
              <a:t> </a:t>
            </a:r>
            <a:r>
              <a:rPr dirty="0" err="1"/>
              <a:t>벡터로</a:t>
            </a:r>
            <a:r>
              <a:rPr dirty="0"/>
              <a:t> </a:t>
            </a:r>
            <a:r>
              <a:rPr dirty="0" err="1"/>
              <a:t>유사도를</a:t>
            </a:r>
            <a:r>
              <a:rPr dirty="0"/>
              <a:t> </a:t>
            </a:r>
            <a:r>
              <a:rPr dirty="0" err="1"/>
              <a:t>재고</a:t>
            </a:r>
            <a:r>
              <a:rPr dirty="0"/>
              <a:t>, </a:t>
            </a:r>
            <a:r>
              <a:rPr dirty="0" err="1"/>
              <a:t>하이브리드로</a:t>
            </a:r>
            <a:r>
              <a:rPr dirty="0"/>
              <a:t> </a:t>
            </a:r>
            <a:r>
              <a:rPr dirty="0" err="1"/>
              <a:t>묶으면</a:t>
            </a:r>
            <a:r>
              <a:rPr dirty="0"/>
              <a:t> 89.3%</a:t>
            </a:r>
            <a:r>
              <a:rPr lang="ko-KR" altLang="en-US" dirty="0"/>
              <a:t>의 정확도를 보</a:t>
            </a:r>
            <a:r>
              <a:rPr dirty="0" err="1"/>
              <a:t>입니다</a:t>
            </a:r>
            <a:r>
              <a:rPr dirty="0"/>
              <a:t>. </a:t>
            </a:r>
            <a:r>
              <a:rPr dirty="0" err="1"/>
              <a:t>하지만</a:t>
            </a:r>
            <a:r>
              <a:rPr dirty="0"/>
              <a:t> </a:t>
            </a:r>
            <a:r>
              <a:rPr dirty="0" err="1"/>
              <a:t>어휘가</a:t>
            </a:r>
            <a:r>
              <a:rPr dirty="0"/>
              <a:t> </a:t>
            </a:r>
            <a:r>
              <a:rPr dirty="0" err="1"/>
              <a:t>겹치는지만</a:t>
            </a:r>
            <a:r>
              <a:rPr dirty="0"/>
              <a:t> </a:t>
            </a:r>
            <a:r>
              <a:rPr dirty="0" err="1"/>
              <a:t>봅니다</a:t>
            </a:r>
            <a:r>
              <a:rPr dirty="0"/>
              <a:t>.</a:t>
            </a:r>
          </a:p>
          <a:p>
            <a:r>
              <a:rPr dirty="0" err="1"/>
              <a:t>셋째</a:t>
            </a:r>
            <a:r>
              <a:rPr dirty="0"/>
              <a:t>, SBERT </a:t>
            </a:r>
            <a:r>
              <a:rPr dirty="0" err="1"/>
              <a:t>코사인</a:t>
            </a:r>
            <a:r>
              <a:rPr lang="ko-KR" altLang="en-US" dirty="0" err="1"/>
              <a:t>으고</a:t>
            </a:r>
            <a:r>
              <a:rPr dirty="0"/>
              <a:t> 384차원 </a:t>
            </a: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임베딩으로</a:t>
            </a:r>
            <a:r>
              <a:rPr dirty="0"/>
              <a:t> </a:t>
            </a:r>
            <a:r>
              <a:rPr dirty="0" err="1"/>
              <a:t>맥락을</a:t>
            </a:r>
            <a:r>
              <a:rPr dirty="0"/>
              <a:t> </a:t>
            </a:r>
            <a:r>
              <a:rPr dirty="0" err="1"/>
              <a:t>봅니다</a:t>
            </a:r>
            <a:r>
              <a:rPr dirty="0"/>
              <a:t>. </a:t>
            </a:r>
            <a:r>
              <a:rPr lang="ko-KR" altLang="en-US" dirty="0"/>
              <a:t>여기서 발견한 점으로</a:t>
            </a:r>
            <a:r>
              <a:rPr dirty="0"/>
              <a:t> SBERT </a:t>
            </a:r>
            <a:r>
              <a:rPr dirty="0" err="1"/>
              <a:t>단독은</a:t>
            </a:r>
            <a:r>
              <a:rPr dirty="0"/>
              <a:t> 78.6%로,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키워드보다</a:t>
            </a:r>
            <a:r>
              <a:rPr dirty="0"/>
              <a:t> </a:t>
            </a:r>
            <a:r>
              <a:rPr dirty="0" err="1"/>
              <a:t>낮습니다</a:t>
            </a:r>
            <a:r>
              <a:rPr dirty="0"/>
              <a:t>. </a:t>
            </a:r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범용</a:t>
            </a:r>
            <a:r>
              <a:rPr dirty="0"/>
              <a:t> </a:t>
            </a:r>
            <a:r>
              <a:rPr dirty="0" err="1"/>
              <a:t>모델이라</a:t>
            </a:r>
            <a:r>
              <a:rPr dirty="0"/>
              <a:t> </a:t>
            </a:r>
            <a:r>
              <a:rPr dirty="0" err="1"/>
              <a:t>한국어</a:t>
            </a:r>
            <a:r>
              <a:rPr dirty="0"/>
              <a:t> </a:t>
            </a:r>
            <a:r>
              <a:rPr dirty="0" err="1"/>
              <a:t>전문</a:t>
            </a:r>
            <a:r>
              <a:rPr dirty="0"/>
              <a:t> </a:t>
            </a:r>
            <a:r>
              <a:rPr dirty="0" err="1"/>
              <a:t>용어에</a:t>
            </a:r>
            <a:r>
              <a:rPr dirty="0"/>
              <a:t> </a:t>
            </a:r>
            <a:r>
              <a:rPr dirty="0" err="1"/>
              <a:t>약하기</a:t>
            </a:r>
            <a:r>
              <a:rPr dirty="0"/>
              <a:t> </a:t>
            </a:r>
            <a:r>
              <a:rPr dirty="0" err="1"/>
              <a:t>때문입니다</a:t>
            </a:r>
            <a:r>
              <a:rPr dirty="0"/>
              <a:t>.</a:t>
            </a:r>
          </a:p>
          <a:p>
            <a:r>
              <a:rPr lang="ko-KR" altLang="en-US" dirty="0"/>
              <a:t>그러므로 </a:t>
            </a:r>
            <a:r>
              <a:rPr dirty="0" err="1"/>
              <a:t>키워드는</a:t>
            </a:r>
            <a:r>
              <a:rPr dirty="0"/>
              <a:t> </a:t>
            </a:r>
            <a:r>
              <a:rPr dirty="0" err="1"/>
              <a:t>전문</a:t>
            </a:r>
            <a:r>
              <a:rPr dirty="0"/>
              <a:t> </a:t>
            </a:r>
            <a:r>
              <a:rPr dirty="0" err="1"/>
              <a:t>용어를</a:t>
            </a:r>
            <a:r>
              <a:rPr dirty="0"/>
              <a:t> </a:t>
            </a:r>
            <a:r>
              <a:rPr dirty="0" err="1"/>
              <a:t>정확히</a:t>
            </a:r>
            <a:r>
              <a:rPr dirty="0"/>
              <a:t> </a:t>
            </a:r>
            <a:r>
              <a:rPr dirty="0" err="1"/>
              <a:t>잡고</a:t>
            </a:r>
            <a:r>
              <a:rPr dirty="0"/>
              <a:t>, </a:t>
            </a:r>
            <a:r>
              <a:rPr dirty="0" err="1"/>
              <a:t>SBERT는</a:t>
            </a:r>
            <a:r>
              <a:rPr dirty="0"/>
              <a:t> </a:t>
            </a:r>
            <a:r>
              <a:rPr dirty="0" err="1"/>
              <a:t>맥락을</a:t>
            </a:r>
            <a:r>
              <a:rPr dirty="0"/>
              <a:t> </a:t>
            </a:r>
            <a:r>
              <a:rPr dirty="0" err="1"/>
              <a:t>잡습니다</a:t>
            </a:r>
            <a:r>
              <a:rPr dirty="0"/>
              <a:t>. </a:t>
            </a:r>
            <a:r>
              <a:rPr dirty="0" err="1"/>
              <a:t>약점이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다</a:t>
            </a:r>
            <a:r>
              <a:rPr lang="ko-KR" altLang="en-US" dirty="0" err="1"/>
              <a:t>르기에</a:t>
            </a:r>
            <a:r>
              <a:rPr lang="ko-KR" altLang="en-US" dirty="0"/>
              <a:t> 저희는 하이브리드 방법을 </a:t>
            </a:r>
            <a:r>
              <a:rPr lang="ko-KR" altLang="en-US" dirty="0" err="1"/>
              <a:t>사용해야겠다고</a:t>
            </a:r>
            <a:r>
              <a:rPr lang="ko-KR" altLang="en-US" dirty="0"/>
              <a:t> 결론을 내렸습니다</a:t>
            </a:r>
            <a:r>
              <a:rPr lang="en-US" altLang="ko-KR" dirty="0"/>
              <a:t>.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[4:20~5:20]</a:t>
            </a:r>
          </a:p>
          <a:p>
            <a:r>
              <a:rPr dirty="0"/>
              <a:t>두 </a:t>
            </a:r>
            <a:r>
              <a:rPr dirty="0" err="1"/>
              <a:t>점수를</a:t>
            </a:r>
            <a:r>
              <a:rPr dirty="0"/>
              <a:t> </a:t>
            </a:r>
            <a:r>
              <a:rPr dirty="0" err="1"/>
              <a:t>각각</a:t>
            </a:r>
            <a:r>
              <a:rPr dirty="0"/>
              <a:t> </a:t>
            </a:r>
            <a:r>
              <a:rPr dirty="0" err="1"/>
              <a:t>정규화한</a:t>
            </a:r>
            <a:r>
              <a:rPr dirty="0"/>
              <a:t> 뒤 </a:t>
            </a:r>
            <a:r>
              <a:rPr dirty="0" err="1"/>
              <a:t>키워드</a:t>
            </a:r>
            <a:r>
              <a:rPr dirty="0"/>
              <a:t> 0.45, SBERT 0.55로 </a:t>
            </a:r>
            <a:r>
              <a:rPr dirty="0" err="1"/>
              <a:t>합칩니다</a:t>
            </a:r>
            <a:r>
              <a:rPr dirty="0"/>
              <a:t>. </a:t>
            </a:r>
            <a:r>
              <a:rPr dirty="0" err="1"/>
              <a:t>오른쪽</a:t>
            </a:r>
            <a:r>
              <a:rPr dirty="0"/>
              <a:t> </a:t>
            </a:r>
            <a:r>
              <a:rPr dirty="0" err="1"/>
              <a:t>차트를</a:t>
            </a:r>
            <a:r>
              <a:rPr dirty="0"/>
              <a:t> </a:t>
            </a:r>
            <a:r>
              <a:rPr dirty="0" err="1"/>
              <a:t>보시면</a:t>
            </a:r>
            <a:r>
              <a:rPr dirty="0"/>
              <a:t>,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단독</a:t>
            </a:r>
            <a:r>
              <a:rPr dirty="0"/>
              <a:t> 86.9, SBERT </a:t>
            </a:r>
            <a:r>
              <a:rPr dirty="0" err="1"/>
              <a:t>단독</a:t>
            </a:r>
            <a:r>
              <a:rPr dirty="0"/>
              <a:t> 78.6인데 </a:t>
            </a:r>
            <a:r>
              <a:rPr dirty="0" err="1"/>
              <a:t>결합하면</a:t>
            </a:r>
            <a:r>
              <a:rPr dirty="0"/>
              <a:t> 90.5%</a:t>
            </a:r>
            <a:r>
              <a:rPr lang="ko-KR" altLang="en-US" dirty="0"/>
              <a:t>로로</a:t>
            </a:r>
            <a:r>
              <a:rPr dirty="0"/>
              <a:t> 각 </a:t>
            </a:r>
            <a:r>
              <a:rPr dirty="0" err="1"/>
              <a:t>단독보다</a:t>
            </a:r>
            <a:r>
              <a:rPr dirty="0"/>
              <a:t> </a:t>
            </a:r>
            <a:r>
              <a:rPr dirty="0" err="1"/>
              <a:t>높습니다</a:t>
            </a:r>
            <a:r>
              <a:rPr dirty="0"/>
              <a:t>. </a:t>
            </a:r>
            <a:r>
              <a:rPr dirty="0" err="1"/>
              <a:t>서로의</a:t>
            </a:r>
            <a:r>
              <a:rPr dirty="0"/>
              <a:t> </a:t>
            </a:r>
            <a:r>
              <a:rPr dirty="0" err="1"/>
              <a:t>약점을</a:t>
            </a:r>
            <a:r>
              <a:rPr dirty="0"/>
              <a:t> </a:t>
            </a:r>
            <a:r>
              <a:rPr dirty="0" err="1"/>
              <a:t>보완한다는</a:t>
            </a:r>
            <a:r>
              <a:rPr dirty="0"/>
              <a:t> </a:t>
            </a:r>
            <a:r>
              <a:rPr dirty="0" err="1"/>
              <a:t>가설</a:t>
            </a:r>
            <a:r>
              <a:rPr lang="ko-KR" altLang="en-US" dirty="0"/>
              <a:t>을 수치로 확인해 </a:t>
            </a:r>
            <a:r>
              <a:rPr lang="ko-KR" altLang="en-US" dirty="0" err="1"/>
              <a:t>옳다라는것을</a:t>
            </a:r>
            <a:r>
              <a:rPr lang="ko-KR" altLang="en-US" dirty="0"/>
              <a:t> 확인했습니다</a:t>
            </a:r>
            <a:r>
              <a:rPr lang="en-US" altLang="ko-KR" dirty="0"/>
              <a:t>.</a:t>
            </a:r>
            <a:endParaRPr dirty="0"/>
          </a:p>
          <a:p>
            <a:r>
              <a:rPr dirty="0" err="1"/>
              <a:t>가중치</a:t>
            </a:r>
            <a:r>
              <a:rPr dirty="0"/>
              <a:t> 0.45가 </a:t>
            </a:r>
            <a:r>
              <a:rPr lang="ko-KR" altLang="en-US" dirty="0"/>
              <a:t>값은 임의로 설정한 값이 아닌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dirty="0"/>
              <a:t> 0부터 1까지 전 </a:t>
            </a:r>
            <a:r>
              <a:rPr dirty="0" err="1"/>
              <a:t>구간을</a:t>
            </a:r>
            <a:r>
              <a:rPr dirty="0"/>
              <a:t> </a:t>
            </a:r>
            <a:r>
              <a:rPr dirty="0" err="1"/>
              <a:t>스윕해</a:t>
            </a:r>
            <a:r>
              <a:rPr dirty="0"/>
              <a:t> 본 </a:t>
            </a:r>
            <a:r>
              <a:rPr dirty="0" err="1"/>
              <a:t>결과</a:t>
            </a:r>
            <a:r>
              <a:rPr dirty="0"/>
              <a:t> 0.3에서 0.9 </a:t>
            </a:r>
            <a:r>
              <a:rPr dirty="0" err="1"/>
              <a:t>사이가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비슷한</a:t>
            </a:r>
            <a:r>
              <a:rPr dirty="0"/>
              <a:t> </a:t>
            </a:r>
            <a:r>
              <a:rPr lang="ko-KR" altLang="en-US" dirty="0"/>
              <a:t>정확도를 보였기에 </a:t>
            </a:r>
            <a:r>
              <a:rPr lang="ko-KR" altLang="en-US" dirty="0" err="1"/>
              <a:t>중간값인</a:t>
            </a:r>
            <a:r>
              <a:rPr lang="ko-KR" altLang="en-US" dirty="0"/>
              <a:t> </a:t>
            </a:r>
            <a:r>
              <a:rPr lang="en-US" altLang="ko-KR" dirty="0"/>
              <a:t>0.45</a:t>
            </a:r>
            <a:r>
              <a:rPr lang="ko-KR" altLang="en-US" dirty="0"/>
              <a:t>를 사용했습니다</a:t>
            </a:r>
            <a:r>
              <a:rPr dirty="0"/>
              <a:t>. </a:t>
            </a:r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값에</a:t>
            </a:r>
            <a:r>
              <a:rPr dirty="0"/>
              <a:t> </a:t>
            </a:r>
            <a:r>
              <a:rPr dirty="0" err="1"/>
              <a:t>과적합된</a:t>
            </a:r>
            <a:r>
              <a:rPr dirty="0"/>
              <a:t> 게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안정</a:t>
            </a:r>
            <a:r>
              <a:rPr dirty="0"/>
              <a:t>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안의</a:t>
            </a:r>
            <a:r>
              <a:rPr dirty="0"/>
              <a:t> </a:t>
            </a:r>
            <a:r>
              <a:rPr dirty="0" err="1"/>
              <a:t>선택임을</a:t>
            </a:r>
            <a:r>
              <a:rPr dirty="0"/>
              <a:t> </a:t>
            </a:r>
            <a:r>
              <a:rPr dirty="0" err="1"/>
              <a:t>민감도</a:t>
            </a:r>
            <a:r>
              <a:rPr dirty="0"/>
              <a:t> </a:t>
            </a:r>
            <a:r>
              <a:rPr dirty="0" err="1"/>
              <a:t>분석으로</a:t>
            </a:r>
            <a:r>
              <a:rPr dirty="0"/>
              <a:t> </a:t>
            </a:r>
            <a:r>
              <a:rPr dirty="0" err="1"/>
              <a:t>확인했습니다</a:t>
            </a:r>
            <a:r>
              <a:rPr dirty="0"/>
              <a:t>.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[5:20~6:30]</a:t>
            </a:r>
          </a:p>
          <a:p>
            <a:r>
              <a:rPr dirty="0" err="1"/>
              <a:t>여기까지는</a:t>
            </a:r>
            <a:r>
              <a:rPr dirty="0"/>
              <a:t> </a:t>
            </a:r>
            <a:r>
              <a:rPr dirty="0" err="1"/>
              <a:t>학습이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방법이었고</a:t>
            </a:r>
            <a:r>
              <a:rPr dirty="0"/>
              <a:t>, </a:t>
            </a:r>
            <a:r>
              <a:rPr dirty="0" err="1"/>
              <a:t>이제</a:t>
            </a:r>
            <a:r>
              <a:rPr dirty="0"/>
              <a:t> </a:t>
            </a:r>
            <a:r>
              <a:rPr dirty="0" err="1"/>
              <a:t>지도학습</a:t>
            </a:r>
            <a:r>
              <a:rPr dirty="0"/>
              <a:t> </a:t>
            </a:r>
            <a:r>
              <a:rPr lang="ko-KR" altLang="en-US" dirty="0"/>
              <a:t>부분입니다</a:t>
            </a:r>
            <a:r>
              <a:rPr lang="en-US" altLang="ko-KR" dirty="0"/>
              <a:t>.</a:t>
            </a:r>
            <a:r>
              <a:rPr dirty="0"/>
              <a:t> </a:t>
            </a:r>
            <a:r>
              <a:rPr lang="en-US" dirty="0"/>
              <a:t>F</a:t>
            </a:r>
            <a:r>
              <a:rPr dirty="0"/>
              <a:t>rozen SBERT </a:t>
            </a:r>
            <a:r>
              <a:rPr dirty="0" err="1"/>
              <a:t>임베딩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로지스틱</a:t>
            </a:r>
            <a:r>
              <a:rPr dirty="0"/>
              <a:t> </a:t>
            </a:r>
            <a:r>
              <a:rPr dirty="0" err="1"/>
              <a:t>회귀</a:t>
            </a:r>
            <a:r>
              <a:rPr dirty="0"/>
              <a:t> </a:t>
            </a:r>
            <a:r>
              <a:rPr dirty="0" err="1"/>
              <a:t>분류</a:t>
            </a:r>
            <a:r>
              <a:rPr dirty="0"/>
              <a:t> </a:t>
            </a:r>
            <a:r>
              <a:rPr dirty="0" err="1"/>
              <a:t>헤드를</a:t>
            </a:r>
            <a:r>
              <a:rPr dirty="0"/>
              <a:t> </a:t>
            </a:r>
            <a:r>
              <a:rPr dirty="0" err="1"/>
              <a:t>학습시켰습니다</a:t>
            </a:r>
            <a:r>
              <a:rPr dirty="0"/>
              <a:t>.</a:t>
            </a:r>
          </a:p>
          <a:p>
            <a:r>
              <a:rPr dirty="0"/>
              <a:t>세 </a:t>
            </a:r>
            <a:r>
              <a:rPr dirty="0" err="1"/>
              <a:t>가지</a:t>
            </a:r>
            <a:r>
              <a:rPr dirty="0"/>
              <a:t> </a:t>
            </a:r>
            <a:r>
              <a:rPr lang="ko-KR" altLang="en-US" dirty="0"/>
              <a:t>방법을 사용했습니다</a:t>
            </a:r>
            <a:r>
              <a:rPr dirty="0"/>
              <a:t>.</a:t>
            </a:r>
            <a:r>
              <a:rPr lang="en-US" dirty="0"/>
              <a:t> </a:t>
            </a:r>
            <a:r>
              <a:rPr lang="ko-KR" altLang="en-US" dirty="0"/>
              <a:t>첫번째는 </a:t>
            </a:r>
            <a:r>
              <a:rPr dirty="0" err="1"/>
              <a:t>표준화</a:t>
            </a:r>
            <a:r>
              <a:rPr lang="en-US" dirty="0"/>
              <a:t>, </a:t>
            </a:r>
            <a:r>
              <a:rPr lang="ko-KR" altLang="en-US" dirty="0"/>
              <a:t>두번째는 </a:t>
            </a:r>
            <a:r>
              <a:rPr dirty="0" err="1"/>
              <a:t>소수</a:t>
            </a:r>
            <a:r>
              <a:rPr dirty="0"/>
              <a:t> </a:t>
            </a:r>
            <a:r>
              <a:rPr dirty="0" err="1"/>
              <a:t>도메인을</a:t>
            </a:r>
            <a:r>
              <a:rPr dirty="0"/>
              <a:t> </a:t>
            </a:r>
            <a:r>
              <a:rPr dirty="0" err="1"/>
              <a:t>보호하는</a:t>
            </a:r>
            <a:r>
              <a:rPr dirty="0"/>
              <a:t> </a:t>
            </a:r>
            <a:r>
              <a:rPr dirty="0" err="1"/>
              <a:t>클래스</a:t>
            </a:r>
            <a:r>
              <a:rPr dirty="0"/>
              <a:t> </a:t>
            </a:r>
            <a:r>
              <a:rPr dirty="0" err="1"/>
              <a:t>가중</a:t>
            </a:r>
            <a:r>
              <a:rPr dirty="0"/>
              <a:t>, </a:t>
            </a:r>
            <a:r>
              <a:rPr lang="ko-KR" altLang="en-US" dirty="0"/>
              <a:t>세번째로는</a:t>
            </a:r>
            <a:r>
              <a:rPr dirty="0"/>
              <a:t> nested LOOCV — </a:t>
            </a:r>
            <a:r>
              <a:rPr dirty="0" err="1"/>
              <a:t>바깥</a:t>
            </a:r>
            <a:r>
              <a:rPr dirty="0"/>
              <a:t> </a:t>
            </a:r>
            <a:r>
              <a:rPr dirty="0" err="1"/>
              <a:t>LOOCV와</a:t>
            </a:r>
            <a:r>
              <a:rPr dirty="0"/>
              <a:t> </a:t>
            </a:r>
            <a:r>
              <a:rPr dirty="0" err="1"/>
              <a:t>안쪽</a:t>
            </a:r>
            <a:r>
              <a:rPr dirty="0"/>
              <a:t> </a:t>
            </a:r>
            <a:r>
              <a:rPr dirty="0" err="1"/>
              <a:t>CV를</a:t>
            </a:r>
            <a:r>
              <a:rPr dirty="0"/>
              <a:t> </a:t>
            </a:r>
            <a:r>
              <a:rPr dirty="0" err="1"/>
              <a:t>분리해</a:t>
            </a:r>
            <a:r>
              <a:rPr dirty="0"/>
              <a:t> </a:t>
            </a:r>
            <a:r>
              <a:rPr dirty="0" err="1"/>
              <a:t>하이퍼파라미터</a:t>
            </a:r>
            <a:r>
              <a:rPr dirty="0"/>
              <a:t> </a:t>
            </a:r>
            <a:r>
              <a:rPr dirty="0" err="1"/>
              <a:t>선택까지</a:t>
            </a:r>
            <a:r>
              <a:rPr dirty="0"/>
              <a:t> </a:t>
            </a:r>
            <a:r>
              <a:rPr dirty="0" err="1"/>
              <a:t>평가했습니다</a:t>
            </a:r>
            <a:r>
              <a:rPr dirty="0"/>
              <a:t>. 그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초기</a:t>
            </a:r>
            <a:r>
              <a:rPr dirty="0"/>
              <a:t> 42.6%에서 79.8%까지</a:t>
            </a:r>
            <a:r>
              <a:rPr lang="en-US" dirty="0"/>
              <a:t> </a:t>
            </a:r>
            <a:r>
              <a:rPr lang="ko-KR" altLang="en-US" dirty="0"/>
              <a:t>정확도를</a:t>
            </a:r>
            <a:r>
              <a:rPr dirty="0"/>
              <a:t> </a:t>
            </a:r>
            <a:r>
              <a:rPr dirty="0" err="1"/>
              <a:t>올렸습니다</a:t>
            </a:r>
            <a:r>
              <a:rPr dirty="0"/>
              <a:t>.</a:t>
            </a:r>
            <a:endParaRPr lang="en-US" dirty="0"/>
          </a:p>
          <a:p>
            <a:endParaRPr dirty="0"/>
          </a:p>
          <a:p>
            <a:r>
              <a:rPr dirty="0" err="1"/>
              <a:t>오른쪽이</a:t>
            </a:r>
            <a:r>
              <a:rPr dirty="0"/>
              <a:t> </a:t>
            </a:r>
            <a:r>
              <a:rPr dirty="0" err="1"/>
              <a:t>알고리즘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</a:t>
            </a:r>
            <a:r>
              <a:rPr dirty="0" err="1"/>
              <a:t>실험입니다</a:t>
            </a:r>
            <a:r>
              <a:rPr dirty="0"/>
              <a:t>.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조건에서</a:t>
            </a:r>
            <a:r>
              <a:rPr dirty="0"/>
              <a:t> </a:t>
            </a:r>
            <a:r>
              <a:rPr dirty="0" err="1"/>
              <a:t>비선형</a:t>
            </a:r>
            <a:r>
              <a:rPr dirty="0"/>
              <a:t> </a:t>
            </a:r>
            <a:r>
              <a:rPr dirty="0" err="1"/>
              <a:t>MLP로</a:t>
            </a:r>
            <a:r>
              <a:rPr dirty="0"/>
              <a:t> </a:t>
            </a:r>
            <a:r>
              <a:rPr dirty="0" err="1"/>
              <a:t>바꿔봤더니</a:t>
            </a:r>
            <a:r>
              <a:rPr dirty="0"/>
              <a:t> 67.9%로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떨어졌습니다</a:t>
            </a:r>
            <a:r>
              <a:rPr dirty="0"/>
              <a:t>. </a:t>
            </a:r>
            <a:r>
              <a:rPr dirty="0" err="1"/>
              <a:t>클래스당</a:t>
            </a:r>
            <a:r>
              <a:rPr dirty="0"/>
              <a:t> 5개뿐인 </a:t>
            </a:r>
            <a:r>
              <a:rPr dirty="0" err="1"/>
              <a:t>소규모</a:t>
            </a:r>
            <a:r>
              <a:rPr dirty="0"/>
              <a:t> </a:t>
            </a:r>
            <a:r>
              <a:rPr dirty="0" err="1"/>
              <a:t>데이터에서는</a:t>
            </a:r>
            <a:r>
              <a:rPr dirty="0"/>
              <a:t> </a:t>
            </a:r>
            <a:r>
              <a:rPr dirty="0" err="1"/>
              <a:t>선형이</a:t>
            </a:r>
            <a:r>
              <a:rPr dirty="0"/>
              <a:t> </a:t>
            </a:r>
            <a:r>
              <a:rPr dirty="0" err="1"/>
              <a:t>낫다는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실험으로</a:t>
            </a:r>
            <a:r>
              <a:rPr dirty="0"/>
              <a:t> </a:t>
            </a:r>
            <a:r>
              <a:rPr dirty="0" err="1"/>
              <a:t>확인했고</a:t>
            </a:r>
            <a:r>
              <a:rPr dirty="0"/>
              <a:t>, </a:t>
            </a:r>
            <a:r>
              <a:rPr lang="ko-KR" altLang="en-US" dirty="0"/>
              <a:t>대시보드 형태로 구현해 </a:t>
            </a:r>
            <a:r>
              <a:rPr dirty="0" err="1"/>
              <a:t>배포</a:t>
            </a:r>
            <a:r>
              <a:rPr lang="en-US" dirty="0"/>
              <a:t> </a:t>
            </a:r>
            <a:r>
              <a:rPr dirty="0"/>
              <a:t> </a:t>
            </a:r>
            <a:r>
              <a:rPr dirty="0" err="1"/>
              <a:t>브라우저의</a:t>
            </a:r>
            <a:r>
              <a:rPr dirty="0"/>
              <a:t> </a:t>
            </a:r>
            <a:r>
              <a:rPr dirty="0" err="1"/>
              <a:t>선형</a:t>
            </a:r>
            <a:r>
              <a:rPr dirty="0"/>
              <a:t> </a:t>
            </a:r>
            <a:r>
              <a:rPr dirty="0" err="1"/>
              <a:t>추론과</a:t>
            </a:r>
            <a:r>
              <a:rPr dirty="0"/>
              <a:t> </a:t>
            </a:r>
            <a:r>
              <a:rPr dirty="0" err="1"/>
              <a:t>호환되는</a:t>
            </a:r>
            <a:r>
              <a:rPr dirty="0"/>
              <a:t> </a:t>
            </a:r>
            <a:r>
              <a:rPr lang="ko-KR" altLang="en-US" dirty="0"/>
              <a:t>로지스틱 </a:t>
            </a:r>
            <a:r>
              <a:rPr lang="ko-KR" altLang="en-US" dirty="0" err="1"/>
              <a:t>리그레션으</a:t>
            </a:r>
            <a:r>
              <a:rPr dirty="0"/>
              <a:t>로 </a:t>
            </a:r>
            <a:r>
              <a:rPr dirty="0" err="1"/>
              <a:t>결정했습니다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[6:30~7:30]</a:t>
            </a:r>
          </a:p>
          <a:p>
            <a:r>
              <a:rPr dirty="0" err="1"/>
              <a:t>평가</a:t>
            </a:r>
            <a:r>
              <a:rPr dirty="0"/>
              <a:t> </a:t>
            </a:r>
            <a:r>
              <a:rPr dirty="0" err="1"/>
              <a:t>데이터입니다</a:t>
            </a:r>
            <a:r>
              <a:rPr dirty="0"/>
              <a:t>. </a:t>
            </a:r>
            <a:r>
              <a:rPr dirty="0" err="1"/>
              <a:t>평가셋은</a:t>
            </a:r>
            <a:r>
              <a:rPr dirty="0"/>
              <a:t> 16개 </a:t>
            </a:r>
            <a:r>
              <a:rPr dirty="0" err="1"/>
              <a:t>도메인</a:t>
            </a:r>
            <a:r>
              <a:rPr dirty="0"/>
              <a:t> 각 5개씩, </a:t>
            </a:r>
            <a:r>
              <a:rPr dirty="0" err="1"/>
              <a:t>균형</a:t>
            </a:r>
            <a:r>
              <a:rPr dirty="0"/>
              <a:t> </a:t>
            </a:r>
            <a:r>
              <a:rPr dirty="0" err="1"/>
              <a:t>잡힌</a:t>
            </a:r>
            <a:r>
              <a:rPr dirty="0"/>
              <a:t> 84개입니다.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자소서</a:t>
            </a:r>
            <a:r>
              <a:rPr dirty="0"/>
              <a:t> PDF 30개를 </a:t>
            </a:r>
            <a:r>
              <a:rPr dirty="0" err="1"/>
              <a:t>홀드아웃</a:t>
            </a:r>
            <a:r>
              <a:rPr dirty="0"/>
              <a:t> </a:t>
            </a:r>
            <a:r>
              <a:rPr dirty="0" err="1"/>
              <a:t>용도로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확보했습니다</a:t>
            </a:r>
            <a:r>
              <a:rPr dirty="0"/>
              <a:t>.</a:t>
            </a:r>
          </a:p>
          <a:p>
            <a:r>
              <a:rPr dirty="0" err="1"/>
              <a:t>가운데</a:t>
            </a:r>
            <a:r>
              <a:rPr dirty="0"/>
              <a:t> </a:t>
            </a:r>
            <a:r>
              <a:rPr dirty="0" err="1"/>
              <a:t>막대가</a:t>
            </a:r>
            <a:r>
              <a:rPr dirty="0"/>
              <a:t> </a:t>
            </a:r>
            <a:r>
              <a:rPr dirty="0" err="1"/>
              <a:t>평가셋</a:t>
            </a:r>
            <a:r>
              <a:rPr dirty="0"/>
              <a:t> </a:t>
            </a:r>
            <a:r>
              <a:rPr dirty="0" err="1"/>
              <a:t>구성인데</a:t>
            </a:r>
            <a:r>
              <a:rPr dirty="0"/>
              <a:t>, </a:t>
            </a:r>
            <a:r>
              <a:rPr dirty="0" err="1"/>
              <a:t>쉬운</a:t>
            </a:r>
            <a:r>
              <a:rPr dirty="0"/>
              <a:t> </a:t>
            </a:r>
            <a:r>
              <a:rPr dirty="0" err="1"/>
              <a:t>문장만</a:t>
            </a:r>
            <a:r>
              <a:rPr dirty="0"/>
              <a:t> </a:t>
            </a:r>
            <a:r>
              <a:rPr dirty="0" err="1"/>
              <a:t>넣지</a:t>
            </a:r>
            <a:r>
              <a:rPr dirty="0"/>
              <a:t> </a:t>
            </a:r>
            <a:r>
              <a:rPr dirty="0" err="1"/>
              <a:t>않았습니다</a:t>
            </a:r>
            <a:r>
              <a:rPr dirty="0"/>
              <a:t>.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없이</a:t>
            </a:r>
            <a:r>
              <a:rPr dirty="0"/>
              <a:t> </a:t>
            </a:r>
            <a:r>
              <a:rPr dirty="0" err="1"/>
              <a:t>의미로만</a:t>
            </a:r>
            <a:r>
              <a:rPr dirty="0"/>
              <a:t> </a:t>
            </a:r>
            <a:r>
              <a:rPr dirty="0" err="1"/>
              <a:t>판단해야</a:t>
            </a:r>
            <a:r>
              <a:rPr dirty="0"/>
              <a:t> </a:t>
            </a:r>
            <a:r>
              <a:rPr dirty="0" err="1"/>
              <a:t>하는</a:t>
            </a:r>
            <a:r>
              <a:rPr dirty="0"/>
              <a:t> </a:t>
            </a:r>
            <a:r>
              <a:rPr dirty="0" err="1"/>
              <a:t>lexical_gap</a:t>
            </a:r>
            <a:r>
              <a:rPr dirty="0"/>
              <a:t> 11개,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도메인이</a:t>
            </a:r>
            <a:r>
              <a:rPr dirty="0"/>
              <a:t> </a:t>
            </a:r>
            <a:r>
              <a:rPr dirty="0" err="1"/>
              <a:t>섞인</a:t>
            </a:r>
            <a:r>
              <a:rPr dirty="0"/>
              <a:t> </a:t>
            </a:r>
            <a:r>
              <a:rPr dirty="0" err="1"/>
              <a:t>stress_test</a:t>
            </a:r>
            <a:r>
              <a:rPr dirty="0"/>
              <a:t> 8개를 </a:t>
            </a:r>
            <a:r>
              <a:rPr dirty="0" err="1"/>
              <a:t>일부러</a:t>
            </a:r>
            <a:r>
              <a:rPr dirty="0"/>
              <a:t> </a:t>
            </a:r>
            <a:r>
              <a:rPr dirty="0" err="1"/>
              <a:t>포함해</a:t>
            </a:r>
            <a:r>
              <a:rPr dirty="0"/>
              <a:t> </a:t>
            </a:r>
            <a:r>
              <a:rPr dirty="0" err="1"/>
              <a:t>난이도를</a:t>
            </a:r>
            <a:r>
              <a:rPr dirty="0"/>
              <a:t> </a:t>
            </a:r>
            <a:r>
              <a:rPr dirty="0" err="1"/>
              <a:t>높였습니다</a:t>
            </a:r>
            <a:r>
              <a:rPr dirty="0"/>
              <a:t>.</a:t>
            </a:r>
          </a:p>
          <a:p>
            <a:r>
              <a:rPr lang="ko-KR" altLang="en-US" dirty="0"/>
              <a:t>또한</a:t>
            </a:r>
            <a:r>
              <a:rPr lang="en-US" altLang="ko-KR" dirty="0"/>
              <a:t> </a:t>
            </a:r>
            <a:r>
              <a:rPr lang="ko-KR" altLang="en-US" dirty="0"/>
              <a:t>일부러 넣은 함정 샘플이 있는데</a:t>
            </a:r>
            <a:r>
              <a:rPr lang="en-US" altLang="ko-KR" dirty="0"/>
              <a:t> "</a:t>
            </a:r>
            <a:r>
              <a:rPr lang="ko-KR" altLang="en-US" dirty="0"/>
              <a:t>주말에 산책과 독서를 좋아한다</a:t>
            </a:r>
            <a:r>
              <a:rPr lang="en-US" altLang="ko-KR" dirty="0"/>
              <a:t>" </a:t>
            </a:r>
            <a:r>
              <a:rPr lang="ko-KR" altLang="en-US" dirty="0"/>
              <a:t>같은</a:t>
            </a:r>
            <a:r>
              <a:rPr lang="en-US" altLang="ko-KR" dirty="0"/>
              <a:t>, </a:t>
            </a:r>
            <a:r>
              <a:rPr lang="ko-KR" altLang="en-US" dirty="0"/>
              <a:t>어떤 직무 정보도 없는 </a:t>
            </a:r>
            <a:r>
              <a:rPr lang="en-US" altLang="ko-KR" dirty="0"/>
              <a:t>negative control 4</a:t>
            </a:r>
            <a:r>
              <a:rPr lang="ko-KR" altLang="en-US" dirty="0"/>
              <a:t>개를 포함했습니다</a:t>
            </a:r>
            <a:r>
              <a:rPr lang="en-US" altLang="ko-KR" dirty="0"/>
              <a:t>. </a:t>
            </a:r>
            <a:r>
              <a:rPr lang="ko-KR" altLang="en-US" dirty="0"/>
              <a:t>이 경우 정답은 어느 도메인을 찍는 게 아니라 증거가 부족하면 기권하는 것입니다</a:t>
            </a:r>
            <a:r>
              <a:rPr lang="en-US" altLang="ko-KR" dirty="0"/>
              <a:t>. </a:t>
            </a:r>
            <a:r>
              <a:rPr lang="ko-KR" altLang="en-US" dirty="0"/>
              <a:t>억지로 한 도메인을 단정하는 시스템보다</a:t>
            </a:r>
            <a:r>
              <a:rPr lang="en-US" altLang="ko-KR" dirty="0"/>
              <a:t>, </a:t>
            </a:r>
            <a:r>
              <a:rPr lang="ko-KR" altLang="en-US" dirty="0"/>
              <a:t>모르면 모른다고 말하는 시스템이 사용자에게 더 안전하기 때문입니다</a:t>
            </a:r>
            <a:r>
              <a:rPr lang="en-US" altLang="ko-KR" dirty="0"/>
              <a:t>. </a:t>
            </a:r>
            <a:r>
              <a:rPr lang="ko-KR" altLang="en-US" dirty="0"/>
              <a:t>그래서 뒤에 나올</a:t>
            </a:r>
          </a:p>
          <a:p>
            <a:r>
              <a:rPr lang="en-US" altLang="ko-KR" dirty="0"/>
              <a:t>Coverage</a:t>
            </a:r>
            <a:r>
              <a:rPr lang="ko-KR" altLang="en-US" dirty="0"/>
              <a:t>가 </a:t>
            </a:r>
            <a:r>
              <a:rPr lang="en-US" altLang="ko-KR" dirty="0"/>
              <a:t>100%</a:t>
            </a:r>
            <a:r>
              <a:rPr lang="ko-KR" altLang="en-US" dirty="0"/>
              <a:t>가 아닌 것도 결함이 아니라 의도된 설계입니다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종합 평가 결과입니다. 일곱 가지 방법을 동일 조건에서 비교했고, 표에는 네 개의 지표가 있습니다 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95% 신뢰구간,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Macro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F1, 그리고 맨 오른쪽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노란 행,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 기본값인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**SBERT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Hybrid가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정확도 90.5%,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Macro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F1 90.7%**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가장 안정적입니다. 맨 아래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Learned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Hybrid는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92.9%로 더 높지만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full-fit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수치라 참고용으로만 표기했습니다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맨 오른쪽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열을 짚고 가겠습니다. 이 지표는 정확도와 다른 질문에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답하는것인데요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정확도가 ＂답을 낸 것 중 몇 개를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맞혔나＂라면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Coverage는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애초에 전체 중 몇 퍼센트에 대해 답을 냈나**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입니다. 저희 시스템은 증거가 부족하면 도메인을 억지로 찍지 않고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**기권(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insufficient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하기 때문에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100%가 아닙니다. 앞 장에서 보신, 직무 정보가 없는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negative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control이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기권이 정답인 사례입니다.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표에서 학습 헤드만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100%인데, 이건 더 우수해서가 아니라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**학습 헤드에는 기권 장치가 없어 무조건 한 도메인을 출력**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하기 때문입니다. 반대로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키워드·SBERT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계열은 모르면 기권해서 90% 안팎이 됩니다.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살짝 낮은 건 결함이 아니라, "모르면 모른다고 말하는" 설계가 정상 동작한 결과입니다. 그래서 정확도와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Coverage는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함께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보는것이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중요하다고 생각해서 지표를 뽑아봤습니다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[8:40~10:00] ★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차별점</a:t>
            </a:r>
            <a:r>
              <a:rPr dirty="0"/>
              <a:t> — </a:t>
            </a:r>
            <a:r>
              <a:rPr dirty="0" err="1"/>
              <a:t>천천히</a:t>
            </a:r>
            <a:r>
              <a:rPr dirty="0"/>
              <a:t>, </a:t>
            </a:r>
            <a:r>
              <a:rPr dirty="0" err="1"/>
              <a:t>또박또박</a:t>
            </a:r>
            <a:endParaRPr dirty="0"/>
          </a:p>
          <a:p>
            <a:r>
              <a:rPr lang="ko-KR" altLang="en-US" dirty="0"/>
              <a:t>검증단계입니다</a:t>
            </a:r>
            <a:r>
              <a:rPr lang="en-US" altLang="ko-KR" dirty="0"/>
              <a:t>. </a:t>
            </a:r>
          </a:p>
          <a:p>
            <a:r>
              <a:rPr dirty="0" err="1"/>
              <a:t>첫째</a:t>
            </a:r>
            <a:r>
              <a:rPr dirty="0"/>
              <a:t>, </a:t>
            </a:r>
            <a:r>
              <a:rPr dirty="0" err="1"/>
              <a:t>일반화</a:t>
            </a:r>
            <a:r>
              <a:rPr dirty="0"/>
              <a:t> 갭 </a:t>
            </a:r>
            <a:r>
              <a:rPr dirty="0" err="1"/>
              <a:t>공개</a:t>
            </a:r>
            <a:r>
              <a:rPr dirty="0"/>
              <a:t>. </a:t>
            </a:r>
            <a:r>
              <a:rPr dirty="0" err="1"/>
              <a:t>합성</a:t>
            </a:r>
            <a:r>
              <a:rPr dirty="0"/>
              <a:t> </a:t>
            </a:r>
            <a:r>
              <a:rPr dirty="0" err="1"/>
              <a:t>평가셋의</a:t>
            </a:r>
            <a:r>
              <a:rPr dirty="0"/>
              <a:t> 90.5%가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자소서</a:t>
            </a:r>
            <a:r>
              <a:rPr dirty="0"/>
              <a:t> 29건에서는 72.4%로 </a:t>
            </a:r>
            <a:r>
              <a:rPr dirty="0" err="1"/>
              <a:t>떨어집니다</a:t>
            </a:r>
            <a:r>
              <a:rPr dirty="0"/>
              <a:t>. </a:t>
            </a:r>
            <a:r>
              <a:rPr dirty="0" err="1"/>
              <a:t>다만</a:t>
            </a:r>
            <a:r>
              <a:rPr dirty="0"/>
              <a:t> 실</a:t>
            </a:r>
            <a:r>
              <a:rPr lang="ko-KR" altLang="en-US" dirty="0"/>
              <a:t>제 자소서 </a:t>
            </a:r>
            <a:r>
              <a:rPr dirty="0" err="1"/>
              <a:t>데이터에서</a:t>
            </a:r>
            <a:r>
              <a:rPr dirty="0"/>
              <a:t> Macro F1은 SBERT </a:t>
            </a:r>
            <a:r>
              <a:rPr dirty="0" err="1"/>
              <a:t>Hybrid가</a:t>
            </a:r>
            <a:r>
              <a:rPr dirty="0"/>
              <a:t> 86.4%로 </a:t>
            </a:r>
            <a:r>
              <a:rPr dirty="0" err="1"/>
              <a:t>키워드</a:t>
            </a:r>
            <a:r>
              <a:rPr dirty="0"/>
              <a:t> 79.0%를 더 </a:t>
            </a:r>
            <a:r>
              <a:rPr dirty="0" err="1"/>
              <a:t>크게</a:t>
            </a:r>
            <a:r>
              <a:rPr dirty="0"/>
              <a:t> </a:t>
            </a:r>
            <a:r>
              <a:rPr dirty="0" err="1"/>
              <a:t>앞서서</a:t>
            </a:r>
            <a:r>
              <a:rPr dirty="0"/>
              <a:t>, 의</a:t>
            </a:r>
            <a:r>
              <a:rPr lang="ko-KR" altLang="en-US" dirty="0"/>
              <a:t>미 </a:t>
            </a:r>
            <a:r>
              <a:rPr lang="ko-KR" altLang="en-US" dirty="0" err="1"/>
              <a:t>임베딩이</a:t>
            </a:r>
            <a:r>
              <a:rPr lang="ko-KR" altLang="en-US" dirty="0"/>
              <a:t> 실제 자소서 데이터를 </a:t>
            </a:r>
            <a:r>
              <a:rPr lang="ko-KR" altLang="en-US" dirty="0" err="1"/>
              <a:t>평가할때</a:t>
            </a:r>
            <a:r>
              <a:rPr lang="ko-KR" altLang="en-US" dirty="0"/>
              <a:t> </a:t>
            </a:r>
            <a:r>
              <a:rPr lang="ko-KR" altLang="en-US" dirty="0" err="1"/>
              <a:t>유의미</a:t>
            </a:r>
            <a:r>
              <a:rPr lang="ko-KR" altLang="en-US" dirty="0"/>
              <a:t> 합니다</a:t>
            </a:r>
            <a:r>
              <a:rPr lang="en-US" altLang="ko-KR" dirty="0"/>
              <a:t>.</a:t>
            </a:r>
            <a:endParaRPr dirty="0"/>
          </a:p>
          <a:p>
            <a:r>
              <a:rPr dirty="0" err="1"/>
              <a:t>둘째</a:t>
            </a:r>
            <a:r>
              <a:rPr dirty="0"/>
              <a:t>, </a:t>
            </a:r>
            <a:r>
              <a:rPr dirty="0" err="1"/>
              <a:t>과대평가</a:t>
            </a:r>
            <a:r>
              <a:rPr dirty="0"/>
              <a:t> </a:t>
            </a:r>
            <a:r>
              <a:rPr dirty="0" err="1"/>
              <a:t>자체</a:t>
            </a:r>
            <a:r>
              <a:rPr dirty="0"/>
              <a:t> </a:t>
            </a:r>
            <a:r>
              <a:rPr dirty="0" err="1"/>
              <a:t>교정</a:t>
            </a:r>
            <a:r>
              <a:rPr dirty="0"/>
              <a:t>. </a:t>
            </a:r>
            <a:r>
              <a:rPr dirty="0" err="1"/>
              <a:t>원래</a:t>
            </a:r>
            <a:r>
              <a:rPr dirty="0"/>
              <a:t> 97.1%였던 </a:t>
            </a:r>
            <a:r>
              <a:rPr dirty="0" err="1"/>
              <a:t>수치를</a:t>
            </a:r>
            <a:r>
              <a:rPr dirty="0"/>
              <a:t>, </a:t>
            </a:r>
            <a:r>
              <a:rPr dirty="0" err="1"/>
              <a:t>평가셋을</a:t>
            </a:r>
            <a:r>
              <a:rPr dirty="0"/>
              <a:t> 68개에서 84개로 </a:t>
            </a:r>
            <a:r>
              <a:rPr dirty="0" err="1"/>
              <a:t>키우고</a:t>
            </a:r>
            <a:r>
              <a:rPr dirty="0"/>
              <a:t> </a:t>
            </a:r>
            <a:r>
              <a:rPr dirty="0" err="1"/>
              <a:t>어렵게</a:t>
            </a:r>
            <a:r>
              <a:rPr dirty="0"/>
              <a:t> </a:t>
            </a:r>
            <a:r>
              <a:rPr dirty="0" err="1"/>
              <a:t>만들면서</a:t>
            </a:r>
            <a:r>
              <a:rPr dirty="0"/>
              <a:t> 90.5%로 </a:t>
            </a:r>
            <a:r>
              <a:rPr dirty="0" err="1"/>
              <a:t>끌어내렸습니다</a:t>
            </a:r>
            <a:r>
              <a:rPr dirty="0"/>
              <a:t>.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하락이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쉬운</a:t>
            </a:r>
            <a:r>
              <a:rPr dirty="0"/>
              <a:t> </a:t>
            </a:r>
            <a:r>
              <a:rPr dirty="0" err="1"/>
              <a:t>평가셋이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 </a:t>
            </a:r>
            <a:r>
              <a:rPr lang="ko-KR" altLang="en-US" dirty="0"/>
              <a:t>과대수치를 제거했습니다</a:t>
            </a:r>
            <a:r>
              <a:rPr lang="en-US" altLang="ko-KR" dirty="0"/>
              <a:t>.</a:t>
            </a:r>
            <a:endParaRPr dirty="0"/>
          </a:p>
          <a:p>
            <a:r>
              <a:rPr dirty="0" err="1"/>
              <a:t>셋째</a:t>
            </a:r>
            <a:r>
              <a:rPr dirty="0"/>
              <a:t>, </a:t>
            </a:r>
            <a:r>
              <a:rPr lang="ko-KR" altLang="en-US" dirty="0"/>
              <a:t>네거티브 </a:t>
            </a:r>
            <a:r>
              <a:rPr lang="ko-KR" altLang="en-US" dirty="0" err="1"/>
              <a:t>리절트인데요</a:t>
            </a:r>
            <a:r>
              <a:rPr dirty="0"/>
              <a:t> </a:t>
            </a:r>
            <a:r>
              <a:rPr dirty="0" err="1"/>
              <a:t>실데이터</a:t>
            </a:r>
            <a:r>
              <a:rPr dirty="0"/>
              <a:t> </a:t>
            </a:r>
            <a:r>
              <a:rPr dirty="0" err="1"/>
              <a:t>PDF를</a:t>
            </a:r>
            <a:r>
              <a:rPr dirty="0"/>
              <a:t> </a:t>
            </a:r>
            <a:r>
              <a:rPr dirty="0" err="1"/>
              <a:t>학습에</a:t>
            </a:r>
            <a:r>
              <a:rPr dirty="0"/>
              <a:t> </a:t>
            </a:r>
            <a:r>
              <a:rPr dirty="0" err="1"/>
              <a:t>추가하면</a:t>
            </a:r>
            <a:r>
              <a:rPr dirty="0"/>
              <a:t> </a:t>
            </a:r>
            <a:r>
              <a:rPr dirty="0" err="1"/>
              <a:t>좋아질</a:t>
            </a:r>
            <a:r>
              <a:rPr dirty="0"/>
              <a:t> 줄 </a:t>
            </a:r>
            <a:r>
              <a:rPr dirty="0" err="1"/>
              <a:t>알았는데</a:t>
            </a:r>
            <a:r>
              <a:rPr dirty="0"/>
              <a:t> 79.8%에서 77.4%로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떨어졌습니다</a:t>
            </a:r>
            <a:r>
              <a:rPr dirty="0"/>
              <a:t>. </a:t>
            </a:r>
            <a:r>
              <a:rPr dirty="0" err="1"/>
              <a:t>그래서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판단</a:t>
            </a:r>
            <a:r>
              <a:rPr dirty="0"/>
              <a:t> </a:t>
            </a:r>
            <a:r>
              <a:rPr dirty="0" err="1"/>
              <a:t>로직으로</a:t>
            </a:r>
            <a:r>
              <a:rPr dirty="0"/>
              <a:t> </a:t>
            </a:r>
            <a:r>
              <a:rPr dirty="0" err="1"/>
              <a:t>배포에서</a:t>
            </a:r>
            <a:r>
              <a:rPr dirty="0"/>
              <a:t> </a:t>
            </a:r>
            <a:r>
              <a:rPr dirty="0" err="1"/>
              <a:t>제외했습니다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[11:10~11:50] (</a:t>
            </a:r>
            <a:r>
              <a:rPr dirty="0" err="1"/>
              <a:t>마지막</a:t>
            </a:r>
            <a:r>
              <a:rPr dirty="0"/>
              <a:t> </a:t>
            </a:r>
            <a:r>
              <a:rPr dirty="0" err="1"/>
              <a:t>슬라이드</a:t>
            </a:r>
            <a:r>
              <a:rPr dirty="0"/>
              <a:t> → </a:t>
            </a:r>
            <a:r>
              <a:rPr dirty="0" err="1"/>
              <a:t>발표</a:t>
            </a:r>
            <a:r>
              <a:rPr dirty="0"/>
              <a:t> 후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전환</a:t>
            </a:r>
            <a:r>
              <a:rPr dirty="0"/>
              <a:t>)</a:t>
            </a:r>
          </a:p>
          <a:p>
            <a:r>
              <a:rPr lang="ko-KR" altLang="en-US" dirty="0"/>
              <a:t>시연</a:t>
            </a:r>
            <a:r>
              <a:rPr dirty="0"/>
              <a:t> </a:t>
            </a:r>
            <a:r>
              <a:rPr dirty="0" err="1"/>
              <a:t>전에</a:t>
            </a:r>
            <a:r>
              <a:rPr dirty="0"/>
              <a:t> </a:t>
            </a:r>
            <a:r>
              <a:rPr lang="ko-KR" altLang="en-US" dirty="0"/>
              <a:t>한계점과 향후 개선방향을 짚어봤습니다</a:t>
            </a:r>
            <a:r>
              <a:rPr lang="en-US" altLang="ko-KR" dirty="0"/>
              <a:t>.</a:t>
            </a:r>
          </a:p>
          <a:p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범용</a:t>
            </a:r>
            <a:r>
              <a:rPr dirty="0"/>
              <a:t> </a:t>
            </a:r>
            <a:r>
              <a:rPr dirty="0" err="1"/>
              <a:t>SBERT의</a:t>
            </a:r>
            <a:r>
              <a:rPr dirty="0"/>
              <a:t> </a:t>
            </a:r>
            <a:r>
              <a:rPr dirty="0" err="1"/>
              <a:t>한국어</a:t>
            </a:r>
            <a:r>
              <a:rPr dirty="0"/>
              <a:t> </a:t>
            </a:r>
            <a:r>
              <a:rPr dirty="0" err="1"/>
              <a:t>약점은</a:t>
            </a:r>
            <a:r>
              <a:rPr dirty="0"/>
              <a:t> </a:t>
            </a:r>
            <a:r>
              <a:rPr dirty="0" err="1"/>
              <a:t>한국어</a:t>
            </a:r>
            <a:r>
              <a:rPr dirty="0"/>
              <a:t> </a:t>
            </a:r>
            <a:r>
              <a:rPr dirty="0" err="1"/>
              <a:t>특화</a:t>
            </a:r>
            <a:r>
              <a:rPr dirty="0"/>
              <a:t> </a:t>
            </a:r>
            <a:r>
              <a:rPr dirty="0" err="1"/>
              <a:t>임베딩</a:t>
            </a:r>
            <a:r>
              <a:rPr dirty="0"/>
              <a:t> </a:t>
            </a:r>
            <a:r>
              <a:rPr dirty="0" err="1"/>
              <a:t>교체로</a:t>
            </a:r>
            <a:r>
              <a:rPr dirty="0"/>
              <a:t>, </a:t>
            </a:r>
            <a:r>
              <a:rPr dirty="0" err="1"/>
              <a:t>평가셋</a:t>
            </a:r>
            <a:r>
              <a:rPr dirty="0"/>
              <a:t> 84개의 </a:t>
            </a:r>
            <a:r>
              <a:rPr dirty="0" err="1"/>
              <a:t>통계적</a:t>
            </a:r>
            <a:r>
              <a:rPr dirty="0"/>
              <a:t> </a:t>
            </a:r>
            <a:r>
              <a:rPr dirty="0" err="1"/>
              <a:t>한계는</a:t>
            </a:r>
            <a:r>
              <a:rPr dirty="0"/>
              <a:t> </a:t>
            </a:r>
            <a:r>
              <a:rPr dirty="0" err="1"/>
              <a:t>평가셋</a:t>
            </a:r>
            <a:r>
              <a:rPr dirty="0"/>
              <a:t> </a:t>
            </a:r>
            <a:r>
              <a:rPr dirty="0" err="1"/>
              <a:t>확대로</a:t>
            </a:r>
            <a:r>
              <a:rPr dirty="0"/>
              <a:t> </a:t>
            </a:r>
            <a:r>
              <a:rPr lang="en-US" dirty="0"/>
              <a:t>,</a:t>
            </a:r>
          </a:p>
          <a:p>
            <a:r>
              <a:rPr dirty="0" err="1"/>
              <a:t>합성과</a:t>
            </a:r>
            <a:r>
              <a:rPr dirty="0"/>
              <a:t> </a:t>
            </a:r>
            <a:r>
              <a:rPr dirty="0" err="1"/>
              <a:t>실데이터의</a:t>
            </a:r>
            <a:r>
              <a:rPr dirty="0"/>
              <a:t> </a:t>
            </a:r>
            <a:r>
              <a:rPr dirty="0" err="1"/>
              <a:t>일반화</a:t>
            </a:r>
            <a:r>
              <a:rPr dirty="0"/>
              <a:t> </a:t>
            </a:r>
            <a:r>
              <a:rPr dirty="0" err="1"/>
              <a:t>갭은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자소서</a:t>
            </a:r>
            <a:r>
              <a:rPr dirty="0"/>
              <a:t> </a:t>
            </a:r>
            <a:r>
              <a:rPr dirty="0" err="1"/>
              <a:t>수집과</a:t>
            </a:r>
            <a:r>
              <a:rPr dirty="0"/>
              <a:t> fine-</a:t>
            </a:r>
            <a:r>
              <a:rPr dirty="0" err="1"/>
              <a:t>tunin</a:t>
            </a:r>
            <a:r>
              <a:rPr lang="en-US" dirty="0" err="1"/>
              <a:t>g</a:t>
            </a:r>
            <a:r>
              <a:rPr dirty="0" err="1"/>
              <a:t>으로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 </a:t>
            </a:r>
            <a:r>
              <a:rPr dirty="0" err="1"/>
              <a:t>풀이</a:t>
            </a:r>
            <a:r>
              <a:rPr dirty="0"/>
              <a:t> </a:t>
            </a:r>
            <a:r>
              <a:rPr dirty="0" err="1"/>
              <a:t>정적이라는</a:t>
            </a:r>
            <a:r>
              <a:rPr dirty="0"/>
              <a:t> </a:t>
            </a:r>
            <a:r>
              <a:rPr dirty="0" err="1"/>
              <a:t>한계는</a:t>
            </a:r>
            <a:r>
              <a:rPr dirty="0"/>
              <a:t> </a:t>
            </a:r>
            <a:r>
              <a:rPr dirty="0" err="1"/>
              <a:t>채용공고</a:t>
            </a:r>
            <a:r>
              <a:rPr dirty="0"/>
              <a:t> </a:t>
            </a:r>
            <a:r>
              <a:rPr dirty="0" err="1"/>
              <a:t>크롤링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매칭으로</a:t>
            </a:r>
            <a:r>
              <a:rPr dirty="0"/>
              <a:t> </a:t>
            </a:r>
            <a:r>
              <a:rPr dirty="0" err="1"/>
              <a:t>확장할</a:t>
            </a:r>
            <a:r>
              <a:rPr dirty="0"/>
              <a:t> </a:t>
            </a:r>
            <a:r>
              <a:rPr dirty="0" err="1"/>
              <a:t>계획입니다</a:t>
            </a:r>
            <a:r>
              <a:rPr dirty="0"/>
              <a:t>.</a:t>
            </a:r>
          </a:p>
          <a:p>
            <a:endParaRPr lang="en-US" dirty="0"/>
          </a:p>
          <a:p>
            <a:r>
              <a:rPr dirty="0" err="1"/>
              <a:t>그럼</a:t>
            </a:r>
            <a:r>
              <a:rPr dirty="0"/>
              <a:t> </a:t>
            </a:r>
            <a:r>
              <a:rPr dirty="0" err="1"/>
              <a:t>이제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대시보드를</a:t>
            </a:r>
            <a:r>
              <a:rPr dirty="0"/>
              <a:t> </a:t>
            </a:r>
            <a:r>
              <a:rPr dirty="0" err="1"/>
              <a:t>보여드리겠습니다</a:t>
            </a:r>
            <a:r>
              <a:rPr dirty="0"/>
              <a:t>. (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전환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--- </a:t>
            </a:r>
            <a:r>
              <a:rPr dirty="0" err="1"/>
              <a:t>데모</a:t>
            </a:r>
            <a:r>
              <a:rPr dirty="0"/>
              <a:t> </a:t>
            </a:r>
            <a:r>
              <a:rPr dirty="0" err="1"/>
              <a:t>순서</a:t>
            </a:r>
            <a:r>
              <a:rPr dirty="0"/>
              <a:t> (11:50~14:10) ---</a:t>
            </a:r>
          </a:p>
          <a:p>
            <a:r>
              <a:rPr dirty="0"/>
              <a:t>1. PDF </a:t>
            </a:r>
            <a:r>
              <a:rPr dirty="0" err="1"/>
              <a:t>업로드</a:t>
            </a:r>
            <a:r>
              <a:rPr dirty="0"/>
              <a:t> → SBERT Live </a:t>
            </a:r>
            <a:r>
              <a:rPr dirty="0" err="1"/>
              <a:t>배지</a:t>
            </a:r>
            <a:r>
              <a:rPr dirty="0"/>
              <a:t> </a:t>
            </a:r>
            <a:r>
              <a:rPr dirty="0" err="1"/>
              <a:t>언급</a:t>
            </a:r>
            <a:r>
              <a:rPr dirty="0"/>
              <a:t> → </a:t>
            </a:r>
            <a:r>
              <a:rPr dirty="0" err="1"/>
              <a:t>도메인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+ </a:t>
            </a:r>
            <a:r>
              <a:rPr dirty="0" err="1"/>
              <a:t>레이더</a:t>
            </a:r>
            <a:r>
              <a:rPr dirty="0"/>
              <a:t> (1:00)</a:t>
            </a:r>
          </a:p>
          <a:p>
            <a:r>
              <a:rPr dirty="0"/>
              <a:t>2. Audit Panel —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키워드·가중치</a:t>
            </a:r>
            <a:r>
              <a:rPr dirty="0"/>
              <a:t> (0:35)</a:t>
            </a:r>
          </a:p>
          <a:p>
            <a:r>
              <a:rPr dirty="0"/>
              <a:t>3. Mind-Map — </a:t>
            </a:r>
            <a:r>
              <a:rPr dirty="0" err="1"/>
              <a:t>직무·연구실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, </a:t>
            </a:r>
            <a:r>
              <a:rPr dirty="0" err="1"/>
              <a:t>노드</a:t>
            </a:r>
            <a:r>
              <a:rPr dirty="0"/>
              <a:t> </a:t>
            </a:r>
            <a:r>
              <a:rPr dirty="0" err="1"/>
              <a:t>클릭</a:t>
            </a:r>
            <a:r>
              <a:rPr dirty="0"/>
              <a:t> (0:30)</a:t>
            </a:r>
          </a:p>
          <a:p>
            <a:r>
              <a:rPr dirty="0"/>
              <a:t>4. Classifier Test 탭 — "</a:t>
            </a:r>
            <a:r>
              <a:rPr dirty="0" err="1"/>
              <a:t>발표</a:t>
            </a:r>
            <a:r>
              <a:rPr dirty="0"/>
              <a:t> </a:t>
            </a:r>
            <a:r>
              <a:rPr dirty="0" err="1"/>
              <a:t>수치가</a:t>
            </a:r>
            <a:r>
              <a:rPr dirty="0"/>
              <a:t> </a:t>
            </a:r>
            <a:r>
              <a:rPr dirty="0" err="1"/>
              <a:t>라이브로</a:t>
            </a:r>
            <a:r>
              <a:rPr dirty="0"/>
              <a:t> </a:t>
            </a:r>
            <a:r>
              <a:rPr dirty="0" err="1"/>
              <a:t>재계산</a:t>
            </a:r>
            <a:r>
              <a:rPr dirty="0"/>
              <a:t>" (0:15)</a:t>
            </a:r>
          </a:p>
          <a:p>
            <a:r>
              <a:rPr dirty="0" err="1"/>
              <a:t>마무리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 (14:10~14:30): 네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분류기의</a:t>
            </a:r>
            <a:r>
              <a:rPr dirty="0"/>
              <a:t> </a:t>
            </a:r>
            <a:r>
              <a:rPr dirty="0" err="1"/>
              <a:t>하이브리드</a:t>
            </a:r>
            <a:r>
              <a:rPr dirty="0"/>
              <a:t>, </a:t>
            </a:r>
            <a:r>
              <a:rPr dirty="0" err="1"/>
              <a:t>누수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7-way </a:t>
            </a:r>
            <a:r>
              <a:rPr dirty="0" err="1"/>
              <a:t>평가</a:t>
            </a:r>
            <a:r>
              <a:rPr dirty="0"/>
              <a:t>, </a:t>
            </a:r>
            <a:r>
              <a:rPr dirty="0" err="1"/>
              <a:t>실데이터</a:t>
            </a:r>
            <a:r>
              <a:rPr dirty="0"/>
              <a:t> </a:t>
            </a:r>
            <a:r>
              <a:rPr dirty="0" err="1"/>
              <a:t>홀드아웃과</a:t>
            </a:r>
            <a:r>
              <a:rPr dirty="0"/>
              <a:t> </a:t>
            </a:r>
            <a:r>
              <a:rPr dirty="0" err="1"/>
              <a:t>음성</a:t>
            </a:r>
            <a:r>
              <a:rPr dirty="0"/>
              <a:t> </a:t>
            </a:r>
            <a:r>
              <a:rPr dirty="0" err="1"/>
              <a:t>결과까지</a:t>
            </a:r>
            <a:r>
              <a:rPr dirty="0"/>
              <a:t> </a:t>
            </a:r>
            <a:r>
              <a:rPr dirty="0" err="1"/>
              <a:t>공개하는</a:t>
            </a:r>
            <a:r>
              <a:rPr dirty="0"/>
              <a:t> </a:t>
            </a:r>
            <a:r>
              <a:rPr dirty="0" err="1"/>
              <a:t>정직한</a:t>
            </a:r>
            <a:r>
              <a:rPr dirty="0"/>
              <a:t> </a:t>
            </a:r>
            <a:r>
              <a:rPr dirty="0" err="1"/>
              <a:t>검증으로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, </a:t>
            </a:r>
            <a:r>
              <a:rPr dirty="0" err="1"/>
              <a:t>브라우저에서</a:t>
            </a:r>
            <a:r>
              <a:rPr dirty="0"/>
              <a:t> </a:t>
            </a:r>
            <a:r>
              <a:rPr dirty="0" err="1"/>
              <a:t>완결되는</a:t>
            </a:r>
            <a:r>
              <a:rPr dirty="0"/>
              <a:t> </a:t>
            </a:r>
            <a:r>
              <a:rPr dirty="0" err="1"/>
              <a:t>진로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 NLP </a:t>
            </a:r>
            <a:r>
              <a:rPr dirty="0" err="1"/>
              <a:t>시스템입니다</a:t>
            </a:r>
            <a:r>
              <a:rPr dirty="0"/>
              <a:t>. </a:t>
            </a:r>
            <a:r>
              <a:rPr dirty="0" err="1"/>
              <a:t>감사합니다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[10:50~11:10]</a:t>
            </a:r>
          </a:p>
          <a:p>
            <a:r>
              <a:rPr dirty="0" err="1"/>
              <a:t>지금까지</a:t>
            </a:r>
            <a:r>
              <a:rPr dirty="0"/>
              <a:t> </a:t>
            </a:r>
            <a:r>
              <a:rPr dirty="0" err="1"/>
              <a:t>방법과</a:t>
            </a:r>
            <a:r>
              <a:rPr dirty="0"/>
              <a:t> </a:t>
            </a:r>
            <a:r>
              <a:rPr dirty="0" err="1"/>
              <a:t>수치를</a:t>
            </a:r>
            <a:r>
              <a:rPr dirty="0"/>
              <a:t> </a:t>
            </a:r>
            <a:r>
              <a:rPr dirty="0" err="1"/>
              <a:t>말씀드렸는데</a:t>
            </a:r>
            <a:r>
              <a:rPr lang="en-US"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대시보드에서</a:t>
            </a:r>
            <a:r>
              <a:rPr dirty="0"/>
              <a:t> </a:t>
            </a:r>
            <a:r>
              <a:rPr dirty="0" err="1"/>
              <a:t>자소서</a:t>
            </a:r>
            <a:r>
              <a:rPr dirty="0"/>
              <a:t> </a:t>
            </a:r>
            <a:r>
              <a:rPr dirty="0" err="1"/>
              <a:t>업로드</a:t>
            </a:r>
            <a:r>
              <a:rPr dirty="0"/>
              <a:t>, </a:t>
            </a:r>
            <a:r>
              <a:rPr dirty="0" err="1"/>
              <a:t>판정</a:t>
            </a:r>
            <a:r>
              <a:rPr dirty="0"/>
              <a:t> </a:t>
            </a:r>
            <a:r>
              <a:rPr dirty="0" err="1"/>
              <a:t>근거를</a:t>
            </a:r>
            <a:r>
              <a:rPr dirty="0"/>
              <a:t> </a:t>
            </a:r>
            <a:r>
              <a:rPr dirty="0" err="1"/>
              <a:t>보여주는</a:t>
            </a:r>
            <a:r>
              <a:rPr dirty="0"/>
              <a:t> Audit Panel, </a:t>
            </a:r>
            <a:r>
              <a:rPr dirty="0" err="1"/>
              <a:t>직무·연구실로</a:t>
            </a:r>
            <a:r>
              <a:rPr dirty="0"/>
              <a:t> </a:t>
            </a:r>
            <a:r>
              <a:rPr dirty="0" err="1"/>
              <a:t>이어지는</a:t>
            </a:r>
            <a:r>
              <a:rPr dirty="0"/>
              <a:t> Mind-</a:t>
            </a:r>
            <a:r>
              <a:rPr dirty="0" err="1"/>
              <a:t>Map까지</a:t>
            </a:r>
            <a:r>
              <a:rPr dirty="0"/>
              <a:t> </a:t>
            </a:r>
            <a:r>
              <a:rPr lang="ko-KR" altLang="en-US" dirty="0"/>
              <a:t>시연해보겠습니다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F7B4D-D02E-336A-4444-B1FEF69D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2AA9E-AD90-9815-ED49-2178BEDF0A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DEDC8F-DC73-FAF7-3BAC-3C6F96F46D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[11:10~11:50] (</a:t>
            </a:r>
            <a:r>
              <a:rPr dirty="0" err="1"/>
              <a:t>마지막</a:t>
            </a:r>
            <a:r>
              <a:rPr dirty="0"/>
              <a:t> </a:t>
            </a:r>
            <a:r>
              <a:rPr dirty="0" err="1"/>
              <a:t>슬라이드</a:t>
            </a:r>
            <a:r>
              <a:rPr dirty="0"/>
              <a:t> → </a:t>
            </a:r>
            <a:r>
              <a:rPr dirty="0" err="1"/>
              <a:t>발표</a:t>
            </a:r>
            <a:r>
              <a:rPr dirty="0"/>
              <a:t> 후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전환</a:t>
            </a:r>
            <a:r>
              <a:rPr dirty="0"/>
              <a:t>)</a:t>
            </a:r>
          </a:p>
          <a:p>
            <a:r>
              <a:rPr lang="ko-KR" altLang="en-US" dirty="0"/>
              <a:t>시연</a:t>
            </a:r>
            <a:r>
              <a:rPr dirty="0"/>
              <a:t> </a:t>
            </a:r>
            <a:r>
              <a:rPr dirty="0" err="1"/>
              <a:t>전에</a:t>
            </a:r>
            <a:r>
              <a:rPr dirty="0"/>
              <a:t> </a:t>
            </a:r>
            <a:r>
              <a:rPr lang="ko-KR" altLang="en-US" dirty="0"/>
              <a:t>한계점과 향후 개선방향을 짚어봤습니다</a:t>
            </a:r>
            <a:r>
              <a:rPr lang="en-US" altLang="ko-KR" dirty="0"/>
              <a:t>.</a:t>
            </a:r>
          </a:p>
          <a:p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범용</a:t>
            </a:r>
            <a:r>
              <a:rPr dirty="0"/>
              <a:t> </a:t>
            </a:r>
            <a:r>
              <a:rPr dirty="0" err="1"/>
              <a:t>SBERT의</a:t>
            </a:r>
            <a:r>
              <a:rPr dirty="0"/>
              <a:t> </a:t>
            </a:r>
            <a:r>
              <a:rPr dirty="0" err="1"/>
              <a:t>한국어</a:t>
            </a:r>
            <a:r>
              <a:rPr dirty="0"/>
              <a:t> </a:t>
            </a:r>
            <a:r>
              <a:rPr dirty="0" err="1"/>
              <a:t>약점은</a:t>
            </a:r>
            <a:r>
              <a:rPr dirty="0"/>
              <a:t> </a:t>
            </a:r>
            <a:r>
              <a:rPr dirty="0" err="1"/>
              <a:t>한국어</a:t>
            </a:r>
            <a:r>
              <a:rPr dirty="0"/>
              <a:t> </a:t>
            </a:r>
            <a:r>
              <a:rPr dirty="0" err="1"/>
              <a:t>특화</a:t>
            </a:r>
            <a:r>
              <a:rPr dirty="0"/>
              <a:t> </a:t>
            </a:r>
            <a:r>
              <a:rPr dirty="0" err="1"/>
              <a:t>임베딩</a:t>
            </a:r>
            <a:r>
              <a:rPr dirty="0"/>
              <a:t> </a:t>
            </a:r>
            <a:r>
              <a:rPr dirty="0" err="1"/>
              <a:t>교체로</a:t>
            </a:r>
            <a:r>
              <a:rPr dirty="0"/>
              <a:t>, </a:t>
            </a:r>
            <a:r>
              <a:rPr dirty="0" err="1"/>
              <a:t>평가셋</a:t>
            </a:r>
            <a:r>
              <a:rPr dirty="0"/>
              <a:t> 84개의 </a:t>
            </a:r>
            <a:r>
              <a:rPr dirty="0" err="1"/>
              <a:t>통계적</a:t>
            </a:r>
            <a:r>
              <a:rPr dirty="0"/>
              <a:t> </a:t>
            </a:r>
            <a:r>
              <a:rPr dirty="0" err="1"/>
              <a:t>한계는</a:t>
            </a:r>
            <a:r>
              <a:rPr dirty="0"/>
              <a:t> </a:t>
            </a:r>
            <a:r>
              <a:rPr dirty="0" err="1"/>
              <a:t>평가셋</a:t>
            </a:r>
            <a:r>
              <a:rPr dirty="0"/>
              <a:t> </a:t>
            </a:r>
            <a:r>
              <a:rPr dirty="0" err="1"/>
              <a:t>확대로</a:t>
            </a:r>
            <a:r>
              <a:rPr dirty="0"/>
              <a:t> </a:t>
            </a:r>
            <a:r>
              <a:rPr lang="en-US" dirty="0"/>
              <a:t>,</a:t>
            </a:r>
          </a:p>
          <a:p>
            <a:r>
              <a:rPr dirty="0" err="1"/>
              <a:t>합성과</a:t>
            </a:r>
            <a:r>
              <a:rPr dirty="0"/>
              <a:t> </a:t>
            </a:r>
            <a:r>
              <a:rPr dirty="0" err="1"/>
              <a:t>실데이터의</a:t>
            </a:r>
            <a:r>
              <a:rPr dirty="0"/>
              <a:t> </a:t>
            </a:r>
            <a:r>
              <a:rPr dirty="0" err="1"/>
              <a:t>일반화</a:t>
            </a:r>
            <a:r>
              <a:rPr dirty="0"/>
              <a:t> </a:t>
            </a:r>
            <a:r>
              <a:rPr dirty="0" err="1"/>
              <a:t>갭은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자소서</a:t>
            </a:r>
            <a:r>
              <a:rPr dirty="0"/>
              <a:t> </a:t>
            </a:r>
            <a:r>
              <a:rPr dirty="0" err="1"/>
              <a:t>수집과</a:t>
            </a:r>
            <a:r>
              <a:rPr dirty="0"/>
              <a:t> fine-</a:t>
            </a:r>
            <a:r>
              <a:rPr dirty="0" err="1"/>
              <a:t>tunin으로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 </a:t>
            </a:r>
            <a:r>
              <a:rPr dirty="0" err="1"/>
              <a:t>풀이</a:t>
            </a:r>
            <a:r>
              <a:rPr dirty="0"/>
              <a:t> </a:t>
            </a:r>
            <a:r>
              <a:rPr dirty="0" err="1"/>
              <a:t>정적이라는</a:t>
            </a:r>
            <a:r>
              <a:rPr dirty="0"/>
              <a:t> </a:t>
            </a:r>
            <a:r>
              <a:rPr dirty="0" err="1"/>
              <a:t>한계는</a:t>
            </a:r>
            <a:r>
              <a:rPr dirty="0"/>
              <a:t> </a:t>
            </a:r>
            <a:r>
              <a:rPr dirty="0" err="1"/>
              <a:t>채용공고</a:t>
            </a:r>
            <a:r>
              <a:rPr dirty="0"/>
              <a:t> </a:t>
            </a:r>
            <a:r>
              <a:rPr dirty="0" err="1"/>
              <a:t>크롤링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매칭으로</a:t>
            </a:r>
            <a:r>
              <a:rPr dirty="0"/>
              <a:t> </a:t>
            </a:r>
            <a:r>
              <a:rPr dirty="0" err="1"/>
              <a:t>확장할</a:t>
            </a:r>
            <a:r>
              <a:rPr dirty="0"/>
              <a:t> </a:t>
            </a:r>
            <a:r>
              <a:rPr dirty="0" err="1"/>
              <a:t>계획입니다</a:t>
            </a:r>
            <a:r>
              <a:rPr dirty="0"/>
              <a:t>.</a:t>
            </a:r>
          </a:p>
          <a:p>
            <a:endParaRPr lang="en-US" dirty="0"/>
          </a:p>
          <a:p>
            <a:r>
              <a:rPr dirty="0" err="1"/>
              <a:t>그럼</a:t>
            </a:r>
            <a:r>
              <a:rPr dirty="0"/>
              <a:t> </a:t>
            </a:r>
            <a:r>
              <a:rPr dirty="0" err="1"/>
              <a:t>이제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대시보드를</a:t>
            </a:r>
            <a:r>
              <a:rPr dirty="0"/>
              <a:t> </a:t>
            </a:r>
            <a:r>
              <a:rPr dirty="0" err="1"/>
              <a:t>보여드리겠습니다</a:t>
            </a:r>
            <a:r>
              <a:rPr dirty="0"/>
              <a:t>. (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전환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--- </a:t>
            </a:r>
            <a:r>
              <a:rPr dirty="0" err="1"/>
              <a:t>데모</a:t>
            </a:r>
            <a:r>
              <a:rPr dirty="0"/>
              <a:t> </a:t>
            </a:r>
            <a:r>
              <a:rPr dirty="0" err="1"/>
              <a:t>순서</a:t>
            </a:r>
            <a:r>
              <a:rPr dirty="0"/>
              <a:t> (11:50~14:10) ---</a:t>
            </a:r>
          </a:p>
          <a:p>
            <a:r>
              <a:rPr dirty="0"/>
              <a:t>1. PDF </a:t>
            </a:r>
            <a:r>
              <a:rPr dirty="0" err="1"/>
              <a:t>업로드</a:t>
            </a:r>
            <a:r>
              <a:rPr dirty="0"/>
              <a:t> → SBERT Live </a:t>
            </a:r>
            <a:r>
              <a:rPr dirty="0" err="1"/>
              <a:t>배지</a:t>
            </a:r>
            <a:r>
              <a:rPr dirty="0"/>
              <a:t> </a:t>
            </a:r>
            <a:r>
              <a:rPr dirty="0" err="1"/>
              <a:t>언급</a:t>
            </a:r>
            <a:r>
              <a:rPr dirty="0"/>
              <a:t> → </a:t>
            </a:r>
            <a:r>
              <a:rPr dirty="0" err="1"/>
              <a:t>도메인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+ </a:t>
            </a:r>
            <a:r>
              <a:rPr dirty="0" err="1"/>
              <a:t>레이더</a:t>
            </a:r>
            <a:r>
              <a:rPr dirty="0"/>
              <a:t> (1:00)</a:t>
            </a:r>
          </a:p>
          <a:p>
            <a:r>
              <a:rPr dirty="0"/>
              <a:t>2. Audit Panel —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키워드·가중치</a:t>
            </a:r>
            <a:r>
              <a:rPr dirty="0"/>
              <a:t> (0:35)</a:t>
            </a:r>
          </a:p>
          <a:p>
            <a:r>
              <a:rPr dirty="0"/>
              <a:t>3. Mind-Map — </a:t>
            </a:r>
            <a:r>
              <a:rPr dirty="0" err="1"/>
              <a:t>직무·연구실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, </a:t>
            </a:r>
            <a:r>
              <a:rPr dirty="0" err="1"/>
              <a:t>노드</a:t>
            </a:r>
            <a:r>
              <a:rPr dirty="0"/>
              <a:t> </a:t>
            </a:r>
            <a:r>
              <a:rPr dirty="0" err="1"/>
              <a:t>클릭</a:t>
            </a:r>
            <a:r>
              <a:rPr dirty="0"/>
              <a:t> (0:30)</a:t>
            </a:r>
          </a:p>
          <a:p>
            <a:r>
              <a:rPr dirty="0"/>
              <a:t>4. Classifier Test 탭 — "</a:t>
            </a:r>
            <a:r>
              <a:rPr dirty="0" err="1"/>
              <a:t>발표</a:t>
            </a:r>
            <a:r>
              <a:rPr dirty="0"/>
              <a:t> </a:t>
            </a:r>
            <a:r>
              <a:rPr dirty="0" err="1"/>
              <a:t>수치가</a:t>
            </a:r>
            <a:r>
              <a:rPr dirty="0"/>
              <a:t> </a:t>
            </a:r>
            <a:r>
              <a:rPr dirty="0" err="1"/>
              <a:t>라이브로</a:t>
            </a:r>
            <a:r>
              <a:rPr dirty="0"/>
              <a:t> </a:t>
            </a:r>
            <a:r>
              <a:rPr dirty="0" err="1"/>
              <a:t>재계산</a:t>
            </a:r>
            <a:r>
              <a:rPr dirty="0"/>
              <a:t>" (0:15)</a:t>
            </a:r>
          </a:p>
          <a:p>
            <a:r>
              <a:rPr dirty="0" err="1"/>
              <a:t>마무리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 (14:10~14:30): 네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분류기의</a:t>
            </a:r>
            <a:r>
              <a:rPr dirty="0"/>
              <a:t> </a:t>
            </a:r>
            <a:r>
              <a:rPr dirty="0" err="1"/>
              <a:t>하이브리드</a:t>
            </a:r>
            <a:r>
              <a:rPr dirty="0"/>
              <a:t>, </a:t>
            </a:r>
            <a:r>
              <a:rPr dirty="0" err="1"/>
              <a:t>누수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7-way </a:t>
            </a:r>
            <a:r>
              <a:rPr dirty="0" err="1"/>
              <a:t>평가</a:t>
            </a:r>
            <a:r>
              <a:rPr dirty="0"/>
              <a:t>, </a:t>
            </a:r>
            <a:r>
              <a:rPr dirty="0" err="1"/>
              <a:t>실데이터</a:t>
            </a:r>
            <a:r>
              <a:rPr dirty="0"/>
              <a:t> </a:t>
            </a:r>
            <a:r>
              <a:rPr dirty="0" err="1"/>
              <a:t>홀드아웃과</a:t>
            </a:r>
            <a:r>
              <a:rPr dirty="0"/>
              <a:t> </a:t>
            </a:r>
            <a:r>
              <a:rPr dirty="0" err="1"/>
              <a:t>음성</a:t>
            </a:r>
            <a:r>
              <a:rPr dirty="0"/>
              <a:t> </a:t>
            </a:r>
            <a:r>
              <a:rPr dirty="0" err="1"/>
              <a:t>결과까지</a:t>
            </a:r>
            <a:r>
              <a:rPr dirty="0"/>
              <a:t> </a:t>
            </a:r>
            <a:r>
              <a:rPr dirty="0" err="1"/>
              <a:t>공개하는</a:t>
            </a:r>
            <a:r>
              <a:rPr dirty="0"/>
              <a:t> </a:t>
            </a:r>
            <a:r>
              <a:rPr dirty="0" err="1"/>
              <a:t>정직한</a:t>
            </a:r>
            <a:r>
              <a:rPr dirty="0"/>
              <a:t> </a:t>
            </a:r>
            <a:r>
              <a:rPr dirty="0" err="1"/>
              <a:t>검증으로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, </a:t>
            </a:r>
            <a:r>
              <a:rPr dirty="0" err="1"/>
              <a:t>브라우저에서</a:t>
            </a:r>
            <a:r>
              <a:rPr dirty="0"/>
              <a:t> </a:t>
            </a:r>
            <a:r>
              <a:rPr dirty="0" err="1"/>
              <a:t>완결되는</a:t>
            </a:r>
            <a:r>
              <a:rPr dirty="0"/>
              <a:t> </a:t>
            </a:r>
            <a:r>
              <a:rPr dirty="0" err="1"/>
              <a:t>진로</a:t>
            </a:r>
            <a:r>
              <a:rPr dirty="0"/>
              <a:t> </a:t>
            </a:r>
            <a:r>
              <a:rPr dirty="0" err="1"/>
              <a:t>추천</a:t>
            </a:r>
            <a:r>
              <a:rPr dirty="0"/>
              <a:t> NLP </a:t>
            </a:r>
            <a:r>
              <a:rPr dirty="0" err="1"/>
              <a:t>시스템입니다</a:t>
            </a:r>
            <a:r>
              <a:rPr dirty="0"/>
              <a:t>. </a:t>
            </a:r>
            <a:r>
              <a:rPr dirty="0" err="1"/>
              <a:t>감사합니다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2AE17-60ED-3377-9780-36EF84E4BD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04084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mailto:https://github.com/2jungoo/career_navigato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25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자연어처리 기말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19072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4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Universal Career-Path Navigator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88920"/>
            <a:ext cx="1280160" cy="502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6646" y="3006468"/>
            <a:ext cx="10424160" cy="739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자소서</a:t>
            </a:r>
            <a:r>
              <a:rPr sz="24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한 </a:t>
            </a: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장으로</a:t>
            </a:r>
            <a:r>
              <a:rPr sz="24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lang="en-US" sz="2400" b="1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</a:pPr>
            <a:r>
              <a:rPr sz="20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0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											</a:t>
            </a: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직무</a:t>
            </a:r>
            <a:r>
              <a:rPr sz="24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도메인</a:t>
            </a:r>
            <a:r>
              <a:rPr sz="24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lang="en-US"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&amp;</a:t>
            </a: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직무·연구실</a:t>
            </a:r>
            <a:r>
              <a:rPr sz="24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40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추천</a:t>
            </a:r>
            <a:endParaRPr sz="2000" b="1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14400" y="4069080"/>
            <a:ext cx="2545003" cy="11430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직무 도메인 범용 분류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33723" y="4069080"/>
            <a:ext cx="2545003" cy="11430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7-way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Ablation + 95% CI 평가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53047" y="4069080"/>
            <a:ext cx="2545003" cy="11430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8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90.5%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SBERT Hybrid 정확도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72371" y="4069080"/>
            <a:ext cx="2545003" cy="11430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29건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실제 자소서 홀드아웃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06440"/>
            <a:ext cx="10424160" cy="2137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altLang="ko-KR" sz="1400" dirty="0">
                <a:solidFill>
                  <a:srgbClr val="94A3B8"/>
                </a:solidFill>
              </a:rPr>
              <a:t>5</a:t>
            </a:r>
            <a:r>
              <a:rPr lang="ko-KR" altLang="en-US" sz="1400" dirty="0">
                <a:solidFill>
                  <a:srgbClr val="94A3B8"/>
                </a:solidFill>
              </a:rPr>
              <a:t>조 팀장</a:t>
            </a:r>
            <a:r>
              <a:rPr lang="en-US" altLang="ko-KR" sz="1400" dirty="0">
                <a:solidFill>
                  <a:srgbClr val="94A3B8"/>
                </a:solidFill>
              </a:rPr>
              <a:t>:  이준구  / </a:t>
            </a:r>
            <a:r>
              <a:rPr lang="ko-KR" altLang="en-US" sz="1400" dirty="0">
                <a:solidFill>
                  <a:srgbClr val="94A3B8"/>
                </a:solidFill>
              </a:rPr>
              <a:t>팀원</a:t>
            </a:r>
            <a:r>
              <a:rPr lang="en-US" altLang="ko-KR" sz="1400" dirty="0">
                <a:solidFill>
                  <a:srgbClr val="94A3B8"/>
                </a:solidFill>
              </a:rPr>
              <a:t>:  </a:t>
            </a:r>
            <a:r>
              <a:rPr lang="en-US" altLang="ko-KR" sz="1400" dirty="0" err="1">
                <a:solidFill>
                  <a:srgbClr val="94A3B8"/>
                </a:solidFill>
              </a:rPr>
              <a:t>손인선</a:t>
            </a:r>
            <a:r>
              <a:rPr lang="en-US" altLang="ko-KR" sz="1400" dirty="0">
                <a:solidFill>
                  <a:srgbClr val="94A3B8"/>
                </a:solidFill>
              </a:rPr>
              <a:t>  ·  </a:t>
            </a:r>
            <a:r>
              <a:rPr lang="ko-KR" altLang="en-US" sz="1400" dirty="0">
                <a:solidFill>
                  <a:srgbClr val="94A3B8"/>
                </a:solidFill>
              </a:rPr>
              <a:t>윤재웅</a:t>
            </a:r>
            <a:endParaRPr sz="14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7B040929-3265-DB10-626F-99BFB42B3A0E}"/>
              </a:ext>
            </a:extLst>
          </p:cNvPr>
          <p:cNvSpPr/>
          <p:nvPr/>
        </p:nvSpPr>
        <p:spPr>
          <a:xfrm rot="190177">
            <a:off x="3870089" y="3042016"/>
            <a:ext cx="1833359" cy="554511"/>
          </a:xfrm>
          <a:prstGeom prst="rightArrow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Problem Definition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874519"/>
            <a:ext cx="5257800" cy="118872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“내가 어떤 직무에 맞는 사람일까?”</a:t>
            </a:r>
          </a:p>
          <a:p>
            <a:pPr algn="l">
              <a:lnSpc>
                <a:spcPct val="104000"/>
              </a:lnSpc>
              <a:spcBef>
                <a:spcPts val="500"/>
              </a:spcBef>
            </a:pPr>
            <a:r>
              <a:rPr sz="13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적합성을 본인도 설명하기 어렵다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039112"/>
            <a:ext cx="45720" cy="8595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3291839"/>
            <a:ext cx="5257800" cy="118872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“내 경험에 맞는 직무·연구실은 어디일까?”</a:t>
            </a:r>
          </a:p>
          <a:p>
            <a:pPr algn="l">
              <a:lnSpc>
                <a:spcPct val="104000"/>
              </a:lnSpc>
              <a:spcBef>
                <a:spcPts val="500"/>
              </a:spcBef>
            </a:pPr>
            <a:r>
              <a:rPr sz="13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수백 개 선택지를 하나씩 찾아보는 탐색 비용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456432"/>
            <a:ext cx="45720" cy="8595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333695" cy="2606040"/>
          </a:xfrm>
          <a:prstGeom prst="roundRect">
            <a:avLst>
              <a:gd name="adj" fmla="val 7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54864" rIns="274320" bIns="54864" rtlCol="0" anchor="ctr"/>
          <a:lstStyle/>
          <a:p>
            <a:pPr algn="l">
              <a:lnSpc>
                <a:spcPct val="104000"/>
              </a:lnSpc>
            </a:pPr>
            <a:r>
              <a:rPr sz="1300" b="1" dirty="0" err="1">
                <a:solidFill>
                  <a:srgbClr val="60A5FA"/>
                </a:solidFill>
                <a:latin typeface="맑은 고딕"/>
                <a:ea typeface="맑은 고딕"/>
                <a:cs typeface="맑은 고딕"/>
              </a:rPr>
              <a:t>우리의</a:t>
            </a:r>
            <a:r>
              <a:rPr sz="1300" b="1" dirty="0">
                <a:solidFill>
                  <a:srgbClr val="60A5F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60A5FA"/>
                </a:solidFill>
                <a:latin typeface="맑은 고딕"/>
                <a:ea typeface="맑은 고딕"/>
                <a:cs typeface="맑은 고딕"/>
              </a:rPr>
              <a:t>재정의</a:t>
            </a:r>
            <a:endParaRPr sz="1300" b="1" dirty="0">
              <a:solidFill>
                <a:srgbClr val="60A5FA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21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21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텍스트의</a:t>
            </a:r>
            <a:r>
              <a:rPr sz="21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특성이</a:t>
            </a:r>
            <a:r>
              <a:rPr sz="21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답하게</a:t>
            </a:r>
            <a:r>
              <a:rPr sz="21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한다</a:t>
            </a:r>
            <a:endParaRPr sz="21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900"/>
              </a:spcBef>
            </a:pP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1  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자소서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텍스트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(PDF·TXT·MD)</a:t>
            </a:r>
          </a:p>
          <a:p>
            <a:pPr algn="l">
              <a:lnSpc>
                <a:spcPct val="104000"/>
              </a:lnSpc>
              <a:spcBef>
                <a:spcPts val="900"/>
              </a:spcBef>
            </a:pP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2  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NLP로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16개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도메인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중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적합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도메인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판정</a:t>
            </a:r>
            <a:endParaRPr sz="1450" b="0" dirty="0">
              <a:solidFill>
                <a:srgbClr val="DBEAF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900"/>
              </a:spcBef>
            </a:pP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3  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근거와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직무·연구실</a:t>
            </a:r>
            <a:r>
              <a:rPr sz="1450" b="0" dirty="0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DBEAFE"/>
                </a:solidFill>
                <a:latin typeface="맑은 고딕"/>
                <a:ea typeface="맑은 고딕"/>
                <a:cs typeface="맑은 고딕"/>
              </a:rPr>
              <a:t>추천</a:t>
            </a:r>
            <a:endParaRPr sz="1450" b="0" dirty="0">
              <a:solidFill>
                <a:srgbClr val="DBEAF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4360" y="4892040"/>
            <a:ext cx="1100297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138928"/>
            <a:ext cx="11002975" cy="5434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7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목표는</a:t>
            </a:r>
            <a:r>
              <a:rPr sz="17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점수만</a:t>
            </a:r>
            <a:r>
              <a:rPr sz="17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주는</a:t>
            </a:r>
            <a:r>
              <a:rPr sz="17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7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것이 </a:t>
            </a:r>
            <a:r>
              <a:rPr sz="17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아니라</a:t>
            </a:r>
            <a:r>
              <a:rPr sz="17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근거를</a:t>
            </a:r>
            <a:r>
              <a:rPr sz="17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7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보여주는</a:t>
            </a:r>
            <a:r>
              <a:rPr sz="17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설명</a:t>
            </a:r>
            <a:r>
              <a:rPr sz="17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가능한</a:t>
            </a:r>
            <a:r>
              <a:rPr sz="17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7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입니다</a:t>
            </a:r>
            <a:r>
              <a:rPr lang="en-US" sz="17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70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500"/>
              </a:spcBef>
            </a:pP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어떤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키워드가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어떤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유사도가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만들었는지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Audit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Panel로</a:t>
            </a:r>
            <a:r>
              <a:rPr sz="14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공개</a:t>
            </a:r>
            <a:endParaRPr sz="14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02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General Purpose — 16개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직무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도메인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110029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특정 개인·직군에 묶이지 않고 입력 텍스트 특성으로 판단  ·  활용: 취업 준비 / 자소서 점검 / 연구실 탐색 / 직무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128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공학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7107" y="22128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9855" y="22128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기획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603" y="22128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연구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1272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7107" y="31272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행정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31272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경제·금융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31272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0416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간호·보건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7107" y="40416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자연과학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9855" y="40416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인문사회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603" y="40416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예술·디자인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9560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제조·생산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7107" y="49560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에너지·발전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49560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항공·우주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2603" y="4956048"/>
            <a:ext cx="2654731" cy="786384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미디어·콘텐츠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03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Pipeline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9516" y="1865376"/>
            <a:ext cx="1051560" cy="512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62244" y="1783080"/>
            <a:ext cx="6675120" cy="676656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PDF / TXT / MD 업로드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38532" y="1783080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pdf.js 텍스트 추출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2244" y="2464308"/>
            <a:ext cx="667512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16" y="2734056"/>
            <a:ext cx="1051560" cy="512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2244" y="2651760"/>
            <a:ext cx="6675120" cy="676656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한국어 문장 분리 · 정규화 · 불용어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38532" y="2651760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자체 문장 경계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2244" y="3332987"/>
            <a:ext cx="667512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516" y="3602735"/>
            <a:ext cx="1051560" cy="512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62244" y="3520439"/>
            <a:ext cx="6675120" cy="676656"/>
          </a:xfrm>
          <a:prstGeom prst="roundRect">
            <a:avLst>
              <a:gd name="adj" fmla="val 7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4개 분류기 — 키워드 · BoN · SBERT · 학습헤드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8532" y="3520439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브라우저 실시간 SBERT (Transformers.js, 384-d)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2244" y="4201668"/>
            <a:ext cx="667512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16" y="4471416"/>
            <a:ext cx="1051560" cy="512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62244" y="4389120"/>
            <a:ext cx="6675120" cy="676656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Hybrid 결합 = 키워드 0.45 + 의미 0.55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8532" y="4389120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sweep 실험으로 검증한 가중치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2244" y="5070348"/>
            <a:ext cx="667512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516" y="5340096"/>
            <a:ext cx="1051560" cy="512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62244" y="5257800"/>
            <a:ext cx="6675120" cy="676656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6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도메인 판정 + 직무·연구실 추천 + 근거 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8532" y="5257800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Audit Panel · Mind-Map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04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분류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방법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—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단계적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고도화</a:t>
            </a:r>
            <a:r>
              <a:rPr sz="21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783080"/>
          <a:ext cx="11002975" cy="2331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원리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정확도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한계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키워드 (Baseline)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600+ 도메인 사전 매칭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86.9%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 의미·맥락 모름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BoN 코사인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음절 2~3-gram 빈도 벡터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89.3%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어휘 겹침만 봄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SBERT 코사인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MiniLM-L12 384-d 의미 임베딩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78.6% (단독)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특화 아님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" y="4526280"/>
            <a:ext cx="11002975" cy="141732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9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SBERT </a:t>
            </a:r>
            <a:r>
              <a:rPr sz="19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단독</a:t>
            </a:r>
            <a:r>
              <a:rPr sz="19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(78.6%)이 </a:t>
            </a:r>
            <a:r>
              <a:rPr sz="19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키워드</a:t>
            </a:r>
            <a:r>
              <a:rPr sz="19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(86.9%)</a:t>
            </a:r>
            <a:r>
              <a:rPr sz="19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보다</a:t>
            </a:r>
            <a:r>
              <a:rPr sz="19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90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낮다</a:t>
            </a:r>
            <a:endParaRPr sz="1900" b="1" dirty="0">
              <a:solidFill>
                <a:srgbClr val="B4530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키워드는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전문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용어를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정확히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잡고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SBERT는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맥락을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잡는다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약점이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다르다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lang="en-US" altLang="ko-KR"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Hybrid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4709160"/>
            <a:ext cx="45720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05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Hybrid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결합</a:t>
            </a:r>
            <a:endParaRPr sz="2100" b="1" dirty="0">
              <a:solidFill>
                <a:srgbClr val="B4530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2070850"/>
            <a:ext cx="6126480" cy="868680"/>
          </a:xfrm>
          <a:prstGeom prst="roundRect">
            <a:avLst>
              <a:gd name="adj" fmla="val 7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최종 점수 = 키워드 × 0.45 + SBERT × 0.55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7729" y="3639312"/>
            <a:ext cx="6126480" cy="1543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17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7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약점을</a:t>
            </a:r>
            <a:r>
              <a:rPr sz="17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보완</a:t>
            </a:r>
            <a:endParaRPr sz="17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전문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용어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키워드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) +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문맥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의미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(SBERT) →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단독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최고치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대비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+3.6%p</a:t>
            </a:r>
          </a:p>
          <a:p>
            <a:pPr algn="l">
              <a:lnSpc>
                <a:spcPct val="104000"/>
              </a:lnSpc>
              <a:spcBef>
                <a:spcPts val="1400"/>
              </a:spcBef>
            </a:pP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가중치</a:t>
            </a:r>
            <a:r>
              <a:rPr sz="17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0.45는 </a:t>
            </a: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임의값이</a:t>
            </a:r>
            <a:r>
              <a:rPr sz="17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7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아니다</a:t>
            </a:r>
            <a:endParaRPr sz="17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0→1 전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구간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sweep: 0.3~0.9에서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정확도</a:t>
            </a:r>
            <a:r>
              <a:rPr lang="ko-KR" altLang="en-US"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차이가 </a:t>
            </a:r>
            <a:r>
              <a:rPr lang="ko-KR" altLang="en-US"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없는것</a:t>
            </a:r>
            <a:r>
              <a:rPr lang="ko-KR" altLang="en-US"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확인</a:t>
            </a:r>
            <a:endParaRPr sz="14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특정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값에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과적합되지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않은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안정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구간</a:t>
            </a:r>
            <a:r>
              <a:rPr sz="14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내 </a:t>
            </a:r>
            <a:r>
              <a:rPr sz="14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선택</a:t>
            </a:r>
            <a:endParaRPr sz="14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132320" y="5074920"/>
            <a:ext cx="4465015" cy="1280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597063" y="2896296"/>
            <a:ext cx="868680" cy="2178623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68463" y="2567112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86.9%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8463" y="5148072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3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키워드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30487" y="3568511"/>
            <a:ext cx="868680" cy="1506408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01887" y="3239327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78.6%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1887" y="5148072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3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SBERT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3911" y="2604733"/>
            <a:ext cx="868680" cy="247018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35311" y="2275549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90.5%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5311" y="5148072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35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Hybrid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5623560"/>
            <a:ext cx="4465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합성 평가셋 84개 기준 · 축 60~95% 구간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06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Train Head 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— frozen SBERT 위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지도학습</a:t>
            </a:r>
            <a:r>
              <a:rPr sz="21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85242" y="1876806"/>
            <a:ext cx="5852160" cy="786384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6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① 표준화   </a:t>
            </a:r>
            <a:r>
              <a:rPr sz="13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StandardScaler — 차원별 스케일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42" y="3035808"/>
            <a:ext cx="5852160" cy="786384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6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② 클래스 가중   </a:t>
            </a:r>
            <a:r>
              <a:rPr sz="13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class_weight='balanced' — 소수 도메인 보호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4243784"/>
            <a:ext cx="5852160" cy="786384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600" b="1" dirty="0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③ nested LOOCV  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바깥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LOOCV ×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안쪽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CV —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누수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C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선택</a:t>
            </a:r>
            <a:endParaRPr sz="13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3000" y="5358868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nested LOOCV </a:t>
            </a:r>
            <a:r>
              <a:rPr sz="15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정확도</a:t>
            </a:r>
            <a:r>
              <a:rPr sz="15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</a:t>
            </a:r>
            <a:r>
              <a:rPr sz="150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42.6% → 76.5% → </a:t>
            </a:r>
            <a:r>
              <a:rPr sz="1700" b="1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79.8%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25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sz="125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고도화</a:t>
            </a:r>
            <a:r>
              <a:rPr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3종 → </a:t>
            </a:r>
            <a:r>
              <a:rPr sz="125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평가셋</a:t>
            </a:r>
            <a:r>
              <a:rPr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0" b="0" dirty="0" err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균형화</a:t>
            </a:r>
            <a:r>
              <a:rPr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48972"/>
            <a:ext cx="4739335" cy="22860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5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같은 조건, 알고리즘만 교체</a:t>
            </a:r>
          </a:p>
          <a:p>
            <a:pPr algn="ctr">
              <a:lnSpc>
                <a:spcPct val="104000"/>
              </a:lnSpc>
              <a:spcBef>
                <a:spcPts val="800"/>
              </a:spcBef>
            </a:pPr>
            <a:r>
              <a:rPr sz="24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LogReg 79.8%</a:t>
            </a:r>
          </a:p>
          <a:p>
            <a:pPr algn="ctr">
              <a:lnSpc>
                <a:spcPct val="104000"/>
              </a:lnSpc>
              <a:spcBef>
                <a:spcPts val="200"/>
              </a:spcBef>
            </a:pPr>
            <a:r>
              <a:rPr sz="13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  <a:p>
            <a:pPr algn="ctr">
              <a:lnSpc>
                <a:spcPct val="104000"/>
              </a:lnSpc>
              <a:spcBef>
                <a:spcPts val="200"/>
              </a:spcBef>
            </a:pPr>
            <a:r>
              <a:rPr sz="19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MLP(은닉128) 67.9%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363572"/>
            <a:ext cx="4739335" cy="13716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55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클래스당</a:t>
            </a:r>
            <a:r>
              <a:rPr sz="15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5개 </a:t>
            </a:r>
            <a:r>
              <a:rPr sz="155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소규모</a:t>
            </a:r>
            <a:r>
              <a:rPr sz="15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sz="1550" b="1" dirty="0" err="1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선형이</a:t>
            </a:r>
            <a:r>
              <a:rPr sz="15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승</a:t>
            </a:r>
          </a:p>
          <a:p>
            <a:pPr algn="l">
              <a:lnSpc>
                <a:spcPct val="104000"/>
              </a:lnSpc>
              <a:spcBef>
                <a:spcPts val="5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배포도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LogReg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브라우저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W·x+b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추론과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호환</a:t>
            </a:r>
            <a:endParaRPr sz="13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07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Dataset Card 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균형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난이도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단일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출처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783080"/>
            <a:ext cx="2545003" cy="105156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84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평가셋 (16개 도메인 × 5 균형)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13683" y="1783080"/>
            <a:ext cx="2545003" cy="105156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6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2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자소서</a:t>
            </a:r>
            <a:r>
              <a:rPr sz="12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PDF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783080"/>
            <a:ext cx="2545003" cy="105156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130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사전계산 SBERT 임베딩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331" y="1783080"/>
            <a:ext cx="2545003" cy="105156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2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600+</a:t>
            </a:r>
          </a:p>
          <a:p>
            <a:pPr algn="ctr">
              <a:lnSpc>
                <a:spcPct val="104000"/>
              </a:lnSpc>
              <a:spcBef>
                <a:spcPts val="300"/>
              </a:spcBef>
            </a:pPr>
            <a:r>
              <a:rPr sz="125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도메인 키워드 사전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00400"/>
            <a:ext cx="110029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평가셋 구성 — 쉬운 문장만 넣지 않았다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7971967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657600"/>
            <a:ext cx="797196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84615" y="3611880"/>
            <a:ext cx="1422577" cy="4572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84615" y="3657600"/>
            <a:ext cx="142257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25481" y="3611880"/>
            <a:ext cx="1029614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25481" y="3657600"/>
            <a:ext cx="102961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73384" y="3611880"/>
            <a:ext cx="505663" cy="457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224528"/>
            <a:ext cx="110029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synthetic 61    </a:t>
            </a:r>
            <a:r>
              <a:rPr sz="1200" b="0">
                <a:solidFill>
                  <a:srgbClr val="60A5FA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lexical_gap 11 — 키워드 없이 의미로만 판단    </a:t>
            </a:r>
            <a:r>
              <a:rPr sz="1200" b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stress_test 8 — 도메인 혼재    </a:t>
            </a:r>
            <a:r>
              <a:rPr sz="12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negative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92040"/>
            <a:ext cx="11002975" cy="105156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54864" rIns="146304" bIns="54864" rtlCol="0" anchor="ctr"/>
          <a:lstStyle/>
          <a:p>
            <a:pPr>
              <a:lnSpc>
                <a:spcPct val="104000"/>
              </a:lnSpc>
            </a:pPr>
            <a:r>
              <a:rPr lang="ko-KR" altLang="en-US" sz="1550" b="1" dirty="0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함정 샘플 </a:t>
            </a:r>
            <a:r>
              <a:rPr lang="en-US" altLang="ko-KR" sz="1550" b="1" dirty="0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lang="ko-KR" altLang="en-US" sz="1550" b="1" dirty="0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기권 설계 </a:t>
            </a:r>
            <a:r>
              <a:rPr lang="en-US" altLang="ko-KR" sz="1550" b="1" dirty="0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lang="ko-KR" altLang="en-US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직무 정보 없는 </a:t>
            </a:r>
            <a:r>
              <a:rPr lang="en-US" altLang="ko-KR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negative control 4</a:t>
            </a:r>
            <a:r>
              <a:rPr lang="ko-KR" altLang="en-US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개는 </a:t>
            </a:r>
            <a:r>
              <a:rPr lang="en-US" altLang="ko-KR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'</a:t>
            </a:r>
            <a:r>
              <a:rPr lang="ko-KR" altLang="en-US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증거 부족 → 기권</a:t>
            </a:r>
            <a:r>
              <a:rPr lang="en-US" altLang="ko-KR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'</a:t>
            </a:r>
            <a:r>
              <a:rPr lang="ko-KR" altLang="en-US" sz="1550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이 정답</a:t>
            </a:r>
          </a:p>
          <a:p>
            <a:pPr>
              <a:lnSpc>
                <a:spcPct val="104000"/>
              </a:lnSpc>
              <a:spcBef>
                <a:spcPts val="500"/>
              </a:spcBef>
            </a:pPr>
            <a:r>
              <a:rPr lang="ko-KR" altLang="en-US" sz="135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억지로 한 도메인을 단정하지 않고 모르면 기권 </a:t>
            </a:r>
            <a:r>
              <a:rPr lang="en-US" altLang="ko-KR" sz="135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— Coverage &lt; 100%</a:t>
            </a:r>
            <a:r>
              <a:rPr lang="ko-KR" altLang="en-US" sz="135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는 결함이 아니라 의도된 안전장치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029200"/>
            <a:ext cx="45720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08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altLang="ko-KR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-way Ablation —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, 7가지 </a:t>
            </a:r>
            <a:r>
              <a:rPr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방법</a:t>
            </a:r>
            <a:r>
              <a:rPr sz="21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4715308"/>
              </p:ext>
            </p:extLst>
          </p:nvPr>
        </p:nvGraphicFramePr>
        <p:xfrm>
          <a:off x="594360" y="1755648"/>
          <a:ext cx="11002975" cy="397763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89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Accuracy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95% CI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Macro F1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3A8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Coverage</a:t>
                      </a:r>
                    </a:p>
                  </a:txBody>
                  <a:tcPr marL="101600" marR="50800" marT="63500" marB="63500" anchor="ctr">
                    <a:lnB w="25400" cap="flat">
                      <a:solidFill>
                        <a:srgbClr val="1E3A8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Keyword-only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86.9%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[79.8, 94.0]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87.4%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89.3%</a:t>
                      </a:r>
                    </a:p>
                  </a:txBody>
                  <a:tcPr marL="101600" marR="50800" marT="50800" marB="50800" anchor="ctr">
                    <a:lnT w="25400" cap="flat" cmpd="sng" algn="ctr">
                      <a:solidFill>
                        <a:srgbClr val="1E3A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BoN Hybrid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89.3%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[82.1, 95.2]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89.4%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91.7%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SBERT-only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78.6%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[69.0, 86.9]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79.5%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89.3%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4530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SBERT Hybrid  ★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4530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90.5%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4530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[83.3, 96.4]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4530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90.7%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4530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91.7%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SBERT Hybrid + Threshold</a:t>
                      </a:r>
                      <a:endParaRPr lang="en-US" sz="1400" b="0" dirty="0">
                        <a:solidFill>
                          <a:srgbClr val="0F172A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90.5%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[83.3, 96.4]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90.7%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91.7%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Learned Head (LOOCV)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79.8%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[70.2, 86.9]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78.6%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211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Learned Head Hybrid (</a:t>
                      </a:r>
                      <a:r>
                        <a:rPr sz="1400" b="0" dirty="0" err="1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</a:t>
                      </a:r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92.9%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[86.9, 97.6]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89.7%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0F172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101600" marR="50800" marT="50800" marB="50800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" y="5870448"/>
            <a:ext cx="11002975" cy="475488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sz="135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부트스트랩 2,000회 · 시드 고정으로 재현 가능 · 서비스 기본값 = SBERT Hybrid 90.5%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09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altLang="ko-KR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Evaluation</a:t>
            </a:r>
            <a:endParaRPr sz="2100" b="1" dirty="0">
              <a:solidFill>
                <a:srgbClr val="B4530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874519"/>
            <a:ext cx="3454298" cy="3977639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74320" rIns="219456" bIns="54864" rtlCol="0" anchor="t"/>
          <a:lstStyle/>
          <a:p>
            <a:pPr algn="l">
              <a:lnSpc>
                <a:spcPct val="104000"/>
              </a:lnSpc>
            </a:pPr>
            <a:r>
              <a:rPr lang="ko-KR" altLang="en-US" sz="14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학습 평가셋과 실제 자소서 </a:t>
            </a:r>
            <a:r>
              <a:rPr lang="en-US" altLang="ko-KR" sz="14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29</a:t>
            </a:r>
            <a:r>
              <a:rPr lang="ko-KR" altLang="en-US" sz="14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건 </a:t>
            </a:r>
            <a:r>
              <a:rPr lang="en-US" altLang="ko-KR" sz="145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gap</a:t>
            </a:r>
            <a:endParaRPr sz="1450" b="1" dirty="0">
              <a:solidFill>
                <a:srgbClr val="B4530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1000"/>
              </a:spcBef>
            </a:pPr>
            <a:r>
              <a:rPr sz="26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90.5% → 72.4%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합성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평가셋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자소서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29건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홀드아웃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단,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실데이터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Macro F1은 SBERT Hybrid 86.4% &gt;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키워드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79.0% —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의미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임베딩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가치는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실데이터에서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더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분명</a:t>
            </a:r>
            <a:endParaRPr sz="13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454298" cy="640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68698" y="1874519"/>
            <a:ext cx="3454298" cy="3977639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74320" rIns="219456" bIns="54864" rtlCol="0" anchor="t"/>
          <a:lstStyle/>
          <a:p>
            <a:pPr algn="l">
              <a:lnSpc>
                <a:spcPct val="104000"/>
              </a:lnSpc>
            </a:pPr>
            <a:r>
              <a:rPr sz="1450" b="1" dirty="0" err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과대평가</a:t>
            </a:r>
            <a:r>
              <a:rPr sz="1450" b="1" dirty="0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1" dirty="0" err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교정</a:t>
            </a:r>
            <a:endParaRPr sz="1450" b="1" dirty="0">
              <a:solidFill>
                <a:srgbClr val="1E3A8A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1000"/>
              </a:spcBef>
            </a:pPr>
            <a:r>
              <a:rPr sz="26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97.1% → 90.5%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평가셋을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68→84개로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키우고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어렵게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만든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하락이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아니라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쉬운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평가셋이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lang="en-US" sz="13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만든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과대 수치를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걷어낸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수치</a:t>
            </a:r>
            <a:endParaRPr sz="13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368698" y="1874519"/>
            <a:ext cx="3454298" cy="64008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143036" y="1874519"/>
            <a:ext cx="3454298" cy="3977639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74320" rIns="219456" bIns="54864" rtlCol="0" anchor="t"/>
          <a:lstStyle/>
          <a:p>
            <a:pPr algn="l">
              <a:lnSpc>
                <a:spcPct val="104000"/>
              </a:lnSpc>
            </a:pPr>
            <a:r>
              <a:rPr lang="en-US" sz="145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Negative results</a:t>
            </a:r>
            <a:r>
              <a:rPr sz="145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50" b="1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보고</a:t>
            </a:r>
            <a:endParaRPr sz="1450" b="1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04000"/>
              </a:lnSpc>
              <a:spcBef>
                <a:spcPts val="1000"/>
              </a:spcBef>
            </a:pPr>
            <a:r>
              <a:rPr sz="26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79.8% → 77.4%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실데이터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PDF를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학습에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추가하자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오히려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하락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판단으로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미배포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— “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무작정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확대는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답이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아니다”를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실험으로</a:t>
            </a:r>
            <a:r>
              <a:rPr sz="1350" b="0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입증</a:t>
            </a:r>
            <a:endParaRPr sz="1350" b="0" dirty="0">
              <a:solidFill>
                <a:srgbClr val="47556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43036" y="1874519"/>
            <a:ext cx="3454298" cy="64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Limitation &amp; Future work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755648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1755648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향후 방향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76272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다국어 범용 SBERT — 한국어 전문어 약함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176272"/>
            <a:ext cx="685800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8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176272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한국어 특화 임베딩(bge-m3-ko) 교체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145536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평가셋 84개 — 통계적 한계는 CI로 보완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145536"/>
            <a:ext cx="685800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8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145536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평가셋 확대 — 학습곡선이 효과를 보장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114800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합성 ↔ 실데이터 일반화 갭 (72.4%)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114800"/>
            <a:ext cx="685800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8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114800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실제 자소서 수집 + 도메인 fine-tuning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084064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추천 풀이 정적 데이터에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5084064"/>
            <a:ext cx="685800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4000"/>
              </a:lnSpc>
            </a:pPr>
            <a:r>
              <a:rPr sz="18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5084064"/>
            <a:ext cx="5074920" cy="804672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45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채용공고 크롤링 — 실시간 직무 매칭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lang="en-US"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Dashboard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2109845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65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자소서 PDF 업로드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도메인 판정 + 레이더 차트</a:t>
            </a:r>
          </a:p>
        </p:txBody>
      </p:sp>
      <p:sp>
        <p:nvSpPr>
          <p:cNvPr id="6" name="Oval 5"/>
          <p:cNvSpPr/>
          <p:nvPr/>
        </p:nvSpPr>
        <p:spPr>
          <a:xfrm>
            <a:off x="758952" y="2356734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188837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65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Audit Panel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판정 근거 — 키워드·가중치·유사도 공개</a:t>
            </a:r>
          </a:p>
        </p:txBody>
      </p:sp>
      <p:sp>
        <p:nvSpPr>
          <p:cNvPr id="8" name="Oval 7"/>
          <p:cNvSpPr/>
          <p:nvPr/>
        </p:nvSpPr>
        <p:spPr>
          <a:xfrm>
            <a:off x="758952" y="3435725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267830"/>
            <a:ext cx="5394960" cy="9144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54864" rIns="146304" bIns="54864" rtlCol="0" anchor="ctr"/>
          <a:lstStyle/>
          <a:p>
            <a:pPr algn="l">
              <a:lnSpc>
                <a:spcPct val="104000"/>
              </a:lnSpc>
            </a:pPr>
            <a:r>
              <a:rPr sz="165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Career Mind-Map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3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역량 중심 → 직무·연구실 연결 시각화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4514718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4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9845"/>
            <a:ext cx="5196535" cy="32004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ctr">
              <a:lnSpc>
                <a:spcPct val="104000"/>
              </a:lnSpc>
            </a:pPr>
            <a:r>
              <a:rPr lang="ko-KR" altLang="en-US" sz="1500" b="1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앱 스크린샷</a:t>
            </a:r>
          </a:p>
          <a:p>
            <a:pPr algn="ctr">
              <a:lnSpc>
                <a:spcPct val="104000"/>
              </a:lnSpc>
              <a:spcBef>
                <a:spcPts val="400"/>
              </a:spcBef>
            </a:pPr>
            <a:r>
              <a:rPr lang="en-US" altLang="ko-KR"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분석 결과 화면 캡처를 여기에 배치</a:t>
            </a:r>
            <a:r>
              <a:rPr lang="en-US" altLang="ko-KR" sz="125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lang="en-US"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lang="en-US" sz="120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13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77BC3FD-7C07-223F-C9FF-9D3229411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856" y="1410814"/>
            <a:ext cx="5274479" cy="40621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71702-4E0B-A32E-1D85-E7198A05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200BA2-1BE7-8001-013B-84FC2E951502}"/>
              </a:ext>
            </a:extLst>
          </p:cNvPr>
          <p:cNvSpPr txBox="1"/>
          <p:nvPr/>
        </p:nvSpPr>
        <p:spPr>
          <a:xfrm>
            <a:off x="594360" y="3047377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  <a:hlinkClick r:id="rId3"/>
              </a:rPr>
              <a:t>Career Path Navigator</a:t>
            </a:r>
            <a:endParaRPr lang="en-US"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E349C2-AE72-041F-ECDA-692B2A9C35DA}"/>
              </a:ext>
            </a:extLst>
          </p:cNvPr>
          <p:cNvSpPr txBox="1"/>
          <p:nvPr/>
        </p:nvSpPr>
        <p:spPr>
          <a:xfrm>
            <a:off x="59436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Career-Path Navigator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F85B81-0151-D2D1-4DCA-96B807164E14}"/>
              </a:ext>
            </a:extLst>
          </p:cNvPr>
          <p:cNvSpPr txBox="1"/>
          <p:nvPr/>
        </p:nvSpPr>
        <p:spPr>
          <a:xfrm>
            <a:off x="10134295" y="6446520"/>
            <a:ext cx="1463040" cy="1776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4000"/>
              </a:lnSpc>
            </a:pPr>
            <a:r>
              <a:rPr sz="1200" b="1" dirty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 / 1</a:t>
            </a:r>
            <a:r>
              <a:rPr lang="en-US" sz="1200" b="0" dirty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200" b="0" dirty="0">
              <a:solidFill>
                <a:srgbClr val="94A3B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E4F933-EB75-1141-51EB-3E8262901850}"/>
              </a:ext>
            </a:extLst>
          </p:cNvPr>
          <p:cNvSpPr txBox="1"/>
          <p:nvPr/>
        </p:nvSpPr>
        <p:spPr>
          <a:xfrm>
            <a:off x="594360" y="731520"/>
            <a:ext cx="11002975" cy="443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sz="3000" b="1" dirty="0" err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Github</a:t>
            </a:r>
            <a:r>
              <a:rPr lang="en-US" sz="3000" b="1" dirty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repo</a:t>
            </a:r>
            <a:endParaRPr sz="3000" b="1" dirty="0">
              <a:solidFill>
                <a:srgbClr val="0F172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Rectangle 3">
            <a:extLst>
              <a:ext uri="{FF2B5EF4-FFF2-40B4-BE49-F238E27FC236}">
                <a16:creationId xmlns:a16="http://schemas.microsoft.com/office/drawing/2014/main" id="{6D5BE81F-2740-B8DE-6C93-94D025039FEA}"/>
              </a:ext>
            </a:extLst>
          </p:cNvPr>
          <p:cNvSpPr/>
          <p:nvPr/>
        </p:nvSpPr>
        <p:spPr>
          <a:xfrm>
            <a:off x="594360" y="1463040"/>
            <a:ext cx="96012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64330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2517</Words>
  <Application>Microsoft Office PowerPoint</Application>
  <PresentationFormat>와이드스크린</PresentationFormat>
  <Paragraphs>304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이준구</cp:lastModifiedBy>
  <cp:revision>31</cp:revision>
  <dcterms:created xsi:type="dcterms:W3CDTF">2013-01-27T09:14:16Z</dcterms:created>
  <dcterms:modified xsi:type="dcterms:W3CDTF">2026-06-12T06:14:19Z</dcterms:modified>
  <cp:category/>
</cp:coreProperties>
</file>