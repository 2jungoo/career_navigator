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DB24BB-A455-49B1-89CE-557DF7F3B919}" v="1" dt="2026-06-06T17:42:18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69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TEM SAEGUL" userId="9189e6a2d56cc0b0" providerId="LiveId" clId="{F1ABDEE8-F593-45C8-9D04-E86C3FCAE7C3}"/>
    <pc:docChg chg="custSel modSld">
      <pc:chgData name="TOTEM SAEGUL" userId="9189e6a2d56cc0b0" providerId="LiveId" clId="{F1ABDEE8-F593-45C8-9D04-E86C3FCAE7C3}" dt="2026-06-06T17:51:17.837" v="17" actId="1036"/>
      <pc:docMkLst>
        <pc:docMk/>
      </pc:docMkLst>
      <pc:sldChg chg="modSp mod">
        <pc:chgData name="TOTEM SAEGUL" userId="9189e6a2d56cc0b0" providerId="LiveId" clId="{F1ABDEE8-F593-45C8-9D04-E86C3FCAE7C3}" dt="2026-06-06T17:51:04.171" v="8" actId="20577"/>
        <pc:sldMkLst>
          <pc:docMk/>
          <pc:sldMk cId="0" sldId="257"/>
        </pc:sldMkLst>
        <pc:spChg chg="mod">
          <ac:chgData name="TOTEM SAEGUL" userId="9189e6a2d56cc0b0" providerId="LiveId" clId="{F1ABDEE8-F593-45C8-9D04-E86C3FCAE7C3}" dt="2026-06-06T17:51:04.171" v="8" actId="20577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TOTEM SAEGUL" userId="9189e6a2d56cc0b0" providerId="LiveId" clId="{F1ABDEE8-F593-45C8-9D04-E86C3FCAE7C3}" dt="2026-06-06T17:51:17.837" v="17" actId="1036"/>
        <pc:sldMkLst>
          <pc:docMk/>
          <pc:sldMk cId="0" sldId="260"/>
        </pc:sldMkLst>
        <pc:spChg chg="mod">
          <ac:chgData name="TOTEM SAEGUL" userId="9189e6a2d56cc0b0" providerId="LiveId" clId="{F1ABDEE8-F593-45C8-9D04-E86C3FCAE7C3}" dt="2026-06-06T17:51:17.837" v="17" actId="1036"/>
          <ac:spMkLst>
            <pc:docMk/>
            <pc:sldMk cId="0" sldId="260"/>
            <ac:spMk id="8" creationId="{00000000-0000-0000-0000-000000000000}"/>
          </ac:spMkLst>
        </pc:spChg>
        <pc:spChg chg="mod">
          <ac:chgData name="TOTEM SAEGUL" userId="9189e6a2d56cc0b0" providerId="LiveId" clId="{F1ABDEE8-F593-45C8-9D04-E86C3FCAE7C3}" dt="2026-06-06T17:51:17.837" v="17" actId="1036"/>
          <ac:spMkLst>
            <pc:docMk/>
            <pc:sldMk cId="0" sldId="260"/>
            <ac:spMk id="9" creationId="{00000000-0000-0000-0000-000000000000}"/>
          </ac:spMkLst>
        </pc:spChg>
      </pc:sldChg>
      <pc:sldChg chg="delSp modSp mod">
        <pc:chgData name="TOTEM SAEGUL" userId="9189e6a2d56cc0b0" providerId="LiveId" clId="{F1ABDEE8-F593-45C8-9D04-E86C3FCAE7C3}" dt="2026-06-06T17:50:25.654" v="1" actId="21"/>
        <pc:sldMkLst>
          <pc:docMk/>
          <pc:sldMk cId="0" sldId="261"/>
        </pc:sldMkLst>
        <pc:spChg chg="del mod">
          <ac:chgData name="TOTEM SAEGUL" userId="9189e6a2d56cc0b0" providerId="LiveId" clId="{F1ABDEE8-F593-45C8-9D04-E86C3FCAE7C3}" dt="2026-06-06T17:50:25.654" v="1" actId="21"/>
          <ac:spMkLst>
            <pc:docMk/>
            <pc:sldMk cId="0" sldId="261"/>
            <ac:spMk id="11" creationId="{00000000-0000-0000-0000-000000000000}"/>
          </ac:spMkLst>
        </pc:spChg>
      </pc:sldChg>
      <pc:sldChg chg="modSp mod">
        <pc:chgData name="TOTEM SAEGUL" userId="9189e6a2d56cc0b0" providerId="LiveId" clId="{F1ABDEE8-F593-45C8-9D04-E86C3FCAE7C3}" dt="2026-06-06T17:50:50.707" v="7" actId="20577"/>
        <pc:sldMkLst>
          <pc:docMk/>
          <pc:sldMk cId="0" sldId="266"/>
        </pc:sldMkLst>
        <pc:spChg chg="mod">
          <ac:chgData name="TOTEM SAEGUL" userId="9189e6a2d56cc0b0" providerId="LiveId" clId="{F1ABDEE8-F593-45C8-9D04-E86C3FCAE7C3}" dt="2026-06-06T17:50:50.707" v="7" actId="20577"/>
          <ac:spMkLst>
            <pc:docMk/>
            <pc:sldMk cId="0" sldId="266"/>
            <ac:spMk id="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lang="ko-KR" altLang="en-US" sz="1100" b="0" i="0" u="none" strike="noStrike">
                <a:solidFill>
                  <a:srgbClr val="0F172A"/>
                </a:solidFill>
                <a:latin typeface="Arial"/>
              </a:rPr>
              <a:t>가중치 민감도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0.45</c:v>
                </c:pt>
                <c:pt idx="6">
                  <c:v>0.5</c:v>
                </c:pt>
                <c:pt idx="7">
                  <c:v>0.6</c:v>
                </c:pt>
                <c:pt idx="8">
                  <c:v>0.7</c:v>
                </c:pt>
                <c:pt idx="9">
                  <c:v>0.8</c:v>
                </c:pt>
                <c:pt idx="10">
                  <c:v>0.9</c:v>
                </c:pt>
                <c:pt idx="11">
                  <c:v>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0.78600000000000003</c:v>
                </c:pt>
                <c:pt idx="1">
                  <c:v>0.84499999999999997</c:v>
                </c:pt>
                <c:pt idx="2">
                  <c:v>0.88100000000000001</c:v>
                </c:pt>
                <c:pt idx="3">
                  <c:v>0.90500000000000003</c:v>
                </c:pt>
                <c:pt idx="4">
                  <c:v>0.90500000000000003</c:v>
                </c:pt>
                <c:pt idx="5">
                  <c:v>0.90500000000000003</c:v>
                </c:pt>
                <c:pt idx="6">
                  <c:v>0.90500000000000003</c:v>
                </c:pt>
                <c:pt idx="7">
                  <c:v>0.90500000000000003</c:v>
                </c:pt>
                <c:pt idx="8">
                  <c:v>0.90500000000000003</c:v>
                </c:pt>
                <c:pt idx="9">
                  <c:v>0.89300000000000002</c:v>
                </c:pt>
                <c:pt idx="10">
                  <c:v>0.88100000000000001</c:v>
                </c:pt>
                <c:pt idx="11">
                  <c:v>0.86899999999999999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F7-4AE2-B5FF-5CA7708277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5"/>
          <c:min val="0.7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LOOCV 정확도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F8E-4B13-BB16-60D2FF7563FF}"/>
              </c:ext>
            </c:extLst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F8E-4B13-BB16-60D2FF7563FF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LogReg</c:v>
                </c:pt>
                <c:pt idx="1">
                  <c:v>MLP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0.79800000000000004</c:v>
                </c:pt>
                <c:pt idx="1">
                  <c:v>0.67900000000000005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F8E-4B13-BB16-60D2FF7563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2240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D2240"/>
                </a:solidFill>
                <a:latin typeface="Arial"/>
              </a:rPr>
              <a:t>LogReg vs MLP (</a:t>
            </a:r>
            <a:r>
              <a:rPr lang="ko-KR" altLang="en-US" sz="1000" b="0" i="0" u="none" strike="noStrike">
                <a:solidFill>
                  <a:srgbClr val="0D2240"/>
                </a:solidFill>
                <a:latin typeface="Arial"/>
              </a:rPr>
              <a:t>같은 </a:t>
            </a:r>
            <a:r>
              <a:rPr lang="en-US" sz="1000" b="0" i="0" u="none" strike="noStrike">
                <a:solidFill>
                  <a:srgbClr val="0D2240"/>
                </a:solidFill>
                <a:latin typeface="Arial"/>
              </a:rPr>
              <a:t>LOOCV </a:t>
            </a:r>
            <a:r>
              <a:rPr lang="ko-KR" altLang="en-US" sz="1000" b="0" i="0" u="none" strike="noStrike">
                <a:solidFill>
                  <a:srgbClr val="0D2240"/>
                </a:solidFill>
                <a:latin typeface="Arial"/>
              </a:rPr>
              <a:t>조건</a:t>
            </a:r>
            <a:r>
              <a:rPr lang="en-US" altLang="ko-KR" sz="1000" b="0" i="0" u="none" strike="noStrike">
                <a:solidFill>
                  <a:srgbClr val="0D2240"/>
                </a:solidFill>
                <a:latin typeface="Arial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LOOCV Accuracy</c:v>
                </c:pt>
              </c:strCache>
            </c:strRef>
          </c:tx>
          <c:spPr>
            <a:solidFill>
              <a:srgbClr val="1A56A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C718-4E92-8114-8E971916075A}"/>
              </c:ext>
            </c:extLst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C718-4E92-8114-8E971916075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LogReg</c:v>
                </c:pt>
                <c:pt idx="1">
                  <c:v>MLP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0.79800000000000004</c:v>
                </c:pt>
                <c:pt idx="1">
                  <c:v>0.67900000000000005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718-4E92-8114-8E97191607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학습 헤드 (CV)</c:v>
                </c:pt>
              </c:strCache>
            </c:strRef>
          </c:tx>
          <c:spPr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14</c:v>
                </c:pt>
                <c:pt idx="1">
                  <c:v>21</c:v>
                </c:pt>
                <c:pt idx="2">
                  <c:v>28</c:v>
                </c:pt>
                <c:pt idx="3">
                  <c:v>35</c:v>
                </c:pt>
                <c:pt idx="4">
                  <c:v>42</c:v>
                </c:pt>
                <c:pt idx="5">
                  <c:v>49</c:v>
                </c:pt>
                <c:pt idx="6">
                  <c:v>56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0.41670000000000001</c:v>
                </c:pt>
                <c:pt idx="1">
                  <c:v>0.53569999999999995</c:v>
                </c:pt>
                <c:pt idx="2">
                  <c:v>0.66669999999999996</c:v>
                </c:pt>
                <c:pt idx="3">
                  <c:v>0.63100000000000001</c:v>
                </c:pt>
                <c:pt idx="4">
                  <c:v>0.71430000000000005</c:v>
                </c:pt>
                <c:pt idx="5">
                  <c:v>0.76190000000000002</c:v>
                </c:pt>
                <c:pt idx="6">
                  <c:v>0.76190000000000002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197-44E0-8016-6EC04F823AC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SBERT Hybrid (90.5%)</c:v>
                </c:pt>
              </c:strCache>
            </c:strRef>
          </c:tx>
          <c:spPr>
            <a:ln w="31750" cap="flat">
              <a:solidFill>
                <a:srgbClr val="0891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14</c:v>
                </c:pt>
                <c:pt idx="1">
                  <c:v>21</c:v>
                </c:pt>
                <c:pt idx="2">
                  <c:v>28</c:v>
                </c:pt>
                <c:pt idx="3">
                  <c:v>35</c:v>
                </c:pt>
                <c:pt idx="4">
                  <c:v>42</c:v>
                </c:pt>
                <c:pt idx="5">
                  <c:v>49</c:v>
                </c:pt>
                <c:pt idx="6">
                  <c:v>56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0.90500000000000003</c:v>
                </c:pt>
                <c:pt idx="1">
                  <c:v>0.90500000000000003</c:v>
                </c:pt>
                <c:pt idx="2">
                  <c:v>0.90500000000000003</c:v>
                </c:pt>
                <c:pt idx="3">
                  <c:v>0.90500000000000003</c:v>
                </c:pt>
                <c:pt idx="4">
                  <c:v>0.90500000000000003</c:v>
                </c:pt>
                <c:pt idx="5">
                  <c:v>0.90500000000000003</c:v>
                </c:pt>
                <c:pt idx="6">
                  <c:v>0.90500000000000003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197-44E0-8016-6EC04F823AC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랜덤 기준 (1/16)</c:v>
                </c:pt>
              </c:strCache>
            </c:strRef>
          </c:tx>
          <c:spPr>
            <a:ln w="31750" cap="flat">
              <a:solidFill>
                <a:srgbClr val="94A3B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14</c:v>
                </c:pt>
                <c:pt idx="1">
                  <c:v>21</c:v>
                </c:pt>
                <c:pt idx="2">
                  <c:v>28</c:v>
                </c:pt>
                <c:pt idx="3">
                  <c:v>35</c:v>
                </c:pt>
                <c:pt idx="4">
                  <c:v>42</c:v>
                </c:pt>
                <c:pt idx="5">
                  <c:v>49</c:v>
                </c:pt>
                <c:pt idx="6">
                  <c:v>56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6.25E-2</c:v>
                </c:pt>
                <c:pt idx="1">
                  <c:v>6.25E-2</c:v>
                </c:pt>
                <c:pt idx="2">
                  <c:v>6.25E-2</c:v>
                </c:pt>
                <c:pt idx="3">
                  <c:v>6.25E-2</c:v>
                </c:pt>
                <c:pt idx="4">
                  <c:v>6.25E-2</c:v>
                </c:pt>
                <c:pt idx="5">
                  <c:v>6.25E-2</c:v>
                </c:pt>
                <c:pt idx="6">
                  <c:v>6.25E-2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2197-44E0-8016-6EC04F823A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076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자연어처리 기말 프로젝트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2296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Career-Path Navigator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2048256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76374"/>
                </a:solidFill>
              </a:rPr>
              <a:t>자소서·CV 텍스트 기반 직무 도메인 추정 &amp; 직무·연구실 추천 NLP 시스템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2578608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76374"/>
                </a:solidFill>
              </a:rPr>
              <a:t>팀원  </a:t>
            </a:r>
            <a:r>
              <a:rPr lang="en-US" sz="1500" dirty="0">
                <a:solidFill>
                  <a:srgbClr val="94A3B8"/>
                </a:solidFill>
              </a:rPr>
              <a:t>이준구  ·  손인선  ·  </a:t>
            </a:r>
            <a:r>
              <a:rPr lang="ko-KR" altLang="en-US" sz="1500" dirty="0">
                <a:solidFill>
                  <a:srgbClr val="94A3B8"/>
                </a:solidFill>
              </a:rPr>
              <a:t>윤재웅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도입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16152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48463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Career-Path Navigator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0" y="479145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76374"/>
                </a:solidFill>
              </a:rPr>
              <a:t>02 / 14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563EB"/>
                </a:solidFill>
              </a:rPr>
              <a:t>—  취업·진학생의 두 가지 고민</a:t>
            </a:r>
            <a:endParaRPr lang="en-US" sz="1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94A3B8"/>
                </a:solidFill>
              </a:rPr>
              <a:t>·  "내가 어떤 직무·분야에 맞는 사람일까?"  — 본인도 모름</a:t>
            </a:r>
            <a:endParaRPr lang="en-US" sz="1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94A3B8"/>
                </a:solidFill>
              </a:rPr>
              <a:t>·  "내 경험에 맞는 직무·연구실은 어디일까?"  — 탐색 </a:t>
            </a:r>
            <a:r>
              <a:rPr lang="en-US" sz="1600" dirty="0" err="1">
                <a:solidFill>
                  <a:srgbClr val="94A3B8"/>
                </a:solidFill>
              </a:rPr>
              <a:t>비용</a:t>
            </a:r>
            <a:r>
              <a:rPr lang="en-US" sz="1600" dirty="0">
                <a:solidFill>
                  <a:srgbClr val="94A3B8"/>
                </a:solidFill>
              </a:rPr>
              <a:t> 큼</a:t>
            </a:r>
          </a:p>
          <a:p>
            <a:pPr marL="0" indent="0">
              <a:spcAft>
                <a:spcPts val="200"/>
              </a:spcAft>
              <a:buNone/>
            </a:pPr>
            <a:endParaRPr lang="en-US" sz="1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563EB"/>
                </a:solidFill>
              </a:rPr>
              <a:t>—  해결 정의</a:t>
            </a:r>
            <a:endParaRPr lang="en-US" sz="1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94A3B8"/>
                </a:solidFill>
              </a:rPr>
              <a:t>·  자소서 텍스트를 NLP로 분석 → 적합 도메인 추정 + 근거 기반 추천</a:t>
            </a:r>
            <a:endParaRPr lang="en-US" sz="19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·  막연한 질문을 '입력 텍스트 특성으로 정량 답하는 문제'로 재정의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도입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범용(General Purpose) 시스템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16152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863840" y="479145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76374"/>
                </a:solidFill>
              </a:rPr>
              <a:t>03 / 14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1673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76374"/>
                </a:solidFill>
              </a:rPr>
              <a:t>활용: 취업 준비 / 자소서 점검 / 연구실 탐색 / 직무 전환 의사결정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1956816" cy="475488"/>
          </a:xfrm>
          <a:prstGeom prst="roundRect">
            <a:avLst>
              <a:gd name="adj" fmla="val 19231"/>
            </a:avLst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공학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14600" y="1737360"/>
            <a:ext cx="1956816" cy="475488"/>
          </a:xfrm>
          <a:prstGeom prst="roundRect">
            <a:avLst>
              <a:gd name="adj" fmla="val 19231"/>
            </a:avLst>
          </a:prstGeom>
          <a:solidFill>
            <a:srgbClr val="CFFA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514600" y="1737360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데이터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26280" y="1737360"/>
            <a:ext cx="1956816" cy="475488"/>
          </a:xfrm>
          <a:prstGeom prst="roundRect">
            <a:avLst>
              <a:gd name="adj" fmla="val 19231"/>
            </a:avLst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26280" y="1737360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기획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37960" y="1737360"/>
            <a:ext cx="1956816" cy="475488"/>
          </a:xfrm>
          <a:prstGeom prst="roundRect">
            <a:avLst>
              <a:gd name="adj" fmla="val 19231"/>
            </a:avLst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37960" y="1737360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연구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2267712"/>
            <a:ext cx="1956816" cy="475488"/>
          </a:xfrm>
          <a:prstGeom prst="roundRect">
            <a:avLst>
              <a:gd name="adj" fmla="val 19231"/>
            </a:avLst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02920" y="2267712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관리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14600" y="2267712"/>
            <a:ext cx="1956816" cy="475488"/>
          </a:xfrm>
          <a:prstGeom prst="roundRect">
            <a:avLst>
              <a:gd name="adj" fmla="val 19231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514600" y="2267712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행정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26280" y="2267712"/>
            <a:ext cx="1956816" cy="475488"/>
          </a:xfrm>
          <a:prstGeom prst="roundRect">
            <a:avLst>
              <a:gd name="adj" fmla="val 19231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26280" y="2267712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경제·금융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37960" y="2267712"/>
            <a:ext cx="1956816" cy="475488"/>
          </a:xfrm>
          <a:prstGeom prst="roundRect">
            <a:avLst>
              <a:gd name="adj" fmla="val 19231"/>
            </a:avLst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537960" y="2267712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경영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2798064"/>
            <a:ext cx="1956816" cy="475488"/>
          </a:xfrm>
          <a:prstGeom prst="roundRect">
            <a:avLst>
              <a:gd name="adj" fmla="val 19231"/>
            </a:avLst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02920" y="2798064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간호·보건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514600" y="2798064"/>
            <a:ext cx="1956816" cy="475488"/>
          </a:xfrm>
          <a:prstGeom prst="roundRect">
            <a:avLst>
              <a:gd name="adj" fmla="val 19231"/>
            </a:avLst>
          </a:prstGeom>
          <a:solidFill>
            <a:srgbClr val="CFFA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514600" y="2798064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자연과학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26280" y="2798064"/>
            <a:ext cx="1956816" cy="475488"/>
          </a:xfrm>
          <a:prstGeom prst="roundRect">
            <a:avLst>
              <a:gd name="adj" fmla="val 19231"/>
            </a:avLst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526280" y="2798064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인문사회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537960" y="2798064"/>
            <a:ext cx="1956816" cy="475488"/>
          </a:xfrm>
          <a:prstGeom prst="roundRect">
            <a:avLst>
              <a:gd name="adj" fmla="val 19231"/>
            </a:avLst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537960" y="2798064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예술·디자인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2920" y="3328416"/>
            <a:ext cx="1956816" cy="475488"/>
          </a:xfrm>
          <a:prstGeom prst="roundRect">
            <a:avLst>
              <a:gd name="adj" fmla="val 19231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02920" y="3328416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제조·생산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514600" y="3328416"/>
            <a:ext cx="1956816" cy="475488"/>
          </a:xfrm>
          <a:prstGeom prst="roundRect">
            <a:avLst>
              <a:gd name="adj" fmla="val 19231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2514600" y="3328416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에너지·발전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526280" y="3328416"/>
            <a:ext cx="1956816" cy="475488"/>
          </a:xfrm>
          <a:prstGeom prst="roundRect">
            <a:avLst>
              <a:gd name="adj" fmla="val 19231"/>
            </a:avLst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526280" y="3328416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항공·우주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537960" y="3328416"/>
            <a:ext cx="1956816" cy="475488"/>
          </a:xfrm>
          <a:prstGeom prst="roundRect">
            <a:avLst>
              <a:gd name="adj" fmla="val 19231"/>
            </a:avLst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537960" y="3328416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미디어·콘텐츠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02920" y="462686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</a:rPr>
              <a:t>16개 직무 도메인 — 특정 개인이 아닌 입력 텍스트 특성으로 판단</a:t>
            </a:r>
            <a:endParaRPr lang="en-US" sz="1400" dirty="0"/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5896E54B-4B2E-ABDE-AB05-D35B8B537724}"/>
              </a:ext>
            </a:extLst>
          </p:cNvPr>
          <p:cNvSpPr/>
          <p:nvPr/>
        </p:nvSpPr>
        <p:spPr>
          <a:xfrm>
            <a:off x="502920" y="48463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Career-Path Navigator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도입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전체 파이프라인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16152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48463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Career-Path Navigator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0" y="479145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76374"/>
                </a:solidFill>
              </a:rPr>
              <a:t>04 / 14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57400" y="133502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057400" y="133502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PDF / TXT / MD 업로드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34840" y="169784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57400" y="1899003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057400" y="1899003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텍스트 추출  (pdf.js)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34840" y="2297207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57400" y="2498375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057400" y="2498375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한국어 문장분리 + 정규화 + 불용어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34840" y="2894221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57400" y="3097753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057400" y="3097753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4개 분류기  ▸  키워드 / BoN / SBERT / 학습헤드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34840" y="3501851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57400" y="3703025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EFF6FF"/>
          </a:solidFill>
          <a:ln w="190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057400" y="3703025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8A"/>
                </a:solidFill>
              </a:rPr>
              <a:t>Hybrid 결합  (키워드 45% + 의미 55%)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34840" y="411303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57400" y="431420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2057400" y="43142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도메인 분류 + 직무·연구실 추천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방법론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 방법 ①②③ — 점진 고도화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16152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863840" y="479145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76374"/>
                </a:solidFill>
              </a:rPr>
              <a:t>05 / 14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097265"/>
              </p:ext>
            </p:extLst>
          </p:nvPr>
        </p:nvGraphicFramePr>
        <p:xfrm>
          <a:off x="502920" y="1353312"/>
          <a:ext cx="8138160" cy="172516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방법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원리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합성 정확도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한계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① 키워드 (Baseline)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600+ 도메인 사전 매칭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86.9%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단어 의미·맥락 모름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② BoN 코사인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자모 2~3-gram 빈도 벡터 유사도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(Hybrid 89.3%)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어휘 겹침만 봄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③ SBERT 코사인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MiniLM-L12  384-d 의미 임베딩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78.6% (단독)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한국어 특화 X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3303915"/>
            <a:ext cx="8138160" cy="877824"/>
          </a:xfrm>
          <a:prstGeom prst="roundRect">
            <a:avLst>
              <a:gd name="adj" fmla="val 1041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85800" y="3358779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45309"/>
                </a:solidFill>
              </a:rPr>
              <a:t>핵심 관찰: SBERT 단독(78.6%)이 키워드(86.9%)보다 낮다
</a:t>
            </a:r>
            <a:r>
              <a:rPr lang="en-US" sz="1600" dirty="0">
                <a:solidFill>
                  <a:srgbClr val="576374"/>
                </a:solidFill>
              </a:rPr>
              <a:t>→ 키워드는 전문 용어를 정확히, SBERT는 맥락을 — 그래서 둘을 합친다 (다음 장)</a:t>
            </a:r>
            <a:endParaRPr lang="en-US" sz="19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00F1715B-5096-B2D7-5D7D-A3F80630693C}"/>
              </a:ext>
            </a:extLst>
          </p:cNvPr>
          <p:cNvSpPr/>
          <p:nvPr/>
        </p:nvSpPr>
        <p:spPr>
          <a:xfrm>
            <a:off x="502920" y="48463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Career-Path Navigator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방법론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결합 + 가중치 근거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16152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863840" y="479145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76374"/>
                </a:solidFill>
              </a:rPr>
              <a:t>06 / 14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335024"/>
            <a:ext cx="4846320" cy="530352"/>
          </a:xfrm>
          <a:prstGeom prst="roundRect">
            <a:avLst>
              <a:gd name="adj" fmla="val 17241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1335024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최종 점수 = 키워드(정규화) × 0.45  +  SBERT(정규화) × 0.55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1956816"/>
            <a:ext cx="4846320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563EB"/>
                </a:solidFill>
              </a:rPr>
              <a:t>—  결과: SBERT Hybrid 90.5% — 각 단독(86.9% · 78.6%)보다 높음</a:t>
            </a:r>
            <a:endParaRPr lang="en-US" sz="1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94A3B8"/>
                </a:solidFill>
              </a:rPr>
              <a:t>·  두 방법이 서로의 약점을 보완 → 상호 </a:t>
            </a:r>
            <a:r>
              <a:rPr lang="en-US" sz="1600" dirty="0" err="1">
                <a:solidFill>
                  <a:srgbClr val="94A3B8"/>
                </a:solidFill>
              </a:rPr>
              <a:t>보완</a:t>
            </a:r>
            <a:r>
              <a:rPr lang="en-US" sz="1600" dirty="0">
                <a:solidFill>
                  <a:srgbClr val="94A3B8"/>
                </a:solidFill>
              </a:rPr>
              <a:t> </a:t>
            </a:r>
            <a:r>
              <a:rPr lang="en-US" sz="1600" dirty="0" err="1">
                <a:solidFill>
                  <a:srgbClr val="94A3B8"/>
                </a:solidFill>
              </a:rPr>
              <a:t>입증</a:t>
            </a:r>
            <a:endParaRPr lang="en-US" sz="1600" dirty="0">
              <a:solidFill>
                <a:srgbClr val="94A3B8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endParaRPr lang="en-US" sz="1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563EB"/>
                </a:solidFill>
              </a:rPr>
              <a:t>—  가중치 민감도: 0.3~0.9 구간에서 정확도 고원(plateau)</a:t>
            </a:r>
            <a:endParaRPr lang="en-US" sz="19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·  0.45는 임의값이 아니라 sweep 실험으로 검증된 안정 구간 내 값</a:t>
            </a:r>
            <a:endParaRPr lang="en-US" sz="19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5577840" y="1335024"/>
          <a:ext cx="3017520" cy="2487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3">
            <a:extLst>
              <a:ext uri="{FF2B5EF4-FFF2-40B4-BE49-F238E27FC236}">
                <a16:creationId xmlns:a16="http://schemas.microsoft.com/office/drawing/2014/main" id="{C5A17934-B135-9CB9-86C5-108A3194B781}"/>
              </a:ext>
            </a:extLst>
          </p:cNvPr>
          <p:cNvSpPr/>
          <p:nvPr/>
        </p:nvSpPr>
        <p:spPr>
          <a:xfrm>
            <a:off x="502920" y="48463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Career-Path Navigator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방법론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헤드 + 알고리즘 비교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16152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863840" y="479145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76374"/>
                </a:solidFill>
              </a:rPr>
              <a:t>07 / 14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35024"/>
            <a:ext cx="5349240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63EB"/>
                </a:solidFill>
              </a:rPr>
              <a:t>—  frozen SBERT 임베딩 위에 학습하는 분류 헤드 (지도학습 </a:t>
            </a:r>
            <a:r>
              <a:rPr lang="en-US" sz="1400" b="1" dirty="0" err="1">
                <a:solidFill>
                  <a:srgbClr val="2563EB"/>
                </a:solidFill>
              </a:rPr>
              <a:t>요소</a:t>
            </a:r>
            <a:r>
              <a:rPr lang="en-US" sz="1400" b="1" dirty="0">
                <a:solidFill>
                  <a:srgbClr val="2563EB"/>
                </a:solidFill>
              </a:rPr>
              <a:t>)</a:t>
            </a:r>
          </a:p>
          <a:p>
            <a:pPr marL="0" indent="0">
              <a:spcAft>
                <a:spcPts val="300"/>
              </a:spcAft>
              <a:buNone/>
            </a:pP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63EB"/>
                </a:solidFill>
              </a:rPr>
              <a:t>—  고도화 3종: 표준화 + 클래스가중(balanced) + 누수 없는 nested CV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4A3B8"/>
                </a:solidFill>
              </a:rPr>
              <a:t>·  nested LOOCV  42.6% → 76.5% → (평가셋 균형화) 79.8%</a:t>
            </a:r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563EB"/>
                </a:solidFill>
              </a:rPr>
              <a:t>—  알고리즘 비교 (동일 LOOCV): LogReg 79.8%  vs  MLP 67.9%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4A3B8"/>
                </a:solidFill>
              </a:rPr>
              <a:t>·  클래스당 5개 소규모 → 선형이 비선형보다 우수 (MLP 과적합)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·  배포는 LogReg 유지 (브라우저 선형 추론 W·x+b 와 호환)</a:t>
            </a:r>
            <a:endParaRPr lang="en-US" sz="14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080760" y="1335024"/>
          <a:ext cx="2651760" cy="25968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6080760" y="398678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</a:rPr>
              <a:t>소규모 데이터: 선형 &gt; 비선형</a:t>
            </a:r>
            <a:endParaRPr lang="en-US" sz="11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41D00B6A-4783-1533-C8F5-CF89E4F3CEA5}"/>
              </a:ext>
            </a:extLst>
          </p:cNvPr>
          <p:cNvSpPr/>
          <p:nvPr/>
        </p:nvSpPr>
        <p:spPr>
          <a:xfrm>
            <a:off x="502920" y="48463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Career-Path Navigator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6892CE8-8E70-A061-0286-995B0644CABB}"/>
              </a:ext>
            </a:extLst>
          </p:cNvPr>
          <p:cNvSpPr/>
          <p:nvPr/>
        </p:nvSpPr>
        <p:spPr>
          <a:xfrm>
            <a:off x="100289" y="40705"/>
            <a:ext cx="1554480" cy="274320"/>
          </a:xfrm>
          <a:prstGeom prst="roundRect">
            <a:avLst>
              <a:gd name="adj" fmla="val 23333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6AAD443-FA7A-2B95-3671-D3F2FDB3B7D4}"/>
              </a:ext>
            </a:extLst>
          </p:cNvPr>
          <p:cNvSpPr/>
          <p:nvPr/>
        </p:nvSpPr>
        <p:spPr>
          <a:xfrm>
            <a:off x="100289" y="40705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2240"/>
                </a:solidFill>
              </a:rPr>
              <a:t>핵심 알고리즘</a:t>
            </a:r>
            <a:endParaRPr lang="en-US" sz="8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A63448-5945-B353-9345-1E100CD28417}"/>
              </a:ext>
            </a:extLst>
          </p:cNvPr>
          <p:cNvSpPr/>
          <p:nvPr/>
        </p:nvSpPr>
        <p:spPr>
          <a:xfrm>
            <a:off x="100289" y="383752"/>
            <a:ext cx="785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2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학습 헤드 고도화 &amp; 알고리즘 비교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804FCB-A149-B3E4-9161-BC14912680F9}"/>
              </a:ext>
            </a:extLst>
          </p:cNvPr>
          <p:cNvSpPr/>
          <p:nvPr/>
        </p:nvSpPr>
        <p:spPr>
          <a:xfrm>
            <a:off x="100289" y="987110"/>
            <a:ext cx="785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42.6% → 79.8%: 지도학습 요소 추가</a:t>
            </a:r>
            <a:endParaRPr lang="en-US" sz="1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D79006A-AD95-D8EA-5FD7-087850B168F0}"/>
              </a:ext>
            </a:extLst>
          </p:cNvPr>
          <p:cNvSpPr/>
          <p:nvPr/>
        </p:nvSpPr>
        <p:spPr>
          <a:xfrm>
            <a:off x="471129" y="1311721"/>
            <a:ext cx="785876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7AD3935-AA7A-2A32-53B2-699E665EE47C}"/>
              </a:ext>
            </a:extLst>
          </p:cNvPr>
          <p:cNvSpPr/>
          <p:nvPr/>
        </p:nvSpPr>
        <p:spPr>
          <a:xfrm>
            <a:off x="488009" y="1448881"/>
            <a:ext cx="48361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252AAF2-BA4F-B8CE-2A93-CD9A35429A08}"/>
              </a:ext>
            </a:extLst>
          </p:cNvPr>
          <p:cNvSpPr/>
          <p:nvPr/>
        </p:nvSpPr>
        <p:spPr>
          <a:xfrm>
            <a:off x="305522" y="1604329"/>
            <a:ext cx="379984" cy="40233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99F0746-4285-C4E0-D20B-DDE3D8EC5B8A}"/>
              </a:ext>
            </a:extLst>
          </p:cNvPr>
          <p:cNvSpPr/>
          <p:nvPr/>
        </p:nvSpPr>
        <p:spPr>
          <a:xfrm>
            <a:off x="305522" y="1604329"/>
            <a:ext cx="379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v1</a:t>
            </a:r>
            <a:endParaRPr lang="en-US" sz="1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57398E0-8895-93ED-03EE-85CC631B339D}"/>
              </a:ext>
            </a:extLst>
          </p:cNvPr>
          <p:cNvSpPr/>
          <p:nvPr/>
        </p:nvSpPr>
        <p:spPr>
          <a:xfrm>
            <a:off x="863929" y="1558609"/>
            <a:ext cx="1122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42.6%</a:t>
            </a:r>
            <a:endParaRPr lang="en-US" sz="2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E5E344A-F1F4-6DA5-27A9-1C4880B0D700}"/>
              </a:ext>
            </a:extLst>
          </p:cNvPr>
          <p:cNvSpPr/>
          <p:nvPr/>
        </p:nvSpPr>
        <p:spPr>
          <a:xfrm>
            <a:off x="2250769" y="1631761"/>
            <a:ext cx="293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240"/>
                </a:solidFill>
              </a:rPr>
              <a:t>기본 LogReg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49B9E2D-DDE9-A52A-950B-046DC7CF1B64}"/>
              </a:ext>
            </a:extLst>
          </p:cNvPr>
          <p:cNvSpPr/>
          <p:nvPr/>
        </p:nvSpPr>
        <p:spPr>
          <a:xfrm>
            <a:off x="679018" y="2143825"/>
            <a:ext cx="0" cy="10972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10E8156-F062-998E-C6A0-C4CA4DD1863B}"/>
              </a:ext>
            </a:extLst>
          </p:cNvPr>
          <p:cNvSpPr/>
          <p:nvPr/>
        </p:nvSpPr>
        <p:spPr>
          <a:xfrm>
            <a:off x="488009" y="2253553"/>
            <a:ext cx="48361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24916EF-B027-3FF8-B202-B9718D3274AC}"/>
              </a:ext>
            </a:extLst>
          </p:cNvPr>
          <p:cNvSpPr/>
          <p:nvPr/>
        </p:nvSpPr>
        <p:spPr>
          <a:xfrm>
            <a:off x="305522" y="2409001"/>
            <a:ext cx="379984" cy="402336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0DA9381-7614-7099-BA49-F50531057B1F}"/>
              </a:ext>
            </a:extLst>
          </p:cNvPr>
          <p:cNvSpPr/>
          <p:nvPr/>
        </p:nvSpPr>
        <p:spPr>
          <a:xfrm>
            <a:off x="305522" y="2409001"/>
            <a:ext cx="379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v2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DA90652-B7F3-8BBB-A626-42ADBC119502}"/>
              </a:ext>
            </a:extLst>
          </p:cNvPr>
          <p:cNvSpPr/>
          <p:nvPr/>
        </p:nvSpPr>
        <p:spPr>
          <a:xfrm>
            <a:off x="863929" y="2363281"/>
            <a:ext cx="1122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76.5%</a:t>
            </a:r>
            <a:endParaRPr lang="en-US" sz="2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27A7CB9-4FDE-5CBD-65CF-F6975104D34B}"/>
              </a:ext>
            </a:extLst>
          </p:cNvPr>
          <p:cNvSpPr/>
          <p:nvPr/>
        </p:nvSpPr>
        <p:spPr>
          <a:xfrm>
            <a:off x="2250769" y="2436433"/>
            <a:ext cx="293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240"/>
                </a:solidFill>
              </a:rPr>
              <a:t>+ 표준화 + 클래스가중</a:t>
            </a:r>
            <a:endParaRPr lang="en-US" sz="12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E8E7165-463F-F426-2C5F-4876CADD2BA6}"/>
              </a:ext>
            </a:extLst>
          </p:cNvPr>
          <p:cNvSpPr/>
          <p:nvPr/>
        </p:nvSpPr>
        <p:spPr>
          <a:xfrm>
            <a:off x="679018" y="2948497"/>
            <a:ext cx="0" cy="109728"/>
          </a:xfrm>
          <a:prstGeom prst="line">
            <a:avLst/>
          </a:prstGeom>
          <a:noFill/>
          <a:ln w="1905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C50A5EE-6D85-BE86-F100-3E679E1CD1C4}"/>
              </a:ext>
            </a:extLst>
          </p:cNvPr>
          <p:cNvSpPr/>
          <p:nvPr/>
        </p:nvSpPr>
        <p:spPr>
          <a:xfrm>
            <a:off x="488009" y="3058225"/>
            <a:ext cx="4836160" cy="69494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D0ED811-2C25-9E59-F04F-47D819F3D27F}"/>
              </a:ext>
            </a:extLst>
          </p:cNvPr>
          <p:cNvSpPr/>
          <p:nvPr/>
        </p:nvSpPr>
        <p:spPr>
          <a:xfrm>
            <a:off x="305522" y="3213673"/>
            <a:ext cx="379984" cy="402336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E5242B2-205B-744D-7BE9-1DF4602EEC24}"/>
              </a:ext>
            </a:extLst>
          </p:cNvPr>
          <p:cNvSpPr/>
          <p:nvPr/>
        </p:nvSpPr>
        <p:spPr>
          <a:xfrm>
            <a:off x="305522" y="3213673"/>
            <a:ext cx="379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v3</a:t>
            </a:r>
            <a:endParaRPr lang="en-US" sz="1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9D50B0F-FAB5-400D-4E68-228C79898FD0}"/>
              </a:ext>
            </a:extLst>
          </p:cNvPr>
          <p:cNvSpPr/>
          <p:nvPr/>
        </p:nvSpPr>
        <p:spPr>
          <a:xfrm>
            <a:off x="863929" y="3167953"/>
            <a:ext cx="1122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87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79.8%</a:t>
            </a:r>
            <a:endParaRPr lang="en-US" sz="2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71E7FBA-3B05-84D5-22A4-B47B5EE26BB0}"/>
              </a:ext>
            </a:extLst>
          </p:cNvPr>
          <p:cNvSpPr/>
          <p:nvPr/>
        </p:nvSpPr>
        <p:spPr>
          <a:xfrm>
            <a:off x="2250769" y="3241105"/>
            <a:ext cx="293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240"/>
                </a:solidFill>
              </a:rPr>
              <a:t>+ Nested LOOCV (C 최적화)</a:t>
            </a:r>
            <a:endParaRPr lang="en-US" sz="1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7C3C4BF-9A62-7B27-8B09-96FDFEFFA9AD}"/>
              </a:ext>
            </a:extLst>
          </p:cNvPr>
          <p:cNvSpPr/>
          <p:nvPr/>
        </p:nvSpPr>
        <p:spPr>
          <a:xfrm>
            <a:off x="305522" y="4045777"/>
            <a:ext cx="483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배포: LogReg 고정 (브라우저 선형 추론 W·x+b 호환)</a:t>
            </a:r>
            <a:endParaRPr lang="en-US" sz="1000" dirty="0"/>
          </a:p>
        </p:txBody>
      </p:sp>
      <p:graphicFrame>
        <p:nvGraphicFramePr>
          <p:cNvPr id="25" name="Chart 0">
            <a:extLst>
              <a:ext uri="{FF2B5EF4-FFF2-40B4-BE49-F238E27FC236}">
                <a16:creationId xmlns:a16="http://schemas.microsoft.com/office/drawing/2014/main" id="{D4225740-7107-2CAA-E968-93481EAD20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8460743"/>
              </p:ext>
            </p:extLst>
          </p:nvPr>
        </p:nvGraphicFramePr>
        <p:xfrm>
          <a:off x="5347928" y="1412305"/>
          <a:ext cx="3308062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6" name="Shape 23">
            <a:extLst>
              <a:ext uri="{FF2B5EF4-FFF2-40B4-BE49-F238E27FC236}">
                <a16:creationId xmlns:a16="http://schemas.microsoft.com/office/drawing/2014/main" id="{91E199E9-4F57-6F06-C01F-25CA73BEC11C}"/>
              </a:ext>
            </a:extLst>
          </p:cNvPr>
          <p:cNvSpPr/>
          <p:nvPr/>
        </p:nvSpPr>
        <p:spPr>
          <a:xfrm>
            <a:off x="5719750" y="4064065"/>
            <a:ext cx="2936240" cy="6217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E9E6E4DA-04E3-9142-3BDB-011F5888F654}"/>
              </a:ext>
            </a:extLst>
          </p:cNvPr>
          <p:cNvSpPr/>
          <p:nvPr/>
        </p:nvSpPr>
        <p:spPr>
          <a:xfrm>
            <a:off x="5801030" y="4082353"/>
            <a:ext cx="2763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2400E"/>
                </a:solidFill>
              </a:rPr>
              <a:t>클래스당 ~5개 소규모 데이터에서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2400E"/>
                </a:solidFill>
              </a:rPr>
              <a:t>선형(79.8%) &gt; 비선형(67.9%)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2400E"/>
                </a:solidFill>
              </a:rPr>
              <a:t>→ MLP 과적합 확인</a:t>
            </a:r>
            <a:endParaRPr lang="en-US" sz="1000" dirty="0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835DEB1E-767B-F10C-17EE-D4C01432D9FC}"/>
              </a:ext>
            </a:extLst>
          </p:cNvPr>
          <p:cNvSpPr/>
          <p:nvPr/>
        </p:nvSpPr>
        <p:spPr>
          <a:xfrm>
            <a:off x="502920" y="48463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Career-Path Navigator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13807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방법론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 카드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16152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863840" y="479145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76374"/>
                </a:solidFill>
              </a:rPr>
              <a:t>08 / 14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35024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563EB"/>
                </a:solidFill>
              </a:rPr>
              <a:t>—  평가셋 84개 — 16개 도메인 각 5개 균형 + insufficient 4</a:t>
            </a:r>
            <a:endParaRPr lang="en-US" sz="1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94A3B8"/>
                </a:solidFill>
              </a:rPr>
              <a:t>·  synthetic 61  /  lexical_gap 11 (의미만으로 판단)  /  stress_test 8 (도메인 혼재)  /  negative 4</a:t>
            </a:r>
          </a:p>
          <a:p>
            <a:pPr marL="0" indent="0">
              <a:spcAft>
                <a:spcPts val="200"/>
              </a:spcAft>
              <a:buNone/>
            </a:pPr>
            <a:endParaRPr lang="en-US" sz="1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563EB"/>
                </a:solidFill>
              </a:rPr>
              <a:t>—  실제 자소서 PDF 30개 (평균 ~2,400자) — </a:t>
            </a:r>
            <a:r>
              <a:rPr lang="en-US" sz="1900" b="1" dirty="0" err="1">
                <a:solidFill>
                  <a:srgbClr val="2563EB"/>
                </a:solidFill>
              </a:rPr>
              <a:t>홀드아웃용</a:t>
            </a:r>
            <a:endParaRPr lang="en-US" sz="1900" b="1" dirty="0">
              <a:solidFill>
                <a:srgbClr val="2563EB"/>
              </a:solidFill>
            </a:endParaRPr>
          </a:p>
          <a:p>
            <a:pPr marL="0" indent="0">
              <a:spcAft>
                <a:spcPts val="300"/>
              </a:spcAft>
              <a:buNone/>
            </a:pPr>
            <a:endParaRPr lang="en-US" sz="1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563EB"/>
                </a:solidFill>
              </a:rPr>
              <a:t>—  단일 출처화: evaluationDataset.js → exportEvalDataset.mjs</a:t>
            </a:r>
            <a:endParaRPr lang="en-US" sz="1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94A3B8"/>
                </a:solidFill>
              </a:rPr>
              <a:t>·  앱·Python 학습 간 데이터 </a:t>
            </a:r>
            <a:r>
              <a:rPr lang="en-US" sz="1600" dirty="0" err="1">
                <a:solidFill>
                  <a:srgbClr val="94A3B8"/>
                </a:solidFill>
              </a:rPr>
              <a:t>불일치</a:t>
            </a:r>
            <a:r>
              <a:rPr lang="en-US" sz="1600" dirty="0">
                <a:solidFill>
                  <a:srgbClr val="94A3B8"/>
                </a:solidFill>
              </a:rPr>
              <a:t> </a:t>
            </a:r>
            <a:r>
              <a:rPr lang="en-US" sz="1600" dirty="0" err="1">
                <a:solidFill>
                  <a:srgbClr val="94A3B8"/>
                </a:solidFill>
              </a:rPr>
              <a:t>방지</a:t>
            </a:r>
            <a:endParaRPr lang="en-US" sz="1600" dirty="0">
              <a:solidFill>
                <a:srgbClr val="94A3B8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2563EB"/>
                </a:solidFill>
              </a:rPr>
              <a:t>—  전처리: 문장분리 / 정규화 / 불용어 28개 / 키워드 가중치</a:t>
            </a:r>
            <a:endParaRPr lang="en-US" sz="19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06A1CA-52FC-AB7C-C667-3CB31AC095F1}"/>
              </a:ext>
            </a:extLst>
          </p:cNvPr>
          <p:cNvSpPr/>
          <p:nvPr/>
        </p:nvSpPr>
        <p:spPr>
          <a:xfrm>
            <a:off x="502920" y="48463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Career-Path Navigator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평가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7-way Ablation (95% 부트스트랩 CI)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16152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863840" y="479145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76374"/>
                </a:solidFill>
              </a:rPr>
              <a:t>09 / 14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76374"/>
                </a:solidFill>
              </a:rPr>
              <a:t>동일 조건 비교  ·  부트스트랩 2,000회  ·  서비스 기본값 = SBERT Hybrid (90.5%)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7772400" cy="307238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방법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95% CI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Macro F1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Cov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Keyword-only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86.9%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[79.8, 94.0]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87.4%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89.3%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BoN Hybrid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89.3%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[82.1, 95.2]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89.4%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91.7%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SBERT-only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78.6%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[69.0, 86.9]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79.5%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89.3%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</a:rPr>
                        <a:t>SBERT Hybrid  ★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</a:rPr>
                        <a:t>90.5%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</a:rPr>
                        <a:t>[83.3, 96.4]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</a:rPr>
                        <a:t>90.7%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</a:rPr>
                        <a:t>91.7%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SBERT Hybrid + Threshold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90.5%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[84.5, 96.4]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90.7%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91.7%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Learned Head (LOOCV)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79.8%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[71.4, 88.1]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78.6%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Learned Head Hybrid (참고)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92.9%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[86.9, 97.6]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89.7%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3">
            <a:extLst>
              <a:ext uri="{FF2B5EF4-FFF2-40B4-BE49-F238E27FC236}">
                <a16:creationId xmlns:a16="http://schemas.microsoft.com/office/drawing/2014/main" id="{51959911-F31E-6A24-5A2C-006E4493409D}"/>
              </a:ext>
            </a:extLst>
          </p:cNvPr>
          <p:cNvSpPr/>
          <p:nvPr/>
        </p:nvSpPr>
        <p:spPr>
          <a:xfrm>
            <a:off x="502920" y="48463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Career-Path Navigator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평가  ·  핵심 차별점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정직성: 일반화 갭 &amp; 음성 결과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16152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863840" y="479145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76374"/>
                </a:solidFill>
              </a:rPr>
              <a:t>10 / 14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35024"/>
            <a:ext cx="8229600" cy="3401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563EB"/>
                </a:solidFill>
              </a:rPr>
              <a:t>—  합성 90.5% → 실데이터 홀드아웃 72.4% (실제 자소서 29개)</a:t>
            </a:r>
            <a:endParaRPr lang="en-US" sz="1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94A3B8"/>
                </a:solidFill>
              </a:rPr>
              <a:t>·  실데이터에선 Macro F1 기준 SBERT Hybrid(86.4%)가 Keyword(79.0%)를 더 </a:t>
            </a:r>
            <a:r>
              <a:rPr lang="en-US" sz="1600" dirty="0" err="1">
                <a:solidFill>
                  <a:srgbClr val="94A3B8"/>
                </a:solidFill>
              </a:rPr>
              <a:t>뚜렷이</a:t>
            </a:r>
            <a:r>
              <a:rPr lang="en-US" sz="1600" dirty="0">
                <a:solidFill>
                  <a:srgbClr val="94A3B8"/>
                </a:solidFill>
              </a:rPr>
              <a:t> </a:t>
            </a:r>
            <a:r>
              <a:rPr lang="en-US" sz="1600" dirty="0" err="1">
                <a:solidFill>
                  <a:srgbClr val="94A3B8"/>
                </a:solidFill>
              </a:rPr>
              <a:t>앞섬</a:t>
            </a:r>
            <a:endParaRPr lang="en-US" sz="1600" dirty="0">
              <a:solidFill>
                <a:srgbClr val="94A3B8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endParaRPr lang="en-US" sz="1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563EB"/>
                </a:solidFill>
              </a:rPr>
              <a:t>—  "97.1% → 90.5%는 성능 저하가 아니다"</a:t>
            </a:r>
            <a:endParaRPr lang="en-US" sz="1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94A3B8"/>
                </a:solidFill>
              </a:rPr>
              <a:t>·  평가셋을 키우고 어렵게 만들어 과대평가를 바로잡은 </a:t>
            </a:r>
            <a:r>
              <a:rPr lang="en-US" sz="1600" dirty="0" err="1">
                <a:solidFill>
                  <a:srgbClr val="94A3B8"/>
                </a:solidFill>
              </a:rPr>
              <a:t>정직한</a:t>
            </a:r>
            <a:r>
              <a:rPr lang="en-US" sz="1600" dirty="0">
                <a:solidFill>
                  <a:srgbClr val="94A3B8"/>
                </a:solidFill>
              </a:rPr>
              <a:t> </a:t>
            </a:r>
            <a:r>
              <a:rPr lang="en-US" sz="1600" dirty="0" err="1">
                <a:solidFill>
                  <a:srgbClr val="94A3B8"/>
                </a:solidFill>
              </a:rPr>
              <a:t>수치</a:t>
            </a:r>
            <a:endParaRPr lang="en-US" sz="1600" dirty="0">
              <a:solidFill>
                <a:srgbClr val="94A3B8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endParaRPr lang="en-US" sz="1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563EB"/>
                </a:solidFill>
              </a:rPr>
              <a:t>—  실데이터 투입 실험 (음성 결과)</a:t>
            </a:r>
            <a:endParaRPr lang="en-US" sz="19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·  PDF를 학습에 추가하니 79.8% → 77.4% 하락 → "데이터 무작정 확대는 답이 아니다"</a:t>
            </a:r>
            <a:endParaRPr lang="en-US" sz="19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20173F-D407-F1A1-764F-9A7A51988137}"/>
              </a:ext>
            </a:extLst>
          </p:cNvPr>
          <p:cNvSpPr/>
          <p:nvPr/>
        </p:nvSpPr>
        <p:spPr>
          <a:xfrm>
            <a:off x="502920" y="48463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Career-Path Navigator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" y="822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평가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학습곡선 — 한계는 알고리즘이 아니라 데이터 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1" y="1335024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863840" y="479145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76374"/>
                </a:solidFill>
              </a:rPr>
              <a:t>11 / 14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745268827"/>
              </p:ext>
            </p:extLst>
          </p:nvPr>
        </p:nvGraphicFramePr>
        <p:xfrm>
          <a:off x="502921" y="1335024"/>
          <a:ext cx="3768213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271134" y="1335024"/>
            <a:ext cx="4872865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563EB"/>
                </a:solidFill>
              </a:rPr>
              <a:t>—  곡선이 상승 중 · </a:t>
            </a:r>
            <a:r>
              <a:rPr lang="en-US" sz="1900" b="1" dirty="0" err="1">
                <a:solidFill>
                  <a:srgbClr val="2563EB"/>
                </a:solidFill>
              </a:rPr>
              <a:t>고원</a:t>
            </a:r>
            <a:r>
              <a:rPr lang="en-US" sz="1900" b="1" dirty="0">
                <a:solidFill>
                  <a:srgbClr val="2563EB"/>
                </a:solidFill>
              </a:rPr>
              <a:t> </a:t>
            </a:r>
            <a:r>
              <a:rPr lang="en-US" sz="1900" b="1" dirty="0" err="1">
                <a:solidFill>
                  <a:srgbClr val="2563EB"/>
                </a:solidFill>
              </a:rPr>
              <a:t>미도달</a:t>
            </a:r>
            <a:endParaRPr lang="en-US" sz="1900" dirty="0"/>
          </a:p>
          <a:p>
            <a:pPr marL="285750" indent="-285750">
              <a:spcAft>
                <a:spcPts val="200"/>
              </a:spcAft>
              <a:buFontTx/>
              <a:buChar char="-"/>
            </a:pPr>
            <a:r>
              <a:rPr lang="en-US" sz="1600" dirty="0" err="1">
                <a:solidFill>
                  <a:srgbClr val="94A3B8"/>
                </a:solidFill>
              </a:rPr>
              <a:t>헤드의</a:t>
            </a:r>
            <a:r>
              <a:rPr lang="en-US" sz="1600" dirty="0">
                <a:solidFill>
                  <a:srgbClr val="94A3B8"/>
                </a:solidFill>
              </a:rPr>
              <a:t> 한계 = 알고리즘이 아니라 </a:t>
            </a:r>
            <a:r>
              <a:rPr lang="en-US" sz="1600" dirty="0" err="1">
                <a:solidFill>
                  <a:srgbClr val="94A3B8"/>
                </a:solidFill>
              </a:rPr>
              <a:t>데이터</a:t>
            </a:r>
            <a:r>
              <a:rPr lang="en-US" sz="1600" dirty="0">
                <a:solidFill>
                  <a:srgbClr val="94A3B8"/>
                </a:solidFill>
              </a:rPr>
              <a:t> 양</a:t>
            </a:r>
          </a:p>
          <a:p>
            <a:pPr marL="342900" indent="-342900">
              <a:spcAft>
                <a:spcPts val="200"/>
              </a:spcAft>
              <a:buFontTx/>
              <a:buChar char="-"/>
            </a:pPr>
            <a:endParaRPr lang="en-US" sz="1900" dirty="0"/>
          </a:p>
          <a:p>
            <a:pPr marL="285750" indent="-285750">
              <a:spcAft>
                <a:spcPts val="200"/>
              </a:spcAft>
              <a:buFontTx/>
              <a:buChar char="-"/>
            </a:pPr>
            <a:r>
              <a:rPr lang="en-US" sz="1600" dirty="0">
                <a:solidFill>
                  <a:srgbClr val="94A3B8"/>
                </a:solidFill>
              </a:rPr>
              <a:t>질 좋은 데이터를 더 모으면 코사인(90.5%)에 </a:t>
            </a:r>
            <a:r>
              <a:rPr lang="en-US" sz="1600" dirty="0" err="1">
                <a:solidFill>
                  <a:srgbClr val="94A3B8"/>
                </a:solidFill>
              </a:rPr>
              <a:t>근접</a:t>
            </a:r>
            <a:r>
              <a:rPr lang="en-US" sz="1600" dirty="0">
                <a:solidFill>
                  <a:srgbClr val="94A3B8"/>
                </a:solidFill>
              </a:rPr>
              <a:t> </a:t>
            </a:r>
            <a:r>
              <a:rPr lang="en-US" sz="1600" dirty="0" err="1">
                <a:solidFill>
                  <a:srgbClr val="94A3B8"/>
                </a:solidFill>
              </a:rPr>
              <a:t>가능</a:t>
            </a:r>
            <a:endParaRPr lang="en-US" sz="1600" dirty="0">
              <a:solidFill>
                <a:srgbClr val="94A3B8"/>
              </a:solidFill>
            </a:endParaRPr>
          </a:p>
          <a:p>
            <a:pPr>
              <a:spcAft>
                <a:spcPts val="200"/>
              </a:spcAft>
            </a:pPr>
            <a:endParaRPr lang="en-US" sz="19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-  기준선: 코사인 90.5%  ·  랜덤 6.25%</a:t>
            </a:r>
            <a:endParaRPr lang="en-US" sz="19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15492D4D-FAB1-C06F-E68F-ACC3FE314E44}"/>
              </a:ext>
            </a:extLst>
          </p:cNvPr>
          <p:cNvSpPr/>
          <p:nvPr/>
        </p:nvSpPr>
        <p:spPr>
          <a:xfrm>
            <a:off x="502920" y="48463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Career-Path Navigator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마무리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라이브 데모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16152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863840" y="479145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76374"/>
                </a:solidFill>
              </a:rPr>
              <a:t>12 / 14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35024"/>
            <a:ext cx="8229600" cy="2340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563EB"/>
                </a:solidFill>
              </a:rPr>
              <a:t>—  자소서 PDF 업로드 → 도메인 분류 결과 + 레이더 차트</a:t>
            </a:r>
            <a:endParaRPr lang="en-US" sz="1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563EB"/>
                </a:solidFill>
              </a:rPr>
              <a:t>—  Audit Panel: 분류 근거 키워드·가중치</a:t>
            </a:r>
            <a:endParaRPr lang="en-US" sz="1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563EB"/>
                </a:solidFill>
              </a:rPr>
              <a:t>—  Mind-Map: 역량 → 직무·연구실 연결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2563EB"/>
                </a:solidFill>
              </a:rPr>
              <a:t>—  (옵션) Document Inspector: 두 자소서 유사도 비교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02920" y="3767328"/>
            <a:ext cx="8138160" cy="512064"/>
          </a:xfrm>
          <a:prstGeom prst="roundRect">
            <a:avLst>
              <a:gd name="adj" fmla="val 1785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85800" y="3767328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</a:rPr>
              <a:t>TIP: SBERT 첫 로딩 수 초 → 데모 영상 사전 녹화 권장</a:t>
            </a:r>
            <a:endParaRPr lang="en-US" sz="16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D8FABE1A-E9F1-23DD-E066-6BAB682AA115}"/>
              </a:ext>
            </a:extLst>
          </p:cNvPr>
          <p:cNvSpPr/>
          <p:nvPr/>
        </p:nvSpPr>
        <p:spPr>
          <a:xfrm>
            <a:off x="502920" y="48463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Career-Path Navigator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마무리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 &amp; 향후 방향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16152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863840" y="479145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76374"/>
                </a:solidFill>
              </a:rPr>
              <a:t>13 / 14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3502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</a:rPr>
              <a:t>한계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563EB"/>
                </a:solidFill>
              </a:rPr>
              <a:t>—  SBERT 모델 ~40MB 첫 로딩</a:t>
            </a:r>
            <a:endParaRPr lang="en-US" sz="1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563EB"/>
                </a:solidFill>
              </a:rPr>
              <a:t>—  평가셋 규모 (84개)</a:t>
            </a:r>
            <a:endParaRPr lang="en-US" sz="1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563EB"/>
                </a:solidFill>
              </a:rPr>
              <a:t>—  어휘 중의성 (논문·브랜드 등)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2563EB"/>
                </a:solidFill>
              </a:rPr>
              <a:t>—  합성 ↔ 실데이터 갭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0" y="1335024"/>
            <a:ext cx="0" cy="29260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754880" y="1335024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</a:rPr>
              <a:t>향후 방향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754880" y="1719072"/>
            <a:ext cx="3977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563EB"/>
                </a:solidFill>
              </a:rPr>
              <a:t>—  한국어 특화 SBERT (bge-m3-ko)</a:t>
            </a:r>
            <a:endParaRPr lang="en-US" sz="1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563EB"/>
                </a:solidFill>
              </a:rPr>
              <a:t>—  채용공고 크롤링·매칭</a:t>
            </a:r>
            <a:endParaRPr lang="en-US" sz="1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563EB"/>
                </a:solidFill>
              </a:rPr>
              <a:t>—  평가셋 확대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2563EB"/>
                </a:solidFill>
              </a:rPr>
              <a:t>—  fine-tuned SBERT</a:t>
            </a:r>
            <a:endParaRPr lang="en-US" sz="19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9C536588-76AA-E048-47AD-9D32F24736B7}"/>
              </a:ext>
            </a:extLst>
          </p:cNvPr>
          <p:cNvSpPr/>
          <p:nvPr/>
        </p:nvSpPr>
        <p:spPr>
          <a:xfrm>
            <a:off x="502920" y="48463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Career-Path Navigator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마무리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역할분담 &amp; 협업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16152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863840" y="479145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76374"/>
                </a:solidFill>
              </a:rPr>
              <a:t>14 / 14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812984"/>
              </p:ext>
            </p:extLst>
          </p:nvPr>
        </p:nvGraphicFramePr>
        <p:xfrm>
          <a:off x="502920" y="1335024"/>
          <a:ext cx="8138160" cy="183489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팀원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담당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주요 산출물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이준구 (팀장)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NLP 파이프라인 · 프론트엔드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76374"/>
                          </a:solidFill>
                        </a:rPr>
                        <a:t>4개 분류기, Hybrid, React 대시보드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손인선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데이터 수집 · 라벨링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76374"/>
                          </a:solidFill>
                        </a:rPr>
                        <a:t>평가셋 84개, 실 PDF 30개, 도메인 프로파일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b="1" dirty="0">
                          <a:solidFill>
                            <a:srgbClr val="0F172A"/>
                          </a:solidFill>
                        </a:rPr>
                        <a:t>윤재웅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평가 · 실험 설계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76374"/>
                          </a:solidFill>
                        </a:rPr>
                        <a:t>7-way Ablation, LOOCV, CI, 학습곡선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3302163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</a:rPr>
              <a:t>협업: </a:t>
            </a:r>
            <a:r>
              <a:rPr lang="en-US" sz="1700" dirty="0">
                <a:solidFill>
                  <a:srgbClr val="576374"/>
                </a:solidFill>
              </a:rPr>
              <a:t>git 이력  ·  단일 출처·재현 가능 워크플로우  ·  </a:t>
            </a:r>
            <a:r>
              <a:rPr lang="en-US" sz="1700" dirty="0" err="1">
                <a:solidFill>
                  <a:srgbClr val="576374"/>
                </a:solidFill>
              </a:rPr>
              <a:t>동료평가</a:t>
            </a:r>
            <a:endParaRPr lang="en-US" sz="1700" dirty="0">
              <a:solidFill>
                <a:srgbClr val="576374"/>
              </a:solidFill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576374"/>
                </a:solidFill>
              </a:rPr>
              <a:t>
</a:t>
            </a:r>
            <a:r>
              <a:rPr lang="en-US" sz="1400" b="1" dirty="0">
                <a:solidFill>
                  <a:srgbClr val="576374"/>
                </a:solidFill>
              </a:rPr>
              <a:t>재현 명령: 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scripts/exportEvalDataset.mjs  →  python train...  →  node runFullEvaluation.mjs</a:t>
            </a:r>
            <a:endParaRPr lang="en-US" sz="17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939B4A2-4DA4-B0CE-8A05-40EFE3222C7D}"/>
              </a:ext>
            </a:extLst>
          </p:cNvPr>
          <p:cNvSpPr/>
          <p:nvPr/>
        </p:nvSpPr>
        <p:spPr>
          <a:xfrm>
            <a:off x="502920" y="48463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Career-Path Navigator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1193</Words>
  <Application>Microsoft Office PowerPoint</Application>
  <PresentationFormat>화면 슬라이드 쇼(16:9)</PresentationFormat>
  <Paragraphs>250</Paragraphs>
  <Slides>15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이준구</cp:lastModifiedBy>
  <cp:revision>3</cp:revision>
  <dcterms:created xsi:type="dcterms:W3CDTF">2026-06-06T17:09:44Z</dcterms:created>
  <dcterms:modified xsi:type="dcterms:W3CDTF">2026-06-11T14:18:53Z</dcterms:modified>
</cp:coreProperties>
</file>