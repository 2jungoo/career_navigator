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867"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371160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자소서를 올리면 어떤 직무에 맞는지 분석하고 직무와 연구실을 추천해 주는 NLP 시스템, Career-Path Navigator를 발표하겠습니다.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자소서를 쓸 때 가장 큰 고민은 '내가 어떤 직무에 맞는가'입니다. 이 막연한 질문을, 입력된 텍스트의 특성을 분석해 정량적으로 답하는 문제로 정의했습니다. 점수만 주는 게 아니라 판정 근거까지 보여주는 게 목표입니다.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취업·진학 준비생을 대상으로 16개 직무 도메인을 다룹니다. 특정 직군에 국한되지 않고 입력 텍스트 특성으로 판단하는 범용 시스템입니다.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흐름입니다. 문서를 올리면 텍스트를 추출·전처리하고, 네 가지 분류기를 거쳐 하이브리드로 결합한 뒤 도메인을 판정하고 추천합니다. 모든 추론이 서버 없이 브라우저 안에서 끝납니다. 이제 분류기를 하나씩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키워드는 'Docker' 같은 전문 용어를 정확히 잡지만 맥락을 모릅니다. SBERT는 의미를 잡지만 다국어 범용 모델이라 한국어 전문 용어엔 약합니다. 흥미롭게도 SBERT 단독은 키워드보다 낮습니다. 약점이 서로 다르기 때문에, 둘을 합칠 근거가 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키워드 45%, 의미 55%로 합치면 90.5%로, 각 단독보다 높습니다. 서로의 약점을 보완하기 때문입니다. 가중치도 0.3~0.9 구간이 모두 비슷한 고원이라, 0.45가 안정적인 선택임을 민감도 분석으로 확인했습니다.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단순 코사인을 넘어, SBERT 위에 로지스틱 회귀 헤드를 학습시켰습니다. 표준화·클래스가중·누수 없는 교차검증으로 LOOCV를 79.8%까지 올렸습니다. 비선형 MLP도 같은 조건에서 실험했는데 67.9%로 오히려 낮았습니다. 데이터가 적을 때는 선형이 낫다는 걸 실험으로 확인했고, 배포는 LogReg로 갑니다.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평가셋은 16개 도메인을 각 5개씩 균형 있게 84개로 구성했습니다. 특히 키워드 없이 의미로만 판단해야 하는 문장과 도메인이 섞인 문장을 일부러 넣어 난이도를 높였습니다. 또 실제 자소서 PDF 30개를 별도 확보해 홀드아웃으로 씁니다.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7가지 방법을 동일 조건에서 비교했습니다. 기본값인 SBERT Hybrid가 90.5%로 가장 안정적이고, 부트스트랩 2,000회로 95% 신뢰구간까지 함께 보고합니다. 부트스트랩은 시드를 고정해 누가 다시 돌려도 같은 수치가 나옵니다.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강조하고 싶은 부분입니다. 합성 90.5%가 실제 자소서에선 72.4%로 떨어집니다. 이 일반화 갭을 숨기지 않고 공개합니다. 평가셋을 어렵게 키우면서 과대평가도 스스로 교정했습니다. 또 실데이터를 학습에 더 넣어봤더니 오히려 성능이 떨어졌는데, 이 음성 결과까지 그대로 보고합니다. 데이터는 양이 아니라 질이라는 걸 실험으로 보여줍니다.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데이터를 늘릴수록 헤드 성능이 계속 오르고 아직 고원에 도달하지 않았습니다. 즉 헤드의 한계는 알고리즘이 아니라 데이터 양임을 정량적으로 보여줍니다.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실제로 자소서를 올려보겠습니다. 도메인이 분류되고, 어떤 키워드가 근거였는지, 그리고 어떤 직무·연구실이 추천되는지 한눈에 보입니다.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한계를 향후 계획과 짝지어 정리했습니다. 임베딩 모델 교체, 평가셋 확대, 실데이터 fine-tuning, 그리고 채용공고 크롤링 매칭으로 확장 가능합니다.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25880"/>
            <a:ext cx="10058400" cy="365760"/>
          </a:xfrm>
          <a:prstGeom prst="rect">
            <a:avLst/>
          </a:prstGeom>
          <a:noFill/>
        </p:spPr>
        <p:txBody>
          <a:bodyPr wrap="square" lIns="0" tIns="0" rIns="0" bIns="0" anchor="t">
            <a:spAutoFit/>
          </a:bodyPr>
          <a:lstStyle/>
          <a:p>
            <a:pPr algn="l">
              <a:lnSpc>
                <a:spcPct val="104000"/>
              </a:lnSpc>
            </a:pPr>
            <a:r>
              <a:rPr sz="1500" b="1">
                <a:solidFill>
                  <a:srgbClr val="2563EB"/>
                </a:solidFill>
                <a:latin typeface="맑은 고딕"/>
                <a:ea typeface="맑은 고딕"/>
                <a:cs typeface="맑은 고딕"/>
              </a:rPr>
              <a:t>자연어처리 기말 프로젝트</a:t>
            </a:r>
          </a:p>
        </p:txBody>
      </p:sp>
      <p:sp>
        <p:nvSpPr>
          <p:cNvPr id="4" name="TextBox 3"/>
          <p:cNvSpPr txBox="1"/>
          <p:nvPr/>
        </p:nvSpPr>
        <p:spPr>
          <a:xfrm>
            <a:off x="914400" y="1719072"/>
            <a:ext cx="10698480" cy="1005840"/>
          </a:xfrm>
          <a:prstGeom prst="rect">
            <a:avLst/>
          </a:prstGeom>
          <a:noFill/>
        </p:spPr>
        <p:txBody>
          <a:bodyPr wrap="square" lIns="0" tIns="0" rIns="0" bIns="0" anchor="t">
            <a:spAutoFit/>
          </a:bodyPr>
          <a:lstStyle/>
          <a:p>
            <a:pPr algn="l">
              <a:lnSpc>
                <a:spcPct val="104000"/>
              </a:lnSpc>
            </a:pPr>
            <a:r>
              <a:rPr sz="4400" b="1">
                <a:solidFill>
                  <a:srgbClr val="0F172A"/>
                </a:solidFill>
                <a:latin typeface="맑은 고딕"/>
                <a:ea typeface="맑은 고딕"/>
                <a:cs typeface="맑은 고딕"/>
              </a:rPr>
              <a:t>Universal Career-Path Navigator</a:t>
            </a:r>
          </a:p>
        </p:txBody>
      </p:sp>
      <p:sp>
        <p:nvSpPr>
          <p:cNvPr id="5" name="Rectangle 4"/>
          <p:cNvSpPr/>
          <p:nvPr/>
        </p:nvSpPr>
        <p:spPr>
          <a:xfrm>
            <a:off x="914400" y="2788920"/>
            <a:ext cx="1280160" cy="502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1806" y="3119740"/>
            <a:ext cx="10424160" cy="616066"/>
          </a:xfrm>
          <a:prstGeom prst="rect">
            <a:avLst/>
          </a:prstGeom>
          <a:noFill/>
        </p:spPr>
        <p:txBody>
          <a:bodyPr wrap="square" lIns="0" tIns="0" rIns="0" bIns="0" anchor="t">
            <a:spAutoFit/>
          </a:bodyPr>
          <a:lstStyle/>
          <a:p>
            <a:pPr algn="l">
              <a:lnSpc>
                <a:spcPct val="104000"/>
              </a:lnSpc>
            </a:pPr>
            <a:r>
              <a:rPr sz="2000" b="1" dirty="0" err="1">
                <a:solidFill>
                  <a:srgbClr val="475569"/>
                </a:solidFill>
                <a:latin typeface="맑은 고딕"/>
                <a:ea typeface="맑은 고딕"/>
                <a:cs typeface="맑은 고딕"/>
              </a:rPr>
              <a:t>자소서</a:t>
            </a:r>
            <a:r>
              <a:rPr sz="2000" b="1" dirty="0">
                <a:solidFill>
                  <a:srgbClr val="475569"/>
                </a:solidFill>
                <a:latin typeface="맑은 고딕"/>
                <a:ea typeface="맑은 고딕"/>
                <a:cs typeface="맑은 고딕"/>
              </a:rPr>
              <a:t> 한 </a:t>
            </a:r>
            <a:r>
              <a:rPr sz="2000" b="1" dirty="0" err="1">
                <a:solidFill>
                  <a:srgbClr val="475569"/>
                </a:solidFill>
                <a:latin typeface="맑은 고딕"/>
                <a:ea typeface="맑은 고딕"/>
                <a:cs typeface="맑은 고딕"/>
              </a:rPr>
              <a:t>장으로</a:t>
            </a:r>
            <a:r>
              <a:rPr sz="2000" b="1" dirty="0">
                <a:solidFill>
                  <a:srgbClr val="475569"/>
                </a:solidFill>
                <a:latin typeface="맑은 고딕"/>
                <a:ea typeface="맑은 고딕"/>
                <a:cs typeface="맑은 고딕"/>
              </a:rPr>
              <a:t> </a:t>
            </a:r>
            <a:endParaRPr lang="en-US" sz="2000" b="1" dirty="0">
              <a:solidFill>
                <a:srgbClr val="475569"/>
              </a:solidFill>
              <a:latin typeface="맑은 고딕"/>
              <a:ea typeface="맑은 고딕"/>
              <a:cs typeface="맑은 고딕"/>
            </a:endParaRPr>
          </a:p>
          <a:p>
            <a:pPr algn="l">
              <a:lnSpc>
                <a:spcPct val="104000"/>
              </a:lnSpc>
            </a:pPr>
            <a:r>
              <a:rPr sz="2000" b="1" dirty="0">
                <a:solidFill>
                  <a:srgbClr val="475569"/>
                </a:solidFill>
                <a:latin typeface="맑은 고딕"/>
                <a:ea typeface="맑은 고딕"/>
                <a:cs typeface="맑은 고딕"/>
              </a:rPr>
              <a:t> </a:t>
            </a:r>
            <a:r>
              <a:rPr lang="en-US" sz="2000" b="1" dirty="0">
                <a:solidFill>
                  <a:srgbClr val="475569"/>
                </a:solidFill>
                <a:latin typeface="맑은 고딕"/>
                <a:ea typeface="맑은 고딕"/>
                <a:cs typeface="맑은 고딕"/>
              </a:rPr>
              <a:t>											</a:t>
            </a:r>
            <a:r>
              <a:rPr sz="2000" b="1" dirty="0" err="1">
                <a:solidFill>
                  <a:srgbClr val="475569"/>
                </a:solidFill>
                <a:latin typeface="맑은 고딕"/>
                <a:ea typeface="맑은 고딕"/>
                <a:cs typeface="맑은 고딕"/>
              </a:rPr>
              <a:t>직무</a:t>
            </a:r>
            <a:r>
              <a:rPr sz="2000" b="1" dirty="0">
                <a:solidFill>
                  <a:srgbClr val="475569"/>
                </a:solidFill>
                <a:latin typeface="맑은 고딕"/>
                <a:ea typeface="맑은 고딕"/>
                <a:cs typeface="맑은 고딕"/>
              </a:rPr>
              <a:t> </a:t>
            </a:r>
            <a:r>
              <a:rPr sz="2000" b="1" dirty="0" err="1">
                <a:solidFill>
                  <a:srgbClr val="475569"/>
                </a:solidFill>
                <a:latin typeface="맑은 고딕"/>
                <a:ea typeface="맑은 고딕"/>
                <a:cs typeface="맑은 고딕"/>
              </a:rPr>
              <a:t>도메인</a:t>
            </a:r>
            <a:r>
              <a:rPr sz="2000" b="1" dirty="0">
                <a:solidFill>
                  <a:srgbClr val="475569"/>
                </a:solidFill>
                <a:latin typeface="맑은 고딕"/>
                <a:ea typeface="맑은 고딕"/>
                <a:cs typeface="맑은 고딕"/>
              </a:rPr>
              <a:t> </a:t>
            </a:r>
            <a:r>
              <a:rPr sz="2000" b="1" dirty="0" err="1">
                <a:solidFill>
                  <a:srgbClr val="475569"/>
                </a:solidFill>
                <a:latin typeface="맑은 고딕"/>
                <a:ea typeface="맑은 고딕"/>
                <a:cs typeface="맑은 고딕"/>
              </a:rPr>
              <a:t>판정</a:t>
            </a:r>
            <a:r>
              <a:rPr lang="en-US" sz="2000" b="1" dirty="0" err="1">
                <a:solidFill>
                  <a:srgbClr val="475569"/>
                </a:solidFill>
                <a:latin typeface="맑은 고딕"/>
                <a:ea typeface="맑은 고딕"/>
                <a:cs typeface="맑은 고딕"/>
              </a:rPr>
              <a:t>&amp;</a:t>
            </a:r>
            <a:r>
              <a:rPr sz="2000" b="1" dirty="0" err="1">
                <a:solidFill>
                  <a:srgbClr val="475569"/>
                </a:solidFill>
                <a:latin typeface="맑은 고딕"/>
                <a:ea typeface="맑은 고딕"/>
                <a:cs typeface="맑은 고딕"/>
              </a:rPr>
              <a:t>직무·연구실</a:t>
            </a:r>
            <a:r>
              <a:rPr sz="2000" b="1" dirty="0">
                <a:solidFill>
                  <a:srgbClr val="475569"/>
                </a:solidFill>
                <a:latin typeface="맑은 고딕"/>
                <a:ea typeface="맑은 고딕"/>
                <a:cs typeface="맑은 고딕"/>
              </a:rPr>
              <a:t> </a:t>
            </a:r>
            <a:r>
              <a:rPr sz="2000" b="1" dirty="0" err="1">
                <a:solidFill>
                  <a:srgbClr val="475569"/>
                </a:solidFill>
                <a:latin typeface="맑은 고딕"/>
                <a:ea typeface="맑은 고딕"/>
                <a:cs typeface="맑은 고딕"/>
              </a:rPr>
              <a:t>추천</a:t>
            </a:r>
            <a:endParaRPr sz="2000" b="1" dirty="0">
              <a:solidFill>
                <a:srgbClr val="475569"/>
              </a:solidFill>
              <a:latin typeface="맑은 고딕"/>
              <a:ea typeface="맑은 고딕"/>
              <a:cs typeface="맑은 고딕"/>
            </a:endParaRPr>
          </a:p>
        </p:txBody>
      </p:sp>
      <p:sp>
        <p:nvSpPr>
          <p:cNvPr id="7" name="Rounded Rectangle 6"/>
          <p:cNvSpPr/>
          <p:nvPr/>
        </p:nvSpPr>
        <p:spPr>
          <a:xfrm>
            <a:off x="914400" y="4069080"/>
            <a:ext cx="2545003" cy="1143000"/>
          </a:xfrm>
          <a:prstGeom prst="roundRect">
            <a:avLst>
              <a:gd name="adj" fmla="val 7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2800" b="1">
                <a:solidFill>
                  <a:srgbClr val="0F172A"/>
                </a:solidFill>
                <a:latin typeface="맑은 고딕"/>
                <a:ea typeface="맑은 고딕"/>
                <a:cs typeface="맑은 고딕"/>
              </a:rPr>
              <a:t>16</a:t>
            </a:r>
          </a:p>
          <a:p>
            <a:pPr algn="ctr">
              <a:lnSpc>
                <a:spcPct val="104000"/>
              </a:lnSpc>
              <a:spcBef>
                <a:spcPts val="300"/>
              </a:spcBef>
            </a:pPr>
            <a:r>
              <a:rPr sz="1250" b="0">
                <a:solidFill>
                  <a:srgbClr val="475569"/>
                </a:solidFill>
                <a:latin typeface="맑은 고딕"/>
                <a:ea typeface="맑은 고딕"/>
                <a:cs typeface="맑은 고딕"/>
              </a:rPr>
              <a:t>직무 도메인 범용 분류</a:t>
            </a:r>
          </a:p>
        </p:txBody>
      </p:sp>
      <p:sp>
        <p:nvSpPr>
          <p:cNvPr id="8" name="Rounded Rectangle 7"/>
          <p:cNvSpPr/>
          <p:nvPr/>
        </p:nvSpPr>
        <p:spPr>
          <a:xfrm>
            <a:off x="3733723" y="4069080"/>
            <a:ext cx="2545003" cy="1143000"/>
          </a:xfrm>
          <a:prstGeom prst="roundRect">
            <a:avLst>
              <a:gd name="adj" fmla="val 7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2800" b="1">
                <a:solidFill>
                  <a:srgbClr val="0F172A"/>
                </a:solidFill>
                <a:latin typeface="맑은 고딕"/>
                <a:ea typeface="맑은 고딕"/>
                <a:cs typeface="맑은 고딕"/>
              </a:rPr>
              <a:t>7-way</a:t>
            </a:r>
          </a:p>
          <a:p>
            <a:pPr algn="ctr">
              <a:lnSpc>
                <a:spcPct val="104000"/>
              </a:lnSpc>
              <a:spcBef>
                <a:spcPts val="300"/>
              </a:spcBef>
            </a:pPr>
            <a:r>
              <a:rPr sz="1250" b="0">
                <a:solidFill>
                  <a:srgbClr val="475569"/>
                </a:solidFill>
                <a:latin typeface="맑은 고딕"/>
                <a:ea typeface="맑은 고딕"/>
                <a:cs typeface="맑은 고딕"/>
              </a:rPr>
              <a:t>Ablation + 95% CI 평가</a:t>
            </a:r>
          </a:p>
        </p:txBody>
      </p:sp>
      <p:sp>
        <p:nvSpPr>
          <p:cNvPr id="9" name="Rounded Rectangle 8"/>
          <p:cNvSpPr/>
          <p:nvPr/>
        </p:nvSpPr>
        <p:spPr>
          <a:xfrm>
            <a:off x="6553047" y="4069080"/>
            <a:ext cx="2545003" cy="1143000"/>
          </a:xfrm>
          <a:prstGeom prst="roundRect">
            <a:avLst>
              <a:gd name="adj" fmla="val 7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2800" b="1">
                <a:solidFill>
                  <a:srgbClr val="2563EB"/>
                </a:solidFill>
                <a:latin typeface="맑은 고딕"/>
                <a:ea typeface="맑은 고딕"/>
                <a:cs typeface="맑은 고딕"/>
              </a:rPr>
              <a:t>90.5%</a:t>
            </a:r>
          </a:p>
          <a:p>
            <a:pPr algn="ctr">
              <a:lnSpc>
                <a:spcPct val="104000"/>
              </a:lnSpc>
              <a:spcBef>
                <a:spcPts val="300"/>
              </a:spcBef>
            </a:pPr>
            <a:r>
              <a:rPr sz="1250" b="0">
                <a:solidFill>
                  <a:srgbClr val="475569"/>
                </a:solidFill>
                <a:latin typeface="맑은 고딕"/>
                <a:ea typeface="맑은 고딕"/>
                <a:cs typeface="맑은 고딕"/>
              </a:rPr>
              <a:t>SBERT Hybrid 정확도</a:t>
            </a:r>
          </a:p>
        </p:txBody>
      </p:sp>
      <p:sp>
        <p:nvSpPr>
          <p:cNvPr id="10" name="Rounded Rectangle 9"/>
          <p:cNvSpPr/>
          <p:nvPr/>
        </p:nvSpPr>
        <p:spPr>
          <a:xfrm>
            <a:off x="9372371" y="4069080"/>
            <a:ext cx="2545003" cy="1143000"/>
          </a:xfrm>
          <a:prstGeom prst="roundRect">
            <a:avLst>
              <a:gd name="adj" fmla="val 7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2800" b="1">
                <a:solidFill>
                  <a:srgbClr val="0F172A"/>
                </a:solidFill>
                <a:latin typeface="맑은 고딕"/>
                <a:ea typeface="맑은 고딕"/>
                <a:cs typeface="맑은 고딕"/>
              </a:rPr>
              <a:t>29건</a:t>
            </a:r>
          </a:p>
          <a:p>
            <a:pPr algn="ctr">
              <a:lnSpc>
                <a:spcPct val="104000"/>
              </a:lnSpc>
              <a:spcBef>
                <a:spcPts val="300"/>
              </a:spcBef>
            </a:pPr>
            <a:r>
              <a:rPr sz="1250" b="0">
                <a:solidFill>
                  <a:srgbClr val="475569"/>
                </a:solidFill>
                <a:latin typeface="맑은 고딕"/>
                <a:ea typeface="맑은 고딕"/>
                <a:cs typeface="맑은 고딕"/>
              </a:rPr>
              <a:t>실제 자소서 홀드아웃</a:t>
            </a:r>
          </a:p>
        </p:txBody>
      </p:sp>
      <p:sp>
        <p:nvSpPr>
          <p:cNvPr id="11" name="TextBox 10"/>
          <p:cNvSpPr txBox="1"/>
          <p:nvPr/>
        </p:nvSpPr>
        <p:spPr>
          <a:xfrm>
            <a:off x="914400" y="5806440"/>
            <a:ext cx="10424160" cy="213713"/>
          </a:xfrm>
          <a:prstGeom prst="rect">
            <a:avLst/>
          </a:prstGeom>
          <a:noFill/>
        </p:spPr>
        <p:txBody>
          <a:bodyPr wrap="square" lIns="0" tIns="0" rIns="0" bIns="0" anchor="t">
            <a:spAutoFit/>
          </a:bodyPr>
          <a:lstStyle/>
          <a:p>
            <a:pPr>
              <a:lnSpc>
                <a:spcPct val="104000"/>
              </a:lnSpc>
            </a:pPr>
            <a:r>
              <a:rPr lang="en-US" altLang="ko-KR" sz="1400" dirty="0">
                <a:solidFill>
                  <a:srgbClr val="94A3B8"/>
                </a:solidFill>
              </a:rPr>
              <a:t>5</a:t>
            </a:r>
            <a:r>
              <a:rPr lang="ko-KR" altLang="en-US" sz="1400" dirty="0">
                <a:solidFill>
                  <a:srgbClr val="94A3B8"/>
                </a:solidFill>
              </a:rPr>
              <a:t>조 팀장</a:t>
            </a:r>
            <a:r>
              <a:rPr lang="en-US" altLang="ko-KR" sz="1400" dirty="0">
                <a:solidFill>
                  <a:srgbClr val="94A3B8"/>
                </a:solidFill>
              </a:rPr>
              <a:t>:  이준구  / </a:t>
            </a:r>
            <a:r>
              <a:rPr lang="ko-KR" altLang="en-US" sz="1400" dirty="0">
                <a:solidFill>
                  <a:srgbClr val="94A3B8"/>
                </a:solidFill>
              </a:rPr>
              <a:t>팀원</a:t>
            </a:r>
            <a:r>
              <a:rPr lang="en-US" altLang="ko-KR" sz="1400" dirty="0">
                <a:solidFill>
                  <a:srgbClr val="94A3B8"/>
                </a:solidFill>
              </a:rPr>
              <a:t>:  </a:t>
            </a:r>
            <a:r>
              <a:rPr lang="en-US" altLang="ko-KR" sz="1400" dirty="0" err="1">
                <a:solidFill>
                  <a:srgbClr val="94A3B8"/>
                </a:solidFill>
              </a:rPr>
              <a:t>손인선</a:t>
            </a:r>
            <a:r>
              <a:rPr lang="en-US" altLang="ko-KR" sz="1400" dirty="0">
                <a:solidFill>
                  <a:srgbClr val="94A3B8"/>
                </a:solidFill>
              </a:rPr>
              <a:t>  ·  </a:t>
            </a:r>
            <a:r>
              <a:rPr lang="ko-KR" altLang="en-US" sz="1400" dirty="0">
                <a:solidFill>
                  <a:srgbClr val="94A3B8"/>
                </a:solidFill>
              </a:rPr>
              <a:t>윤재웅</a:t>
            </a:r>
            <a:endParaRPr sz="1400" b="0" dirty="0">
              <a:solidFill>
                <a:srgbClr val="94A3B8"/>
              </a:solidFill>
              <a:latin typeface="맑은 고딕"/>
              <a:ea typeface="맑은 고딕"/>
              <a:cs typeface="맑은 고딕"/>
            </a:endParaRPr>
          </a:p>
        </p:txBody>
      </p:sp>
      <p:sp>
        <p:nvSpPr>
          <p:cNvPr id="12" name="화살표: 오른쪽 11">
            <a:extLst>
              <a:ext uri="{FF2B5EF4-FFF2-40B4-BE49-F238E27FC236}">
                <a16:creationId xmlns:a16="http://schemas.microsoft.com/office/drawing/2014/main" id="{7B040929-3265-DB10-626F-99BFB42B3A0E}"/>
              </a:ext>
            </a:extLst>
          </p:cNvPr>
          <p:cNvSpPr/>
          <p:nvPr/>
        </p:nvSpPr>
        <p:spPr>
          <a:xfrm rot="190177">
            <a:off x="3626148" y="3100699"/>
            <a:ext cx="1833359" cy="554511"/>
          </a:xfrm>
          <a:prstGeom prst="rightArrow">
            <a:avLst/>
          </a:prstGeom>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ko-KR" altLang="en-US" b="1">
              <a:ln w="22225">
                <a:solidFill>
                  <a:schemeClr val="accent2"/>
                </a:solidFill>
                <a:prstDash val="solid"/>
              </a:ln>
              <a:solidFill>
                <a:schemeClr val="accent2">
                  <a:lumMod val="40000"/>
                  <a:lumOff val="6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lang="en-US" sz="3000" b="1" dirty="0">
                <a:solidFill>
                  <a:srgbClr val="0F172A"/>
                </a:solidFill>
                <a:latin typeface="맑은 고딕"/>
                <a:ea typeface="맑은 고딕"/>
                <a:cs typeface="맑은 고딕"/>
              </a:rPr>
              <a:t>Problem Definition</a:t>
            </a:r>
            <a:endParaRPr sz="3000" b="1" dirty="0">
              <a:solidFill>
                <a:srgbClr val="0F172A"/>
              </a:solidFill>
              <a:latin typeface="맑은 고딕"/>
              <a:ea typeface="맑은 고딕"/>
              <a:cs typeface="맑은 고딕"/>
            </a:endParaRP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874519"/>
            <a:ext cx="5257800" cy="118872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74320" tIns="54864" rIns="146304" bIns="54864" rtlCol="0" anchor="ctr"/>
          <a:lstStyle/>
          <a:p>
            <a:pPr algn="l">
              <a:lnSpc>
                <a:spcPct val="104000"/>
              </a:lnSpc>
            </a:pPr>
            <a:r>
              <a:rPr sz="1700" b="1">
                <a:solidFill>
                  <a:srgbClr val="0F172A"/>
                </a:solidFill>
                <a:latin typeface="맑은 고딕"/>
                <a:ea typeface="맑은 고딕"/>
                <a:cs typeface="맑은 고딕"/>
              </a:rPr>
              <a:t>“내가 어떤 직무에 맞는 사람일까?”</a:t>
            </a:r>
          </a:p>
          <a:p>
            <a:pPr algn="l">
              <a:lnSpc>
                <a:spcPct val="104000"/>
              </a:lnSpc>
              <a:spcBef>
                <a:spcPts val="500"/>
              </a:spcBef>
            </a:pPr>
            <a:r>
              <a:rPr sz="1350" b="0">
                <a:solidFill>
                  <a:srgbClr val="475569"/>
                </a:solidFill>
                <a:latin typeface="맑은 고딕"/>
                <a:ea typeface="맑은 고딕"/>
                <a:cs typeface="맑은 고딕"/>
              </a:rPr>
              <a:t>적합성을 본인도 설명하기 어렵다</a:t>
            </a:r>
          </a:p>
        </p:txBody>
      </p:sp>
      <p:sp>
        <p:nvSpPr>
          <p:cNvPr id="6" name="Rectangle 5"/>
          <p:cNvSpPr/>
          <p:nvPr/>
        </p:nvSpPr>
        <p:spPr>
          <a:xfrm>
            <a:off x="594360" y="2039112"/>
            <a:ext cx="45720" cy="85953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3291839"/>
            <a:ext cx="5257800" cy="118872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74320" tIns="54864" rIns="146304" bIns="54864" rtlCol="0" anchor="ctr"/>
          <a:lstStyle/>
          <a:p>
            <a:pPr algn="l">
              <a:lnSpc>
                <a:spcPct val="104000"/>
              </a:lnSpc>
            </a:pPr>
            <a:r>
              <a:rPr sz="1700" b="1">
                <a:solidFill>
                  <a:srgbClr val="0F172A"/>
                </a:solidFill>
                <a:latin typeface="맑은 고딕"/>
                <a:ea typeface="맑은 고딕"/>
                <a:cs typeface="맑은 고딕"/>
              </a:rPr>
              <a:t>“내 경험에 맞는 직무·연구실은 어디일까?”</a:t>
            </a:r>
          </a:p>
          <a:p>
            <a:pPr algn="l">
              <a:lnSpc>
                <a:spcPct val="104000"/>
              </a:lnSpc>
              <a:spcBef>
                <a:spcPts val="500"/>
              </a:spcBef>
            </a:pPr>
            <a:r>
              <a:rPr sz="1350" b="0">
                <a:solidFill>
                  <a:srgbClr val="475569"/>
                </a:solidFill>
                <a:latin typeface="맑은 고딕"/>
                <a:ea typeface="맑은 고딕"/>
                <a:cs typeface="맑은 고딕"/>
              </a:rPr>
              <a:t>수백 개 선택지를 하나씩 찾아보는 탐색 비용</a:t>
            </a:r>
          </a:p>
        </p:txBody>
      </p:sp>
      <p:sp>
        <p:nvSpPr>
          <p:cNvPr id="8" name="Rectangle 7"/>
          <p:cNvSpPr/>
          <p:nvPr/>
        </p:nvSpPr>
        <p:spPr>
          <a:xfrm>
            <a:off x="594360" y="3456432"/>
            <a:ext cx="45720" cy="85953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63640" y="1874519"/>
            <a:ext cx="5333695" cy="2606040"/>
          </a:xfrm>
          <a:prstGeom prst="roundRect">
            <a:avLst>
              <a:gd name="adj" fmla="val 7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54864" rIns="274320" bIns="54864" rtlCol="0" anchor="ctr"/>
          <a:lstStyle/>
          <a:p>
            <a:pPr algn="l">
              <a:lnSpc>
                <a:spcPct val="104000"/>
              </a:lnSpc>
            </a:pPr>
            <a:r>
              <a:rPr sz="1300" b="1" dirty="0" err="1">
                <a:solidFill>
                  <a:srgbClr val="60A5FA"/>
                </a:solidFill>
                <a:latin typeface="맑은 고딕"/>
                <a:ea typeface="맑은 고딕"/>
                <a:cs typeface="맑은 고딕"/>
              </a:rPr>
              <a:t>우리의</a:t>
            </a:r>
            <a:r>
              <a:rPr sz="1300" b="1" dirty="0">
                <a:solidFill>
                  <a:srgbClr val="60A5FA"/>
                </a:solidFill>
                <a:latin typeface="맑은 고딕"/>
                <a:ea typeface="맑은 고딕"/>
                <a:cs typeface="맑은 고딕"/>
              </a:rPr>
              <a:t> </a:t>
            </a:r>
            <a:r>
              <a:rPr sz="1300" b="1" dirty="0" err="1">
                <a:solidFill>
                  <a:srgbClr val="60A5FA"/>
                </a:solidFill>
                <a:latin typeface="맑은 고딕"/>
                <a:ea typeface="맑은 고딕"/>
                <a:cs typeface="맑은 고딕"/>
              </a:rPr>
              <a:t>재정의</a:t>
            </a:r>
            <a:endParaRPr sz="1300" b="1" dirty="0">
              <a:solidFill>
                <a:srgbClr val="60A5FA"/>
              </a:solidFill>
              <a:latin typeface="맑은 고딕"/>
              <a:ea typeface="맑은 고딕"/>
              <a:cs typeface="맑은 고딕"/>
            </a:endParaRPr>
          </a:p>
          <a:p>
            <a:pPr algn="l">
              <a:lnSpc>
                <a:spcPct val="104000"/>
              </a:lnSpc>
              <a:spcBef>
                <a:spcPts val="600"/>
              </a:spcBef>
            </a:pPr>
            <a:r>
              <a:rPr sz="2100" b="1" dirty="0" err="1">
                <a:solidFill>
                  <a:srgbClr val="FFFFFF"/>
                </a:solidFill>
                <a:latin typeface="맑은 고딕"/>
                <a:ea typeface="맑은 고딕"/>
                <a:cs typeface="맑은 고딕"/>
              </a:rPr>
              <a:t>입력</a:t>
            </a:r>
            <a:r>
              <a:rPr sz="2100" b="1" dirty="0">
                <a:solidFill>
                  <a:srgbClr val="FFFFFF"/>
                </a:solidFill>
                <a:latin typeface="맑은 고딕"/>
                <a:ea typeface="맑은 고딕"/>
                <a:cs typeface="맑은 고딕"/>
              </a:rPr>
              <a:t> </a:t>
            </a:r>
            <a:r>
              <a:rPr sz="2100" b="1" dirty="0" err="1">
                <a:solidFill>
                  <a:srgbClr val="FFFFFF"/>
                </a:solidFill>
                <a:latin typeface="맑은 고딕"/>
                <a:ea typeface="맑은 고딕"/>
                <a:cs typeface="맑은 고딕"/>
              </a:rPr>
              <a:t>텍스트의</a:t>
            </a:r>
            <a:r>
              <a:rPr sz="2100" b="1" dirty="0">
                <a:solidFill>
                  <a:srgbClr val="FFFFFF"/>
                </a:solidFill>
                <a:latin typeface="맑은 고딕"/>
                <a:ea typeface="맑은 고딕"/>
                <a:cs typeface="맑은 고딕"/>
              </a:rPr>
              <a:t> </a:t>
            </a:r>
            <a:r>
              <a:rPr sz="2100" b="1" dirty="0" err="1">
                <a:solidFill>
                  <a:srgbClr val="FFFFFF"/>
                </a:solidFill>
                <a:latin typeface="맑은 고딕"/>
                <a:ea typeface="맑은 고딕"/>
                <a:cs typeface="맑은 고딕"/>
              </a:rPr>
              <a:t>특성이</a:t>
            </a:r>
            <a:r>
              <a:rPr sz="2100" b="1" dirty="0">
                <a:solidFill>
                  <a:srgbClr val="FFFFFF"/>
                </a:solidFill>
                <a:latin typeface="맑은 고딕"/>
                <a:ea typeface="맑은 고딕"/>
                <a:cs typeface="맑은 고딕"/>
              </a:rPr>
              <a:t> </a:t>
            </a:r>
            <a:r>
              <a:rPr sz="2100" b="1" dirty="0" err="1">
                <a:solidFill>
                  <a:srgbClr val="FFFFFF"/>
                </a:solidFill>
                <a:latin typeface="맑은 고딕"/>
                <a:ea typeface="맑은 고딕"/>
                <a:cs typeface="맑은 고딕"/>
              </a:rPr>
              <a:t>답하게</a:t>
            </a:r>
            <a:r>
              <a:rPr sz="2100" b="1" dirty="0">
                <a:solidFill>
                  <a:srgbClr val="FFFFFF"/>
                </a:solidFill>
                <a:latin typeface="맑은 고딕"/>
                <a:ea typeface="맑은 고딕"/>
                <a:cs typeface="맑은 고딕"/>
              </a:rPr>
              <a:t> </a:t>
            </a:r>
            <a:r>
              <a:rPr sz="2100" b="1" dirty="0" err="1">
                <a:solidFill>
                  <a:srgbClr val="FFFFFF"/>
                </a:solidFill>
                <a:latin typeface="맑은 고딕"/>
                <a:ea typeface="맑은 고딕"/>
                <a:cs typeface="맑은 고딕"/>
              </a:rPr>
              <a:t>한다</a:t>
            </a:r>
            <a:endParaRPr sz="2100" b="1" dirty="0">
              <a:solidFill>
                <a:srgbClr val="FFFFFF"/>
              </a:solidFill>
              <a:latin typeface="맑은 고딕"/>
              <a:ea typeface="맑은 고딕"/>
              <a:cs typeface="맑은 고딕"/>
            </a:endParaRPr>
          </a:p>
          <a:p>
            <a:pPr algn="l">
              <a:lnSpc>
                <a:spcPct val="104000"/>
              </a:lnSpc>
              <a:spcBef>
                <a:spcPts val="900"/>
              </a:spcBef>
            </a:pPr>
            <a:r>
              <a:rPr sz="1450" b="0" dirty="0">
                <a:solidFill>
                  <a:srgbClr val="DBEAFE"/>
                </a:solidFill>
                <a:latin typeface="맑은 고딕"/>
                <a:ea typeface="맑은 고딕"/>
                <a:cs typeface="맑은 고딕"/>
              </a:rPr>
              <a:t>1   </a:t>
            </a:r>
            <a:r>
              <a:rPr sz="1450" b="0" dirty="0" err="1">
                <a:solidFill>
                  <a:srgbClr val="DBEAFE"/>
                </a:solidFill>
                <a:latin typeface="맑은 고딕"/>
                <a:ea typeface="맑은 고딕"/>
                <a:cs typeface="맑은 고딕"/>
              </a:rPr>
              <a:t>자소서</a:t>
            </a:r>
            <a:r>
              <a:rPr sz="1450" b="0" dirty="0">
                <a:solidFill>
                  <a:srgbClr val="DBEAFE"/>
                </a:solidFill>
                <a:latin typeface="맑은 고딕"/>
                <a:ea typeface="맑은 고딕"/>
                <a:cs typeface="맑은 고딕"/>
              </a:rPr>
              <a:t> </a:t>
            </a:r>
            <a:r>
              <a:rPr sz="1450" b="0" dirty="0" err="1">
                <a:solidFill>
                  <a:srgbClr val="DBEAFE"/>
                </a:solidFill>
                <a:latin typeface="맑은 고딕"/>
                <a:ea typeface="맑은 고딕"/>
                <a:cs typeface="맑은 고딕"/>
              </a:rPr>
              <a:t>텍스트</a:t>
            </a:r>
            <a:r>
              <a:rPr sz="1450" b="0" dirty="0">
                <a:solidFill>
                  <a:srgbClr val="DBEAFE"/>
                </a:solidFill>
                <a:latin typeface="맑은 고딕"/>
                <a:ea typeface="맑은 고딕"/>
                <a:cs typeface="맑은 고딕"/>
              </a:rPr>
              <a:t> </a:t>
            </a:r>
            <a:r>
              <a:rPr sz="1450" b="0" dirty="0" err="1">
                <a:solidFill>
                  <a:srgbClr val="DBEAFE"/>
                </a:solidFill>
                <a:latin typeface="맑은 고딕"/>
                <a:ea typeface="맑은 고딕"/>
                <a:cs typeface="맑은 고딕"/>
              </a:rPr>
              <a:t>입력</a:t>
            </a:r>
            <a:r>
              <a:rPr sz="1450" b="0" dirty="0">
                <a:solidFill>
                  <a:srgbClr val="DBEAFE"/>
                </a:solidFill>
                <a:latin typeface="맑은 고딕"/>
                <a:ea typeface="맑은 고딕"/>
                <a:cs typeface="맑은 고딕"/>
              </a:rPr>
              <a:t> (PDF·TXT·MD)</a:t>
            </a:r>
          </a:p>
          <a:p>
            <a:pPr algn="l">
              <a:lnSpc>
                <a:spcPct val="104000"/>
              </a:lnSpc>
              <a:spcBef>
                <a:spcPts val="900"/>
              </a:spcBef>
            </a:pPr>
            <a:r>
              <a:rPr sz="1450" b="0" dirty="0">
                <a:solidFill>
                  <a:srgbClr val="DBEAFE"/>
                </a:solidFill>
                <a:latin typeface="맑은 고딕"/>
                <a:ea typeface="맑은 고딕"/>
                <a:cs typeface="맑은 고딕"/>
              </a:rPr>
              <a:t>2   </a:t>
            </a:r>
            <a:r>
              <a:rPr sz="1450" b="0" dirty="0" err="1">
                <a:solidFill>
                  <a:srgbClr val="DBEAFE"/>
                </a:solidFill>
                <a:latin typeface="맑은 고딕"/>
                <a:ea typeface="맑은 고딕"/>
                <a:cs typeface="맑은 고딕"/>
              </a:rPr>
              <a:t>NLP로</a:t>
            </a:r>
            <a:r>
              <a:rPr sz="1450" b="0" dirty="0">
                <a:solidFill>
                  <a:srgbClr val="DBEAFE"/>
                </a:solidFill>
                <a:latin typeface="맑은 고딕"/>
                <a:ea typeface="맑은 고딕"/>
                <a:cs typeface="맑은 고딕"/>
              </a:rPr>
              <a:t> 16개 </a:t>
            </a:r>
            <a:r>
              <a:rPr sz="1450" b="0" dirty="0" err="1">
                <a:solidFill>
                  <a:srgbClr val="DBEAFE"/>
                </a:solidFill>
                <a:latin typeface="맑은 고딕"/>
                <a:ea typeface="맑은 고딕"/>
                <a:cs typeface="맑은 고딕"/>
              </a:rPr>
              <a:t>도메인</a:t>
            </a:r>
            <a:r>
              <a:rPr sz="1450" b="0" dirty="0">
                <a:solidFill>
                  <a:srgbClr val="DBEAFE"/>
                </a:solidFill>
                <a:latin typeface="맑은 고딕"/>
                <a:ea typeface="맑은 고딕"/>
                <a:cs typeface="맑은 고딕"/>
              </a:rPr>
              <a:t> 중 </a:t>
            </a:r>
            <a:r>
              <a:rPr sz="1450" b="0" dirty="0" err="1">
                <a:solidFill>
                  <a:srgbClr val="DBEAFE"/>
                </a:solidFill>
                <a:latin typeface="맑은 고딕"/>
                <a:ea typeface="맑은 고딕"/>
                <a:cs typeface="맑은 고딕"/>
              </a:rPr>
              <a:t>적합</a:t>
            </a:r>
            <a:r>
              <a:rPr sz="1450" b="0" dirty="0">
                <a:solidFill>
                  <a:srgbClr val="DBEAFE"/>
                </a:solidFill>
                <a:latin typeface="맑은 고딕"/>
                <a:ea typeface="맑은 고딕"/>
                <a:cs typeface="맑은 고딕"/>
              </a:rPr>
              <a:t> </a:t>
            </a:r>
            <a:r>
              <a:rPr sz="1450" b="0" dirty="0" err="1">
                <a:solidFill>
                  <a:srgbClr val="DBEAFE"/>
                </a:solidFill>
                <a:latin typeface="맑은 고딕"/>
                <a:ea typeface="맑은 고딕"/>
                <a:cs typeface="맑은 고딕"/>
              </a:rPr>
              <a:t>도메인</a:t>
            </a:r>
            <a:r>
              <a:rPr sz="1450" b="0" dirty="0">
                <a:solidFill>
                  <a:srgbClr val="DBEAFE"/>
                </a:solidFill>
                <a:latin typeface="맑은 고딕"/>
                <a:ea typeface="맑은 고딕"/>
                <a:cs typeface="맑은 고딕"/>
              </a:rPr>
              <a:t> </a:t>
            </a:r>
            <a:r>
              <a:rPr sz="1450" b="0" dirty="0" err="1">
                <a:solidFill>
                  <a:srgbClr val="DBEAFE"/>
                </a:solidFill>
                <a:latin typeface="맑은 고딕"/>
                <a:ea typeface="맑은 고딕"/>
                <a:cs typeface="맑은 고딕"/>
              </a:rPr>
              <a:t>판정</a:t>
            </a:r>
            <a:endParaRPr sz="1450" b="0" dirty="0">
              <a:solidFill>
                <a:srgbClr val="DBEAFE"/>
              </a:solidFill>
              <a:latin typeface="맑은 고딕"/>
              <a:ea typeface="맑은 고딕"/>
              <a:cs typeface="맑은 고딕"/>
            </a:endParaRPr>
          </a:p>
          <a:p>
            <a:pPr algn="l">
              <a:lnSpc>
                <a:spcPct val="104000"/>
              </a:lnSpc>
              <a:spcBef>
                <a:spcPts val="900"/>
              </a:spcBef>
            </a:pPr>
            <a:r>
              <a:rPr sz="1450" b="0" dirty="0">
                <a:solidFill>
                  <a:srgbClr val="DBEAFE"/>
                </a:solidFill>
                <a:latin typeface="맑은 고딕"/>
                <a:ea typeface="맑은 고딕"/>
                <a:cs typeface="맑은 고딕"/>
              </a:rPr>
              <a:t>3   </a:t>
            </a:r>
            <a:r>
              <a:rPr sz="1450" b="0" dirty="0" err="1">
                <a:solidFill>
                  <a:srgbClr val="DBEAFE"/>
                </a:solidFill>
                <a:latin typeface="맑은 고딕"/>
                <a:ea typeface="맑은 고딕"/>
                <a:cs typeface="맑은 고딕"/>
              </a:rPr>
              <a:t>판정</a:t>
            </a:r>
            <a:r>
              <a:rPr sz="1450" b="0" dirty="0">
                <a:solidFill>
                  <a:srgbClr val="DBEAFE"/>
                </a:solidFill>
                <a:latin typeface="맑은 고딕"/>
                <a:ea typeface="맑은 고딕"/>
                <a:cs typeface="맑은 고딕"/>
              </a:rPr>
              <a:t> </a:t>
            </a:r>
            <a:r>
              <a:rPr sz="1450" b="0" dirty="0" err="1">
                <a:solidFill>
                  <a:srgbClr val="DBEAFE"/>
                </a:solidFill>
                <a:latin typeface="맑은 고딕"/>
                <a:ea typeface="맑은 고딕"/>
                <a:cs typeface="맑은 고딕"/>
              </a:rPr>
              <a:t>근거와</a:t>
            </a:r>
            <a:r>
              <a:rPr sz="1450" b="0" dirty="0">
                <a:solidFill>
                  <a:srgbClr val="DBEAFE"/>
                </a:solidFill>
                <a:latin typeface="맑은 고딕"/>
                <a:ea typeface="맑은 고딕"/>
                <a:cs typeface="맑은 고딕"/>
              </a:rPr>
              <a:t> </a:t>
            </a:r>
            <a:r>
              <a:rPr sz="1450" b="0" dirty="0" err="1">
                <a:solidFill>
                  <a:srgbClr val="DBEAFE"/>
                </a:solidFill>
                <a:latin typeface="맑은 고딕"/>
                <a:ea typeface="맑은 고딕"/>
                <a:cs typeface="맑은 고딕"/>
              </a:rPr>
              <a:t>함께</a:t>
            </a:r>
            <a:r>
              <a:rPr sz="1450" b="0" dirty="0">
                <a:solidFill>
                  <a:srgbClr val="DBEAFE"/>
                </a:solidFill>
                <a:latin typeface="맑은 고딕"/>
                <a:ea typeface="맑은 고딕"/>
                <a:cs typeface="맑은 고딕"/>
              </a:rPr>
              <a:t> </a:t>
            </a:r>
            <a:r>
              <a:rPr sz="1450" b="0" dirty="0" err="1">
                <a:solidFill>
                  <a:srgbClr val="DBEAFE"/>
                </a:solidFill>
                <a:latin typeface="맑은 고딕"/>
                <a:ea typeface="맑은 고딕"/>
                <a:cs typeface="맑은 고딕"/>
              </a:rPr>
              <a:t>직무·연구실</a:t>
            </a:r>
            <a:r>
              <a:rPr sz="1450" b="0" dirty="0">
                <a:solidFill>
                  <a:srgbClr val="DBEAFE"/>
                </a:solidFill>
                <a:latin typeface="맑은 고딕"/>
                <a:ea typeface="맑은 고딕"/>
                <a:cs typeface="맑은 고딕"/>
              </a:rPr>
              <a:t> </a:t>
            </a:r>
            <a:r>
              <a:rPr sz="1450" b="0" dirty="0" err="1">
                <a:solidFill>
                  <a:srgbClr val="DBEAFE"/>
                </a:solidFill>
                <a:latin typeface="맑은 고딕"/>
                <a:ea typeface="맑은 고딕"/>
                <a:cs typeface="맑은 고딕"/>
              </a:rPr>
              <a:t>추천</a:t>
            </a:r>
            <a:endParaRPr sz="1450" b="0" dirty="0">
              <a:solidFill>
                <a:srgbClr val="DBEAFE"/>
              </a:solidFill>
              <a:latin typeface="맑은 고딕"/>
              <a:ea typeface="맑은 고딕"/>
              <a:cs typeface="맑은 고딕"/>
            </a:endParaRPr>
          </a:p>
        </p:txBody>
      </p:sp>
      <p:sp>
        <p:nvSpPr>
          <p:cNvPr id="10" name="Rectangle 9"/>
          <p:cNvSpPr/>
          <p:nvPr/>
        </p:nvSpPr>
        <p:spPr>
          <a:xfrm>
            <a:off x="594360" y="4892040"/>
            <a:ext cx="1100297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5138928"/>
            <a:ext cx="11002975" cy="543418"/>
          </a:xfrm>
          <a:prstGeom prst="rect">
            <a:avLst/>
          </a:prstGeom>
          <a:noFill/>
        </p:spPr>
        <p:txBody>
          <a:bodyPr wrap="square" lIns="0" tIns="0" rIns="0" bIns="0" anchor="t">
            <a:spAutoFit/>
          </a:bodyPr>
          <a:lstStyle/>
          <a:p>
            <a:pPr algn="l">
              <a:lnSpc>
                <a:spcPct val="104000"/>
              </a:lnSpc>
            </a:pPr>
            <a:r>
              <a:rPr sz="1700" b="0" dirty="0" err="1">
                <a:solidFill>
                  <a:srgbClr val="475569"/>
                </a:solidFill>
                <a:latin typeface="맑은 고딕"/>
                <a:ea typeface="맑은 고딕"/>
                <a:cs typeface="맑은 고딕"/>
              </a:rPr>
              <a:t>목표는</a:t>
            </a:r>
            <a:r>
              <a:rPr sz="1700" b="0" dirty="0">
                <a:solidFill>
                  <a:srgbClr val="475569"/>
                </a:solidFill>
                <a:latin typeface="맑은 고딕"/>
                <a:ea typeface="맑은 고딕"/>
                <a:cs typeface="맑은 고딕"/>
              </a:rPr>
              <a:t> </a:t>
            </a:r>
            <a:r>
              <a:rPr sz="1700" b="0" dirty="0" err="1">
                <a:solidFill>
                  <a:srgbClr val="475569"/>
                </a:solidFill>
                <a:latin typeface="맑은 고딕"/>
                <a:ea typeface="맑은 고딕"/>
                <a:cs typeface="맑은 고딕"/>
              </a:rPr>
              <a:t>점수만</a:t>
            </a:r>
            <a:r>
              <a:rPr sz="1700" b="0" dirty="0">
                <a:solidFill>
                  <a:srgbClr val="475569"/>
                </a:solidFill>
                <a:latin typeface="맑은 고딕"/>
                <a:ea typeface="맑은 고딕"/>
                <a:cs typeface="맑은 고딕"/>
              </a:rPr>
              <a:t> </a:t>
            </a:r>
            <a:r>
              <a:rPr sz="1700" b="0" dirty="0" err="1">
                <a:solidFill>
                  <a:srgbClr val="475569"/>
                </a:solidFill>
                <a:latin typeface="맑은 고딕"/>
                <a:ea typeface="맑은 고딕"/>
                <a:cs typeface="맑은 고딕"/>
              </a:rPr>
              <a:t>주는</a:t>
            </a:r>
            <a:r>
              <a:rPr sz="1700" b="0" dirty="0">
                <a:solidFill>
                  <a:srgbClr val="475569"/>
                </a:solidFill>
                <a:latin typeface="맑은 고딕"/>
                <a:ea typeface="맑은 고딕"/>
                <a:cs typeface="맑은 고딕"/>
              </a:rPr>
              <a:t> </a:t>
            </a:r>
            <a:r>
              <a:rPr sz="1700" b="0" dirty="0" err="1">
                <a:solidFill>
                  <a:srgbClr val="475569"/>
                </a:solidFill>
                <a:latin typeface="맑은 고딕"/>
                <a:ea typeface="맑은 고딕"/>
                <a:cs typeface="맑은 고딕"/>
              </a:rPr>
              <a:t>블랙박스가</a:t>
            </a:r>
            <a:r>
              <a:rPr sz="1700" b="0" dirty="0">
                <a:solidFill>
                  <a:srgbClr val="475569"/>
                </a:solidFill>
                <a:latin typeface="맑은 고딕"/>
                <a:ea typeface="맑은 고딕"/>
                <a:cs typeface="맑은 고딕"/>
              </a:rPr>
              <a:t> </a:t>
            </a:r>
            <a:r>
              <a:rPr sz="1700" b="0" dirty="0" err="1">
                <a:solidFill>
                  <a:srgbClr val="475569"/>
                </a:solidFill>
                <a:latin typeface="맑은 고딕"/>
                <a:ea typeface="맑은 고딕"/>
                <a:cs typeface="맑은 고딕"/>
              </a:rPr>
              <a:t>아니라</a:t>
            </a:r>
            <a:r>
              <a:rPr sz="1700" b="0" dirty="0">
                <a:solidFill>
                  <a:srgbClr val="475569"/>
                </a:solidFill>
                <a:latin typeface="맑은 고딕"/>
                <a:ea typeface="맑은 고딕"/>
                <a:cs typeface="맑은 고딕"/>
              </a:rPr>
              <a:t> </a:t>
            </a:r>
            <a:r>
              <a:rPr sz="1700" b="1" dirty="0" err="1">
                <a:solidFill>
                  <a:srgbClr val="B45309"/>
                </a:solidFill>
                <a:latin typeface="맑은 고딕"/>
                <a:ea typeface="맑은 고딕"/>
                <a:cs typeface="맑은 고딕"/>
              </a:rPr>
              <a:t>근거를</a:t>
            </a:r>
            <a:r>
              <a:rPr sz="1700" b="1" dirty="0">
                <a:solidFill>
                  <a:srgbClr val="B45309"/>
                </a:solidFill>
                <a:latin typeface="맑은 고딕"/>
                <a:ea typeface="맑은 고딕"/>
                <a:cs typeface="맑은 고딕"/>
              </a:rPr>
              <a:t> </a:t>
            </a:r>
            <a:r>
              <a:rPr sz="1700" b="1" dirty="0" err="1">
                <a:solidFill>
                  <a:srgbClr val="B45309"/>
                </a:solidFill>
                <a:latin typeface="맑은 고딕"/>
                <a:ea typeface="맑은 고딕"/>
                <a:cs typeface="맑은 고딕"/>
              </a:rPr>
              <a:t>함께</a:t>
            </a:r>
            <a:r>
              <a:rPr sz="1700" b="1" dirty="0">
                <a:solidFill>
                  <a:srgbClr val="B45309"/>
                </a:solidFill>
                <a:latin typeface="맑은 고딕"/>
                <a:ea typeface="맑은 고딕"/>
                <a:cs typeface="맑은 고딕"/>
              </a:rPr>
              <a:t> </a:t>
            </a:r>
            <a:r>
              <a:rPr sz="1700" b="1" dirty="0" err="1">
                <a:solidFill>
                  <a:srgbClr val="B45309"/>
                </a:solidFill>
                <a:latin typeface="맑은 고딕"/>
                <a:ea typeface="맑은 고딕"/>
                <a:cs typeface="맑은 고딕"/>
              </a:rPr>
              <a:t>보여주는</a:t>
            </a:r>
            <a:r>
              <a:rPr sz="1700" b="1" dirty="0">
                <a:solidFill>
                  <a:srgbClr val="B45309"/>
                </a:solidFill>
                <a:latin typeface="맑은 고딕"/>
                <a:ea typeface="맑은 고딕"/>
                <a:cs typeface="맑은 고딕"/>
              </a:rPr>
              <a:t> </a:t>
            </a:r>
            <a:r>
              <a:rPr sz="1700" b="1" dirty="0" err="1">
                <a:solidFill>
                  <a:srgbClr val="B45309"/>
                </a:solidFill>
                <a:latin typeface="맑은 고딕"/>
                <a:ea typeface="맑은 고딕"/>
                <a:cs typeface="맑은 고딕"/>
              </a:rPr>
              <a:t>설명</a:t>
            </a:r>
            <a:r>
              <a:rPr sz="1700" b="1" dirty="0">
                <a:solidFill>
                  <a:srgbClr val="B45309"/>
                </a:solidFill>
                <a:latin typeface="맑은 고딕"/>
                <a:ea typeface="맑은 고딕"/>
                <a:cs typeface="맑은 고딕"/>
              </a:rPr>
              <a:t> </a:t>
            </a:r>
            <a:r>
              <a:rPr sz="1700" b="1" dirty="0" err="1">
                <a:solidFill>
                  <a:srgbClr val="B45309"/>
                </a:solidFill>
                <a:latin typeface="맑은 고딕"/>
                <a:ea typeface="맑은 고딕"/>
                <a:cs typeface="맑은 고딕"/>
              </a:rPr>
              <a:t>가능한</a:t>
            </a:r>
            <a:r>
              <a:rPr sz="1700" b="1" dirty="0">
                <a:solidFill>
                  <a:srgbClr val="B45309"/>
                </a:solidFill>
                <a:latin typeface="맑은 고딕"/>
                <a:ea typeface="맑은 고딕"/>
                <a:cs typeface="맑은 고딕"/>
              </a:rPr>
              <a:t> </a:t>
            </a:r>
            <a:r>
              <a:rPr sz="1700" b="1" dirty="0" err="1">
                <a:solidFill>
                  <a:srgbClr val="B45309"/>
                </a:solidFill>
                <a:latin typeface="맑은 고딕"/>
                <a:ea typeface="맑은 고딕"/>
                <a:cs typeface="맑은 고딕"/>
              </a:rPr>
              <a:t>추천</a:t>
            </a:r>
            <a:r>
              <a:rPr sz="1700" b="0" dirty="0" err="1">
                <a:solidFill>
                  <a:srgbClr val="475569"/>
                </a:solidFill>
                <a:latin typeface="맑은 고딕"/>
                <a:ea typeface="맑은 고딕"/>
                <a:cs typeface="맑은 고딕"/>
              </a:rPr>
              <a:t>입니다</a:t>
            </a:r>
            <a:r>
              <a:rPr lang="en-US" sz="1700" b="0" dirty="0">
                <a:solidFill>
                  <a:srgbClr val="475569"/>
                </a:solidFill>
                <a:latin typeface="맑은 고딕"/>
                <a:ea typeface="맑은 고딕"/>
                <a:cs typeface="맑은 고딕"/>
              </a:rPr>
              <a:t>.</a:t>
            </a:r>
            <a:endParaRPr sz="1700" b="0" dirty="0">
              <a:solidFill>
                <a:srgbClr val="475569"/>
              </a:solidFill>
              <a:latin typeface="맑은 고딕"/>
              <a:ea typeface="맑은 고딕"/>
              <a:cs typeface="맑은 고딕"/>
            </a:endParaRPr>
          </a:p>
          <a:p>
            <a:pPr algn="l">
              <a:lnSpc>
                <a:spcPct val="104000"/>
              </a:lnSpc>
              <a:spcBef>
                <a:spcPts val="500"/>
              </a:spcBef>
            </a:pPr>
            <a:r>
              <a:rPr sz="1400" b="0" dirty="0" err="1">
                <a:solidFill>
                  <a:srgbClr val="94A3B8"/>
                </a:solidFill>
                <a:latin typeface="맑은 고딕"/>
                <a:ea typeface="맑은 고딕"/>
                <a:cs typeface="맑은 고딕"/>
              </a:rPr>
              <a:t>어떤</a:t>
            </a:r>
            <a:r>
              <a:rPr sz="1400" b="0" dirty="0">
                <a:solidFill>
                  <a:srgbClr val="94A3B8"/>
                </a:solidFill>
                <a:latin typeface="맑은 고딕"/>
                <a:ea typeface="맑은 고딕"/>
                <a:cs typeface="맑은 고딕"/>
              </a:rPr>
              <a:t> </a:t>
            </a:r>
            <a:r>
              <a:rPr sz="1400" b="0" dirty="0" err="1">
                <a:solidFill>
                  <a:srgbClr val="94A3B8"/>
                </a:solidFill>
                <a:latin typeface="맑은 고딕"/>
                <a:ea typeface="맑은 고딕"/>
                <a:cs typeface="맑은 고딕"/>
              </a:rPr>
              <a:t>키워드가</a:t>
            </a:r>
            <a:r>
              <a:rPr sz="1400" b="0" dirty="0">
                <a:solidFill>
                  <a:srgbClr val="94A3B8"/>
                </a:solidFill>
                <a:latin typeface="맑은 고딕"/>
                <a:ea typeface="맑은 고딕"/>
                <a:cs typeface="맑은 고딕"/>
              </a:rPr>
              <a:t>, </a:t>
            </a:r>
            <a:r>
              <a:rPr sz="1400" b="0" dirty="0" err="1">
                <a:solidFill>
                  <a:srgbClr val="94A3B8"/>
                </a:solidFill>
                <a:latin typeface="맑은 고딕"/>
                <a:ea typeface="맑은 고딕"/>
                <a:cs typeface="맑은 고딕"/>
              </a:rPr>
              <a:t>어떤</a:t>
            </a:r>
            <a:r>
              <a:rPr sz="1400" b="0" dirty="0">
                <a:solidFill>
                  <a:srgbClr val="94A3B8"/>
                </a:solidFill>
                <a:latin typeface="맑은 고딕"/>
                <a:ea typeface="맑은 고딕"/>
                <a:cs typeface="맑은 고딕"/>
              </a:rPr>
              <a:t> </a:t>
            </a:r>
            <a:r>
              <a:rPr sz="1400" b="0" dirty="0" err="1">
                <a:solidFill>
                  <a:srgbClr val="94A3B8"/>
                </a:solidFill>
                <a:latin typeface="맑은 고딕"/>
                <a:ea typeface="맑은 고딕"/>
                <a:cs typeface="맑은 고딕"/>
              </a:rPr>
              <a:t>유사도가</a:t>
            </a:r>
            <a:r>
              <a:rPr sz="1400" b="0" dirty="0">
                <a:solidFill>
                  <a:srgbClr val="94A3B8"/>
                </a:solidFill>
                <a:latin typeface="맑은 고딕"/>
                <a:ea typeface="맑은 고딕"/>
                <a:cs typeface="맑은 고딕"/>
              </a:rPr>
              <a:t> </a:t>
            </a:r>
            <a:r>
              <a:rPr sz="1400" b="0" dirty="0" err="1">
                <a:solidFill>
                  <a:srgbClr val="94A3B8"/>
                </a:solidFill>
                <a:latin typeface="맑은 고딕"/>
                <a:ea typeface="맑은 고딕"/>
                <a:cs typeface="맑은 고딕"/>
              </a:rPr>
              <a:t>판정을</a:t>
            </a:r>
            <a:r>
              <a:rPr sz="1400" b="0" dirty="0">
                <a:solidFill>
                  <a:srgbClr val="94A3B8"/>
                </a:solidFill>
                <a:latin typeface="맑은 고딕"/>
                <a:ea typeface="맑은 고딕"/>
                <a:cs typeface="맑은 고딕"/>
              </a:rPr>
              <a:t> </a:t>
            </a:r>
            <a:r>
              <a:rPr sz="1400" b="0" dirty="0" err="1">
                <a:solidFill>
                  <a:srgbClr val="94A3B8"/>
                </a:solidFill>
                <a:latin typeface="맑은 고딕"/>
                <a:ea typeface="맑은 고딕"/>
                <a:cs typeface="맑은 고딕"/>
              </a:rPr>
              <a:t>만들었는지</a:t>
            </a:r>
            <a:r>
              <a:rPr sz="1400" b="0" dirty="0">
                <a:solidFill>
                  <a:srgbClr val="94A3B8"/>
                </a:solidFill>
                <a:latin typeface="맑은 고딕"/>
                <a:ea typeface="맑은 고딕"/>
                <a:cs typeface="맑은 고딕"/>
              </a:rPr>
              <a:t> Audit </a:t>
            </a:r>
            <a:r>
              <a:rPr sz="1400" b="0" dirty="0" err="1">
                <a:solidFill>
                  <a:srgbClr val="94A3B8"/>
                </a:solidFill>
                <a:latin typeface="맑은 고딕"/>
                <a:ea typeface="맑은 고딕"/>
                <a:cs typeface="맑은 고딕"/>
              </a:rPr>
              <a:t>Panel로</a:t>
            </a:r>
            <a:r>
              <a:rPr sz="1400" b="0" dirty="0">
                <a:solidFill>
                  <a:srgbClr val="94A3B8"/>
                </a:solidFill>
                <a:latin typeface="맑은 고딕"/>
                <a:ea typeface="맑은 고딕"/>
                <a:cs typeface="맑은 고딕"/>
              </a:rPr>
              <a:t> </a:t>
            </a:r>
            <a:r>
              <a:rPr sz="1400" b="0" dirty="0" err="1">
                <a:solidFill>
                  <a:srgbClr val="94A3B8"/>
                </a:solidFill>
                <a:latin typeface="맑은 고딕"/>
                <a:ea typeface="맑은 고딕"/>
                <a:cs typeface="맑은 고딕"/>
              </a:rPr>
              <a:t>공개</a:t>
            </a:r>
            <a:endParaRPr sz="1400" b="0" dirty="0">
              <a:solidFill>
                <a:srgbClr val="94A3B8"/>
              </a:solidFill>
              <a:latin typeface="맑은 고딕"/>
              <a:ea typeface="맑은 고딕"/>
              <a:cs typeface="맑은 고딕"/>
            </a:endParaRPr>
          </a:p>
        </p:txBody>
      </p:sp>
      <p:sp>
        <p:nvSpPr>
          <p:cNvPr id="12" name="TextBox 11"/>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13" name="TextBox 12"/>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02</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sz="3000" b="1" dirty="0">
                <a:solidFill>
                  <a:srgbClr val="0F172A"/>
                </a:solidFill>
                <a:latin typeface="맑은 고딕"/>
                <a:ea typeface="맑은 고딕"/>
                <a:cs typeface="맑은 고딕"/>
              </a:rPr>
              <a:t>General Purpose — 16개 </a:t>
            </a:r>
            <a:r>
              <a:rPr sz="3000" b="1" dirty="0" err="1">
                <a:solidFill>
                  <a:srgbClr val="0F172A"/>
                </a:solidFill>
                <a:latin typeface="맑은 고딕"/>
                <a:ea typeface="맑은 고딕"/>
                <a:cs typeface="맑은 고딕"/>
              </a:rPr>
              <a:t>직무</a:t>
            </a:r>
            <a:r>
              <a:rPr sz="3000" b="1" dirty="0">
                <a:solidFill>
                  <a:srgbClr val="0F172A"/>
                </a:solidFill>
                <a:latin typeface="맑은 고딕"/>
                <a:ea typeface="맑은 고딕"/>
                <a:cs typeface="맑은 고딕"/>
              </a:rPr>
              <a:t> </a:t>
            </a:r>
            <a:r>
              <a:rPr sz="3000" b="1" dirty="0" err="1">
                <a:solidFill>
                  <a:srgbClr val="0F172A"/>
                </a:solidFill>
                <a:latin typeface="맑은 고딕"/>
                <a:ea typeface="맑은 고딕"/>
                <a:cs typeface="맑은 고딕"/>
              </a:rPr>
              <a:t>도메인</a:t>
            </a:r>
            <a:endParaRPr sz="3000" b="1" dirty="0">
              <a:solidFill>
                <a:srgbClr val="0F172A"/>
              </a:solidFill>
              <a:latin typeface="맑은 고딕"/>
              <a:ea typeface="맑은 고딕"/>
              <a:cs typeface="맑은 고딕"/>
            </a:endParaRP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664208"/>
            <a:ext cx="11002975" cy="365760"/>
          </a:xfrm>
          <a:prstGeom prst="rect">
            <a:avLst/>
          </a:prstGeom>
          <a:noFill/>
        </p:spPr>
        <p:txBody>
          <a:bodyPr wrap="square" lIns="0" tIns="0" rIns="0" bIns="0" anchor="t">
            <a:spAutoFit/>
          </a:bodyPr>
          <a:lstStyle/>
          <a:p>
            <a:pPr algn="l">
              <a:lnSpc>
                <a:spcPct val="104000"/>
              </a:lnSpc>
            </a:pPr>
            <a:r>
              <a:rPr sz="1450" b="0">
                <a:solidFill>
                  <a:srgbClr val="475569"/>
                </a:solidFill>
                <a:latin typeface="맑은 고딕"/>
                <a:ea typeface="맑은 고딕"/>
                <a:cs typeface="맑은 고딕"/>
              </a:rPr>
              <a:t>특정 개인·직군에 묶이지 않고 입력 텍스트 특성으로 판단  ·  활용: 취업 준비 / 자소서 점검 / 연구실 탐색 / 직무 전환</a:t>
            </a:r>
          </a:p>
        </p:txBody>
      </p:sp>
      <p:sp>
        <p:nvSpPr>
          <p:cNvPr id="6" name="Rounded Rectangle 5"/>
          <p:cNvSpPr/>
          <p:nvPr/>
        </p:nvSpPr>
        <p:spPr>
          <a:xfrm>
            <a:off x="594360" y="22128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공학</a:t>
            </a:r>
          </a:p>
        </p:txBody>
      </p:sp>
      <p:sp>
        <p:nvSpPr>
          <p:cNvPr id="7" name="Rounded Rectangle 6"/>
          <p:cNvSpPr/>
          <p:nvPr/>
        </p:nvSpPr>
        <p:spPr>
          <a:xfrm>
            <a:off x="3377107" y="22128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데이터</a:t>
            </a:r>
          </a:p>
        </p:txBody>
      </p:sp>
      <p:sp>
        <p:nvSpPr>
          <p:cNvPr id="8" name="Rounded Rectangle 7"/>
          <p:cNvSpPr/>
          <p:nvPr/>
        </p:nvSpPr>
        <p:spPr>
          <a:xfrm>
            <a:off x="6159855" y="22128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기획</a:t>
            </a:r>
          </a:p>
        </p:txBody>
      </p:sp>
      <p:sp>
        <p:nvSpPr>
          <p:cNvPr id="9" name="Rounded Rectangle 8"/>
          <p:cNvSpPr/>
          <p:nvPr/>
        </p:nvSpPr>
        <p:spPr>
          <a:xfrm>
            <a:off x="8942603" y="22128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연구</a:t>
            </a:r>
          </a:p>
        </p:txBody>
      </p:sp>
      <p:sp>
        <p:nvSpPr>
          <p:cNvPr id="10" name="Rounded Rectangle 9"/>
          <p:cNvSpPr/>
          <p:nvPr/>
        </p:nvSpPr>
        <p:spPr>
          <a:xfrm>
            <a:off x="594360" y="31272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관리</a:t>
            </a:r>
          </a:p>
        </p:txBody>
      </p:sp>
      <p:sp>
        <p:nvSpPr>
          <p:cNvPr id="11" name="Rounded Rectangle 10"/>
          <p:cNvSpPr/>
          <p:nvPr/>
        </p:nvSpPr>
        <p:spPr>
          <a:xfrm>
            <a:off x="3377107" y="31272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행정</a:t>
            </a:r>
          </a:p>
        </p:txBody>
      </p:sp>
      <p:sp>
        <p:nvSpPr>
          <p:cNvPr id="12" name="Rounded Rectangle 11"/>
          <p:cNvSpPr/>
          <p:nvPr/>
        </p:nvSpPr>
        <p:spPr>
          <a:xfrm>
            <a:off x="6159855" y="31272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경제·금융</a:t>
            </a:r>
          </a:p>
        </p:txBody>
      </p:sp>
      <p:sp>
        <p:nvSpPr>
          <p:cNvPr id="13" name="Rounded Rectangle 12"/>
          <p:cNvSpPr/>
          <p:nvPr/>
        </p:nvSpPr>
        <p:spPr>
          <a:xfrm>
            <a:off x="8942603" y="31272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경영</a:t>
            </a:r>
          </a:p>
        </p:txBody>
      </p:sp>
      <p:sp>
        <p:nvSpPr>
          <p:cNvPr id="14" name="Rounded Rectangle 13"/>
          <p:cNvSpPr/>
          <p:nvPr/>
        </p:nvSpPr>
        <p:spPr>
          <a:xfrm>
            <a:off x="594360" y="40416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간호·보건</a:t>
            </a:r>
          </a:p>
        </p:txBody>
      </p:sp>
      <p:sp>
        <p:nvSpPr>
          <p:cNvPr id="15" name="Rounded Rectangle 14"/>
          <p:cNvSpPr/>
          <p:nvPr/>
        </p:nvSpPr>
        <p:spPr>
          <a:xfrm>
            <a:off x="3377107" y="40416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자연과학</a:t>
            </a:r>
          </a:p>
        </p:txBody>
      </p:sp>
      <p:sp>
        <p:nvSpPr>
          <p:cNvPr id="16" name="Rounded Rectangle 15"/>
          <p:cNvSpPr/>
          <p:nvPr/>
        </p:nvSpPr>
        <p:spPr>
          <a:xfrm>
            <a:off x="6159855" y="40416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인문사회</a:t>
            </a:r>
          </a:p>
        </p:txBody>
      </p:sp>
      <p:sp>
        <p:nvSpPr>
          <p:cNvPr id="17" name="Rounded Rectangle 16"/>
          <p:cNvSpPr/>
          <p:nvPr/>
        </p:nvSpPr>
        <p:spPr>
          <a:xfrm>
            <a:off x="8942603" y="40416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예술·디자인</a:t>
            </a:r>
          </a:p>
        </p:txBody>
      </p:sp>
      <p:sp>
        <p:nvSpPr>
          <p:cNvPr id="18" name="Rounded Rectangle 17"/>
          <p:cNvSpPr/>
          <p:nvPr/>
        </p:nvSpPr>
        <p:spPr>
          <a:xfrm>
            <a:off x="594360" y="49560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제조·생산</a:t>
            </a:r>
          </a:p>
        </p:txBody>
      </p:sp>
      <p:sp>
        <p:nvSpPr>
          <p:cNvPr id="19" name="Rounded Rectangle 18"/>
          <p:cNvSpPr/>
          <p:nvPr/>
        </p:nvSpPr>
        <p:spPr>
          <a:xfrm>
            <a:off x="3377107" y="49560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에너지·발전</a:t>
            </a:r>
          </a:p>
        </p:txBody>
      </p:sp>
      <p:sp>
        <p:nvSpPr>
          <p:cNvPr id="20" name="Rounded Rectangle 19"/>
          <p:cNvSpPr/>
          <p:nvPr/>
        </p:nvSpPr>
        <p:spPr>
          <a:xfrm>
            <a:off x="6159855" y="49560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항공·우주</a:t>
            </a:r>
          </a:p>
        </p:txBody>
      </p:sp>
      <p:sp>
        <p:nvSpPr>
          <p:cNvPr id="21" name="Rounded Rectangle 20"/>
          <p:cNvSpPr/>
          <p:nvPr/>
        </p:nvSpPr>
        <p:spPr>
          <a:xfrm>
            <a:off x="8942603" y="4956048"/>
            <a:ext cx="2654731" cy="786384"/>
          </a:xfrm>
          <a:prstGeom prst="roundRect">
            <a:avLst>
              <a:gd name="adj" fmla="val 7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0F172A"/>
                </a:solidFill>
                <a:latin typeface="맑은 고딕"/>
                <a:ea typeface="맑은 고딕"/>
                <a:cs typeface="맑은 고딕"/>
              </a:rPr>
              <a:t>미디어·콘텐츠</a:t>
            </a:r>
          </a:p>
        </p:txBody>
      </p:sp>
      <p:sp>
        <p:nvSpPr>
          <p:cNvPr id="23" name="TextBox 22"/>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24" name="TextBox 23"/>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03</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lang="en-US" sz="3000" b="1" dirty="0">
                <a:solidFill>
                  <a:srgbClr val="0F172A"/>
                </a:solidFill>
                <a:latin typeface="맑은 고딕"/>
                <a:ea typeface="맑은 고딕"/>
                <a:cs typeface="맑은 고딕"/>
              </a:rPr>
              <a:t>Pipeline</a:t>
            </a:r>
            <a:endParaRPr sz="3000" b="1" dirty="0">
              <a:solidFill>
                <a:srgbClr val="0F172A"/>
              </a:solidFill>
              <a:latin typeface="맑은 고딕"/>
              <a:ea typeface="맑은 고딕"/>
              <a:cs typeface="맑은 고딕"/>
            </a:endParaRP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9516" y="1865376"/>
            <a:ext cx="1051560" cy="512064"/>
          </a:xfrm>
          <a:prstGeom prst="roundRect">
            <a:avLst>
              <a:gd name="adj" fmla="val 7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300" b="1">
                <a:solidFill>
                  <a:srgbClr val="1E3A8A"/>
                </a:solidFill>
                <a:latin typeface="맑은 고딕"/>
                <a:ea typeface="맑은 고딕"/>
                <a:cs typeface="맑은 고딕"/>
              </a:rPr>
              <a:t>입력</a:t>
            </a:r>
          </a:p>
        </p:txBody>
      </p:sp>
      <p:sp>
        <p:nvSpPr>
          <p:cNvPr id="6" name="Rounded Rectangle 5"/>
          <p:cNvSpPr/>
          <p:nvPr/>
        </p:nvSpPr>
        <p:spPr>
          <a:xfrm>
            <a:off x="2062244" y="1783080"/>
            <a:ext cx="6675120" cy="676656"/>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0">
                <a:solidFill>
                  <a:srgbClr val="0F172A"/>
                </a:solidFill>
                <a:latin typeface="맑은 고딕"/>
                <a:ea typeface="맑은 고딕"/>
                <a:cs typeface="맑은 고딕"/>
              </a:rPr>
              <a:t>PDF / TXT / MD 업로드</a:t>
            </a:r>
          </a:p>
        </p:txBody>
      </p:sp>
      <p:sp>
        <p:nvSpPr>
          <p:cNvPr id="7" name="TextBox 6"/>
          <p:cNvSpPr txBox="1"/>
          <p:nvPr/>
        </p:nvSpPr>
        <p:spPr>
          <a:xfrm>
            <a:off x="8938532" y="1783080"/>
            <a:ext cx="2834640" cy="676656"/>
          </a:xfrm>
          <a:prstGeom prst="rect">
            <a:avLst/>
          </a:prstGeom>
          <a:noFill/>
        </p:spPr>
        <p:txBody>
          <a:bodyPr wrap="square" lIns="0" tIns="0" rIns="0" bIns="0" anchor="ctr">
            <a:spAutoFit/>
          </a:bodyPr>
          <a:lstStyle/>
          <a:p>
            <a:pPr algn="l">
              <a:lnSpc>
                <a:spcPct val="104000"/>
              </a:lnSpc>
            </a:pPr>
            <a:r>
              <a:rPr sz="1250" b="0">
                <a:solidFill>
                  <a:srgbClr val="94A3B8"/>
                </a:solidFill>
                <a:latin typeface="맑은 고딕"/>
                <a:ea typeface="맑은 고딕"/>
                <a:cs typeface="맑은 고딕"/>
              </a:rPr>
              <a:t>pdf.js 텍스트 추출</a:t>
            </a:r>
          </a:p>
        </p:txBody>
      </p:sp>
      <p:sp>
        <p:nvSpPr>
          <p:cNvPr id="8" name="TextBox 7"/>
          <p:cNvSpPr txBox="1"/>
          <p:nvPr/>
        </p:nvSpPr>
        <p:spPr>
          <a:xfrm>
            <a:off x="2062244" y="2464308"/>
            <a:ext cx="6675120" cy="173736"/>
          </a:xfrm>
          <a:prstGeom prst="rect">
            <a:avLst/>
          </a:prstGeom>
          <a:noFill/>
        </p:spPr>
        <p:txBody>
          <a:bodyPr wrap="square" lIns="0" tIns="0" rIns="0" bIns="0" anchor="ctr">
            <a:spAutoFit/>
          </a:bodyPr>
          <a:lstStyle/>
          <a:p>
            <a:pPr algn="ctr">
              <a:lnSpc>
                <a:spcPct val="104000"/>
              </a:lnSpc>
            </a:pPr>
            <a:r>
              <a:rPr sz="1000" b="1">
                <a:solidFill>
                  <a:srgbClr val="94A3B8"/>
                </a:solidFill>
                <a:latin typeface="맑은 고딕"/>
                <a:ea typeface="맑은 고딕"/>
                <a:cs typeface="맑은 고딕"/>
              </a:rPr>
              <a:t>▼</a:t>
            </a:r>
          </a:p>
        </p:txBody>
      </p:sp>
      <p:sp>
        <p:nvSpPr>
          <p:cNvPr id="9" name="Rounded Rectangle 8"/>
          <p:cNvSpPr/>
          <p:nvPr/>
        </p:nvSpPr>
        <p:spPr>
          <a:xfrm>
            <a:off x="809516" y="2734056"/>
            <a:ext cx="1051560" cy="512064"/>
          </a:xfrm>
          <a:prstGeom prst="roundRect">
            <a:avLst>
              <a:gd name="adj" fmla="val 7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300" b="1">
                <a:solidFill>
                  <a:srgbClr val="1E3A8A"/>
                </a:solidFill>
                <a:latin typeface="맑은 고딕"/>
                <a:ea typeface="맑은 고딕"/>
                <a:cs typeface="맑은 고딕"/>
              </a:rPr>
              <a:t>전처리</a:t>
            </a:r>
          </a:p>
        </p:txBody>
      </p:sp>
      <p:sp>
        <p:nvSpPr>
          <p:cNvPr id="10" name="Rounded Rectangle 9"/>
          <p:cNvSpPr/>
          <p:nvPr/>
        </p:nvSpPr>
        <p:spPr>
          <a:xfrm>
            <a:off x="2062244" y="2651760"/>
            <a:ext cx="6675120" cy="676656"/>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0">
                <a:solidFill>
                  <a:srgbClr val="0F172A"/>
                </a:solidFill>
                <a:latin typeface="맑은 고딕"/>
                <a:ea typeface="맑은 고딕"/>
                <a:cs typeface="맑은 고딕"/>
              </a:rPr>
              <a:t>한국어 문장 분리 · 정규화 · 불용어 처리</a:t>
            </a:r>
          </a:p>
        </p:txBody>
      </p:sp>
      <p:sp>
        <p:nvSpPr>
          <p:cNvPr id="11" name="TextBox 10"/>
          <p:cNvSpPr txBox="1"/>
          <p:nvPr/>
        </p:nvSpPr>
        <p:spPr>
          <a:xfrm>
            <a:off x="8938532" y="2651760"/>
            <a:ext cx="2834640" cy="676656"/>
          </a:xfrm>
          <a:prstGeom prst="rect">
            <a:avLst/>
          </a:prstGeom>
          <a:noFill/>
        </p:spPr>
        <p:txBody>
          <a:bodyPr wrap="square" lIns="0" tIns="0" rIns="0" bIns="0" anchor="ctr">
            <a:spAutoFit/>
          </a:bodyPr>
          <a:lstStyle/>
          <a:p>
            <a:pPr algn="l">
              <a:lnSpc>
                <a:spcPct val="104000"/>
              </a:lnSpc>
            </a:pPr>
            <a:r>
              <a:rPr sz="1250" b="0">
                <a:solidFill>
                  <a:srgbClr val="94A3B8"/>
                </a:solidFill>
                <a:latin typeface="맑은 고딕"/>
                <a:ea typeface="맑은 고딕"/>
                <a:cs typeface="맑은 고딕"/>
              </a:rPr>
              <a:t>자체 문장 경계 규칙</a:t>
            </a:r>
          </a:p>
        </p:txBody>
      </p:sp>
      <p:sp>
        <p:nvSpPr>
          <p:cNvPr id="12" name="TextBox 11"/>
          <p:cNvSpPr txBox="1"/>
          <p:nvPr/>
        </p:nvSpPr>
        <p:spPr>
          <a:xfrm>
            <a:off x="2062244" y="3332987"/>
            <a:ext cx="6675120" cy="173736"/>
          </a:xfrm>
          <a:prstGeom prst="rect">
            <a:avLst/>
          </a:prstGeom>
          <a:noFill/>
        </p:spPr>
        <p:txBody>
          <a:bodyPr wrap="square" lIns="0" tIns="0" rIns="0" bIns="0" anchor="ctr">
            <a:spAutoFit/>
          </a:bodyPr>
          <a:lstStyle/>
          <a:p>
            <a:pPr algn="ctr">
              <a:lnSpc>
                <a:spcPct val="104000"/>
              </a:lnSpc>
            </a:pPr>
            <a:r>
              <a:rPr sz="1000" b="1">
                <a:solidFill>
                  <a:srgbClr val="94A3B8"/>
                </a:solidFill>
                <a:latin typeface="맑은 고딕"/>
                <a:ea typeface="맑은 고딕"/>
                <a:cs typeface="맑은 고딕"/>
              </a:rPr>
              <a:t>▼</a:t>
            </a:r>
          </a:p>
        </p:txBody>
      </p:sp>
      <p:sp>
        <p:nvSpPr>
          <p:cNvPr id="13" name="Rounded Rectangle 12"/>
          <p:cNvSpPr/>
          <p:nvPr/>
        </p:nvSpPr>
        <p:spPr>
          <a:xfrm>
            <a:off x="809516" y="3602735"/>
            <a:ext cx="1051560" cy="512064"/>
          </a:xfrm>
          <a:prstGeom prst="roundRect">
            <a:avLst>
              <a:gd name="adj" fmla="val 7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300" b="1">
                <a:solidFill>
                  <a:srgbClr val="1E3A8A"/>
                </a:solidFill>
                <a:latin typeface="맑은 고딕"/>
                <a:ea typeface="맑은 고딕"/>
                <a:cs typeface="맑은 고딕"/>
              </a:rPr>
              <a:t>분류</a:t>
            </a:r>
          </a:p>
        </p:txBody>
      </p:sp>
      <p:sp>
        <p:nvSpPr>
          <p:cNvPr id="14" name="Rounded Rectangle 13"/>
          <p:cNvSpPr/>
          <p:nvPr/>
        </p:nvSpPr>
        <p:spPr>
          <a:xfrm>
            <a:off x="2062244" y="3520439"/>
            <a:ext cx="6675120" cy="676656"/>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FFFFFF"/>
                </a:solidFill>
                <a:latin typeface="맑은 고딕"/>
                <a:ea typeface="맑은 고딕"/>
                <a:cs typeface="맑은 고딕"/>
              </a:rPr>
              <a:t>4개 분류기 — 키워드 · BoN · SBERT · 학습헤드</a:t>
            </a:r>
          </a:p>
        </p:txBody>
      </p:sp>
      <p:sp>
        <p:nvSpPr>
          <p:cNvPr id="15" name="TextBox 14"/>
          <p:cNvSpPr txBox="1"/>
          <p:nvPr/>
        </p:nvSpPr>
        <p:spPr>
          <a:xfrm>
            <a:off x="8938532" y="3520439"/>
            <a:ext cx="2834640" cy="676656"/>
          </a:xfrm>
          <a:prstGeom prst="rect">
            <a:avLst/>
          </a:prstGeom>
          <a:noFill/>
        </p:spPr>
        <p:txBody>
          <a:bodyPr wrap="square" lIns="0" tIns="0" rIns="0" bIns="0" anchor="ctr">
            <a:spAutoFit/>
          </a:bodyPr>
          <a:lstStyle/>
          <a:p>
            <a:pPr algn="l">
              <a:lnSpc>
                <a:spcPct val="104000"/>
              </a:lnSpc>
            </a:pPr>
            <a:r>
              <a:rPr sz="1250" b="0">
                <a:solidFill>
                  <a:srgbClr val="94A3B8"/>
                </a:solidFill>
                <a:latin typeface="맑은 고딕"/>
                <a:ea typeface="맑은 고딕"/>
                <a:cs typeface="맑은 고딕"/>
              </a:rPr>
              <a:t>브라우저 실시간 SBERT (Transformers.js, 384-d)</a:t>
            </a:r>
          </a:p>
        </p:txBody>
      </p:sp>
      <p:sp>
        <p:nvSpPr>
          <p:cNvPr id="16" name="TextBox 15"/>
          <p:cNvSpPr txBox="1"/>
          <p:nvPr/>
        </p:nvSpPr>
        <p:spPr>
          <a:xfrm>
            <a:off x="2062244" y="4201668"/>
            <a:ext cx="6675120" cy="173736"/>
          </a:xfrm>
          <a:prstGeom prst="rect">
            <a:avLst/>
          </a:prstGeom>
          <a:noFill/>
        </p:spPr>
        <p:txBody>
          <a:bodyPr wrap="square" lIns="0" tIns="0" rIns="0" bIns="0" anchor="ctr">
            <a:spAutoFit/>
          </a:bodyPr>
          <a:lstStyle/>
          <a:p>
            <a:pPr algn="ctr">
              <a:lnSpc>
                <a:spcPct val="104000"/>
              </a:lnSpc>
            </a:pPr>
            <a:r>
              <a:rPr sz="1000" b="1">
                <a:solidFill>
                  <a:srgbClr val="94A3B8"/>
                </a:solidFill>
                <a:latin typeface="맑은 고딕"/>
                <a:ea typeface="맑은 고딕"/>
                <a:cs typeface="맑은 고딕"/>
              </a:rPr>
              <a:t>▼</a:t>
            </a:r>
          </a:p>
        </p:txBody>
      </p:sp>
      <p:sp>
        <p:nvSpPr>
          <p:cNvPr id="17" name="Rounded Rectangle 16"/>
          <p:cNvSpPr/>
          <p:nvPr/>
        </p:nvSpPr>
        <p:spPr>
          <a:xfrm>
            <a:off x="809516" y="4471416"/>
            <a:ext cx="1051560" cy="512064"/>
          </a:xfrm>
          <a:prstGeom prst="roundRect">
            <a:avLst>
              <a:gd name="adj" fmla="val 7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300" b="1">
                <a:solidFill>
                  <a:srgbClr val="1E3A8A"/>
                </a:solidFill>
                <a:latin typeface="맑은 고딕"/>
                <a:ea typeface="맑은 고딕"/>
                <a:cs typeface="맑은 고딕"/>
              </a:rPr>
              <a:t>결합</a:t>
            </a:r>
          </a:p>
        </p:txBody>
      </p:sp>
      <p:sp>
        <p:nvSpPr>
          <p:cNvPr id="18" name="Rounded Rectangle 17"/>
          <p:cNvSpPr/>
          <p:nvPr/>
        </p:nvSpPr>
        <p:spPr>
          <a:xfrm>
            <a:off x="2062244" y="4389120"/>
            <a:ext cx="6675120" cy="676656"/>
          </a:xfrm>
          <a:prstGeom prst="roundRect">
            <a:avLst>
              <a:gd name="adj" fmla="val 7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1">
                <a:solidFill>
                  <a:srgbClr val="1E3A8A"/>
                </a:solidFill>
                <a:latin typeface="맑은 고딕"/>
                <a:ea typeface="맑은 고딕"/>
                <a:cs typeface="맑은 고딕"/>
              </a:rPr>
              <a:t>Hybrid 결합 = 키워드 0.45 + 의미 0.55</a:t>
            </a:r>
          </a:p>
        </p:txBody>
      </p:sp>
      <p:sp>
        <p:nvSpPr>
          <p:cNvPr id="19" name="TextBox 18"/>
          <p:cNvSpPr txBox="1"/>
          <p:nvPr/>
        </p:nvSpPr>
        <p:spPr>
          <a:xfrm>
            <a:off x="8938532" y="4389120"/>
            <a:ext cx="2834640" cy="676656"/>
          </a:xfrm>
          <a:prstGeom prst="rect">
            <a:avLst/>
          </a:prstGeom>
          <a:noFill/>
        </p:spPr>
        <p:txBody>
          <a:bodyPr wrap="square" lIns="0" tIns="0" rIns="0" bIns="0" anchor="ctr">
            <a:spAutoFit/>
          </a:bodyPr>
          <a:lstStyle/>
          <a:p>
            <a:pPr algn="l">
              <a:lnSpc>
                <a:spcPct val="104000"/>
              </a:lnSpc>
            </a:pPr>
            <a:r>
              <a:rPr sz="1250" b="0">
                <a:solidFill>
                  <a:srgbClr val="94A3B8"/>
                </a:solidFill>
                <a:latin typeface="맑은 고딕"/>
                <a:ea typeface="맑은 고딕"/>
                <a:cs typeface="맑은 고딕"/>
              </a:rPr>
              <a:t>sweep 실험으로 검증한 가중치</a:t>
            </a:r>
          </a:p>
        </p:txBody>
      </p:sp>
      <p:sp>
        <p:nvSpPr>
          <p:cNvPr id="20" name="TextBox 19"/>
          <p:cNvSpPr txBox="1"/>
          <p:nvPr/>
        </p:nvSpPr>
        <p:spPr>
          <a:xfrm>
            <a:off x="2062244" y="5070348"/>
            <a:ext cx="6675120" cy="173736"/>
          </a:xfrm>
          <a:prstGeom prst="rect">
            <a:avLst/>
          </a:prstGeom>
          <a:noFill/>
        </p:spPr>
        <p:txBody>
          <a:bodyPr wrap="square" lIns="0" tIns="0" rIns="0" bIns="0" anchor="ctr">
            <a:spAutoFit/>
          </a:bodyPr>
          <a:lstStyle/>
          <a:p>
            <a:pPr algn="ctr">
              <a:lnSpc>
                <a:spcPct val="104000"/>
              </a:lnSpc>
            </a:pPr>
            <a:r>
              <a:rPr sz="1000" b="1">
                <a:solidFill>
                  <a:srgbClr val="94A3B8"/>
                </a:solidFill>
                <a:latin typeface="맑은 고딕"/>
                <a:ea typeface="맑은 고딕"/>
                <a:cs typeface="맑은 고딕"/>
              </a:rPr>
              <a:t>▼</a:t>
            </a:r>
          </a:p>
        </p:txBody>
      </p:sp>
      <p:sp>
        <p:nvSpPr>
          <p:cNvPr id="21" name="Rounded Rectangle 20"/>
          <p:cNvSpPr/>
          <p:nvPr/>
        </p:nvSpPr>
        <p:spPr>
          <a:xfrm>
            <a:off x="809516" y="5340096"/>
            <a:ext cx="1051560" cy="512064"/>
          </a:xfrm>
          <a:prstGeom prst="roundRect">
            <a:avLst>
              <a:gd name="adj" fmla="val 7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300" b="1">
                <a:solidFill>
                  <a:srgbClr val="1E3A8A"/>
                </a:solidFill>
                <a:latin typeface="맑은 고딕"/>
                <a:ea typeface="맑은 고딕"/>
                <a:cs typeface="맑은 고딕"/>
              </a:rPr>
              <a:t>출력</a:t>
            </a:r>
          </a:p>
        </p:txBody>
      </p:sp>
      <p:sp>
        <p:nvSpPr>
          <p:cNvPr id="22" name="Rounded Rectangle 21"/>
          <p:cNvSpPr/>
          <p:nvPr/>
        </p:nvSpPr>
        <p:spPr>
          <a:xfrm>
            <a:off x="2062244" y="5257800"/>
            <a:ext cx="6675120" cy="676656"/>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600" b="0">
                <a:solidFill>
                  <a:srgbClr val="0F172A"/>
                </a:solidFill>
                <a:latin typeface="맑은 고딕"/>
                <a:ea typeface="맑은 고딕"/>
                <a:cs typeface="맑은 고딕"/>
              </a:rPr>
              <a:t>도메인 판정 + 직무·연구실 추천 + 근거 제시</a:t>
            </a:r>
          </a:p>
        </p:txBody>
      </p:sp>
      <p:sp>
        <p:nvSpPr>
          <p:cNvPr id="23" name="TextBox 22"/>
          <p:cNvSpPr txBox="1"/>
          <p:nvPr/>
        </p:nvSpPr>
        <p:spPr>
          <a:xfrm>
            <a:off x="8938532" y="5257800"/>
            <a:ext cx="2834640" cy="676656"/>
          </a:xfrm>
          <a:prstGeom prst="rect">
            <a:avLst/>
          </a:prstGeom>
          <a:noFill/>
        </p:spPr>
        <p:txBody>
          <a:bodyPr wrap="square" lIns="0" tIns="0" rIns="0" bIns="0" anchor="ctr">
            <a:spAutoFit/>
          </a:bodyPr>
          <a:lstStyle/>
          <a:p>
            <a:pPr algn="l">
              <a:lnSpc>
                <a:spcPct val="104000"/>
              </a:lnSpc>
            </a:pPr>
            <a:r>
              <a:rPr sz="1250" b="0">
                <a:solidFill>
                  <a:srgbClr val="94A3B8"/>
                </a:solidFill>
                <a:latin typeface="맑은 고딕"/>
                <a:ea typeface="맑은 고딕"/>
                <a:cs typeface="맑은 고딕"/>
              </a:rPr>
              <a:t>Audit Panel · Mind-Map</a:t>
            </a:r>
          </a:p>
        </p:txBody>
      </p:sp>
      <p:sp>
        <p:nvSpPr>
          <p:cNvPr id="24" name="TextBox 23"/>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25" name="TextBox 24"/>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04</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sz="3000" b="1" dirty="0" err="1">
                <a:solidFill>
                  <a:srgbClr val="0F172A"/>
                </a:solidFill>
                <a:latin typeface="맑은 고딕"/>
                <a:ea typeface="맑은 고딕"/>
                <a:cs typeface="맑은 고딕"/>
              </a:rPr>
              <a:t>분류</a:t>
            </a:r>
            <a:r>
              <a:rPr sz="3000" b="1" dirty="0">
                <a:solidFill>
                  <a:srgbClr val="0F172A"/>
                </a:solidFill>
                <a:latin typeface="맑은 고딕"/>
                <a:ea typeface="맑은 고딕"/>
                <a:cs typeface="맑은 고딕"/>
              </a:rPr>
              <a:t> </a:t>
            </a:r>
            <a:r>
              <a:rPr sz="3000" b="1" dirty="0" err="1">
                <a:solidFill>
                  <a:srgbClr val="0F172A"/>
                </a:solidFill>
                <a:latin typeface="맑은 고딕"/>
                <a:ea typeface="맑은 고딕"/>
                <a:cs typeface="맑은 고딕"/>
              </a:rPr>
              <a:t>방법</a:t>
            </a:r>
            <a:r>
              <a:rPr sz="3000" b="1" dirty="0">
                <a:solidFill>
                  <a:srgbClr val="0F172A"/>
                </a:solidFill>
                <a:latin typeface="맑은 고딕"/>
                <a:ea typeface="맑은 고딕"/>
                <a:cs typeface="맑은 고딕"/>
              </a:rPr>
              <a:t>  — </a:t>
            </a:r>
            <a:r>
              <a:rPr sz="3000" b="1" dirty="0" err="1">
                <a:solidFill>
                  <a:srgbClr val="0F172A"/>
                </a:solidFill>
                <a:latin typeface="맑은 고딕"/>
                <a:ea typeface="맑은 고딕"/>
                <a:cs typeface="맑은 고딕"/>
              </a:rPr>
              <a:t>단계적</a:t>
            </a:r>
            <a:r>
              <a:rPr sz="3000" b="1" dirty="0">
                <a:solidFill>
                  <a:srgbClr val="0F172A"/>
                </a:solidFill>
                <a:latin typeface="맑은 고딕"/>
                <a:ea typeface="맑은 고딕"/>
                <a:cs typeface="맑은 고딕"/>
              </a:rPr>
              <a:t> </a:t>
            </a:r>
            <a:r>
              <a:rPr sz="3000" b="1" dirty="0" err="1">
                <a:solidFill>
                  <a:srgbClr val="0F172A"/>
                </a:solidFill>
                <a:latin typeface="맑은 고딕"/>
                <a:ea typeface="맑은 고딕"/>
                <a:cs typeface="맑은 고딕"/>
              </a:rPr>
              <a:t>고도화</a:t>
            </a:r>
            <a:r>
              <a:rPr sz="2100" b="1" dirty="0">
                <a:solidFill>
                  <a:srgbClr val="B45309"/>
                </a:solidFill>
                <a:latin typeface="맑은 고딕"/>
                <a:ea typeface="맑은 고딕"/>
                <a:cs typeface="맑은 고딕"/>
              </a:rPr>
              <a:t>  </a:t>
            </a: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783080"/>
          <a:ext cx="11002975" cy="2331720"/>
        </p:xfrm>
        <a:graphic>
          <a:graphicData uri="http://schemas.openxmlformats.org/drawingml/2006/table">
            <a:tbl>
              <a:tblPr firstRow="1" bandRow="1">
                <a:tableStyleId>{2D5ABB26-0587-4C30-8999-92F81FD0307C}</a:tableStyleId>
              </a:tblPr>
              <a:tblGrid>
                <a:gridCol w="28346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858975">
                  <a:extLst>
                    <a:ext uri="{9D8B030D-6E8A-4147-A177-3AD203B41FA5}">
                      <a16:colId xmlns:a16="http://schemas.microsoft.com/office/drawing/2014/main" val="20003"/>
                    </a:ext>
                  </a:extLst>
                </a:gridCol>
              </a:tblGrid>
              <a:tr h="582930">
                <a:tc>
                  <a:txBody>
                    <a:bodyPr/>
                    <a:lstStyle/>
                    <a:p>
                      <a:pPr algn="l"/>
                      <a:r>
                        <a:rPr sz="1500" b="1">
                          <a:solidFill>
                            <a:srgbClr val="1E3A8A"/>
                          </a:solidFill>
                          <a:latin typeface="맑은 고딕"/>
                          <a:ea typeface="맑은 고딕"/>
                          <a:cs typeface="맑은 고딕"/>
                        </a:rPr>
                        <a:t>방법</a:t>
                      </a:r>
                    </a:p>
                  </a:txBody>
                  <a:tcPr marL="101600" marR="50800" marT="63500" marB="63500" anchor="ctr">
                    <a:lnB w="25400" cap="flat">
                      <a:solidFill>
                        <a:srgbClr val="1E3A8A"/>
                      </a:solidFill>
                    </a:lnB>
                    <a:solidFill>
                      <a:srgbClr val="FFFFFF"/>
                    </a:solidFill>
                  </a:tcPr>
                </a:tc>
                <a:tc>
                  <a:txBody>
                    <a:bodyPr/>
                    <a:lstStyle/>
                    <a:p>
                      <a:pPr algn="ctr"/>
                      <a:r>
                        <a:rPr sz="1500" b="1">
                          <a:solidFill>
                            <a:srgbClr val="1E3A8A"/>
                          </a:solidFill>
                          <a:latin typeface="맑은 고딕"/>
                          <a:ea typeface="맑은 고딕"/>
                          <a:cs typeface="맑은 고딕"/>
                        </a:rPr>
                        <a:t>원리</a:t>
                      </a:r>
                    </a:p>
                  </a:txBody>
                  <a:tcPr marL="101600" marR="50800" marT="63500" marB="63500" anchor="ctr">
                    <a:lnB w="25400" cap="flat">
                      <a:solidFill>
                        <a:srgbClr val="1E3A8A"/>
                      </a:solidFill>
                    </a:lnB>
                    <a:solidFill>
                      <a:srgbClr val="FFFFFF"/>
                    </a:solidFill>
                  </a:tcPr>
                </a:tc>
                <a:tc>
                  <a:txBody>
                    <a:bodyPr/>
                    <a:lstStyle/>
                    <a:p>
                      <a:pPr algn="ctr"/>
                      <a:r>
                        <a:rPr sz="1500" b="1">
                          <a:solidFill>
                            <a:srgbClr val="1E3A8A"/>
                          </a:solidFill>
                          <a:latin typeface="맑은 고딕"/>
                          <a:ea typeface="맑은 고딕"/>
                          <a:cs typeface="맑은 고딕"/>
                        </a:rPr>
                        <a:t>합성 정확도</a:t>
                      </a:r>
                    </a:p>
                  </a:txBody>
                  <a:tcPr marL="101600" marR="50800" marT="63500" marB="63500" anchor="ctr">
                    <a:lnB w="25400" cap="flat">
                      <a:solidFill>
                        <a:srgbClr val="1E3A8A"/>
                      </a:solidFill>
                    </a:lnB>
                    <a:solidFill>
                      <a:srgbClr val="FFFFFF"/>
                    </a:solidFill>
                  </a:tcPr>
                </a:tc>
                <a:tc>
                  <a:txBody>
                    <a:bodyPr/>
                    <a:lstStyle/>
                    <a:p>
                      <a:pPr algn="ctr"/>
                      <a:r>
                        <a:rPr sz="1500" b="1">
                          <a:solidFill>
                            <a:srgbClr val="1E3A8A"/>
                          </a:solidFill>
                          <a:latin typeface="맑은 고딕"/>
                          <a:ea typeface="맑은 고딕"/>
                          <a:cs typeface="맑은 고딕"/>
                        </a:rPr>
                        <a:t>한계</a:t>
                      </a:r>
                    </a:p>
                  </a:txBody>
                  <a:tcPr marL="101600" marR="50800" marT="63500" marB="63500" anchor="ctr">
                    <a:lnB w="25400" cap="flat">
                      <a:solidFill>
                        <a:srgbClr val="1E3A8A"/>
                      </a:solidFill>
                    </a:lnB>
                    <a:solidFill>
                      <a:srgbClr val="FFFFFF"/>
                    </a:solidFill>
                  </a:tcPr>
                </a:tc>
                <a:extLst>
                  <a:ext uri="{0D108BD9-81ED-4DB2-BD59-A6C34878D82A}">
                    <a16:rowId xmlns:a16="http://schemas.microsoft.com/office/drawing/2014/main" val="10000"/>
                  </a:ext>
                </a:extLst>
              </a:tr>
              <a:tr h="582930">
                <a:tc>
                  <a:txBody>
                    <a:bodyPr/>
                    <a:lstStyle/>
                    <a:p>
                      <a:pPr algn="l"/>
                      <a:r>
                        <a:rPr sz="1500" b="0">
                          <a:solidFill>
                            <a:srgbClr val="0F172A"/>
                          </a:solidFill>
                          <a:latin typeface="맑은 고딕"/>
                          <a:ea typeface="맑은 고딕"/>
                          <a:cs typeface="맑은 고딕"/>
                        </a:rPr>
                        <a:t>① 키워드 (Baseline)</a:t>
                      </a:r>
                    </a:p>
                  </a:txBody>
                  <a:tcPr marL="101600" marR="50800" marT="50800" marB="50800" anchor="ctr">
                    <a:lnT w="25400" cap="flat" cmpd="sng" algn="ctr">
                      <a:solidFill>
                        <a:srgbClr val="1E3A8A"/>
                      </a:solidFill>
                      <a:prstDash val="solid"/>
                      <a:round/>
                      <a:headEnd type="none" w="med" len="med"/>
                      <a:tailEnd type="none" w="med" len="med"/>
                    </a:lnT>
                    <a:lnB w="9525" cap="flat">
                      <a:solidFill>
                        <a:srgbClr val="E2E8F0"/>
                      </a:solidFill>
                    </a:lnB>
                    <a:solidFill>
                      <a:srgbClr val="FFFFFF"/>
                    </a:solidFill>
                  </a:tcPr>
                </a:tc>
                <a:tc>
                  <a:txBody>
                    <a:bodyPr/>
                    <a:lstStyle/>
                    <a:p>
                      <a:pPr algn="ctr"/>
                      <a:r>
                        <a:rPr sz="1500" b="0">
                          <a:solidFill>
                            <a:srgbClr val="0F172A"/>
                          </a:solidFill>
                          <a:latin typeface="맑은 고딕"/>
                          <a:ea typeface="맑은 고딕"/>
                          <a:cs typeface="맑은 고딕"/>
                        </a:rPr>
                        <a:t>600+ 도메인 사전 매칭</a:t>
                      </a:r>
                    </a:p>
                  </a:txBody>
                  <a:tcPr marL="101600" marR="50800" marT="50800" marB="50800" anchor="ctr">
                    <a:lnT w="25400" cap="flat" cmpd="sng" algn="ctr">
                      <a:solidFill>
                        <a:srgbClr val="1E3A8A"/>
                      </a:solidFill>
                      <a:prstDash val="solid"/>
                      <a:round/>
                      <a:headEnd type="none" w="med" len="med"/>
                      <a:tailEnd type="none" w="med" len="med"/>
                    </a:lnT>
                    <a:lnB w="9525" cap="flat">
                      <a:solidFill>
                        <a:srgbClr val="E2E8F0"/>
                      </a:solidFill>
                    </a:lnB>
                    <a:solidFill>
                      <a:srgbClr val="FFFFFF"/>
                    </a:solidFill>
                  </a:tcPr>
                </a:tc>
                <a:tc>
                  <a:txBody>
                    <a:bodyPr/>
                    <a:lstStyle/>
                    <a:p>
                      <a:pPr algn="ctr"/>
                      <a:r>
                        <a:rPr sz="1500" b="0">
                          <a:solidFill>
                            <a:srgbClr val="0F172A"/>
                          </a:solidFill>
                          <a:latin typeface="맑은 고딕"/>
                          <a:ea typeface="맑은 고딕"/>
                          <a:cs typeface="맑은 고딕"/>
                        </a:rPr>
                        <a:t>86.9%</a:t>
                      </a:r>
                    </a:p>
                  </a:txBody>
                  <a:tcPr marL="101600" marR="50800" marT="50800" marB="50800" anchor="ctr">
                    <a:lnT w="25400" cap="flat" cmpd="sng" algn="ctr">
                      <a:solidFill>
                        <a:srgbClr val="1E3A8A"/>
                      </a:solidFill>
                      <a:prstDash val="solid"/>
                      <a:round/>
                      <a:headEnd type="none" w="med" len="med"/>
                      <a:tailEnd type="none" w="med" len="med"/>
                    </a:lnT>
                    <a:lnB w="9525" cap="flat">
                      <a:solidFill>
                        <a:srgbClr val="E2E8F0"/>
                      </a:solidFill>
                    </a:lnB>
                    <a:solidFill>
                      <a:srgbClr val="FFFFFF"/>
                    </a:solidFill>
                  </a:tcPr>
                </a:tc>
                <a:tc>
                  <a:txBody>
                    <a:bodyPr/>
                    <a:lstStyle/>
                    <a:p>
                      <a:pPr algn="ctr"/>
                      <a:r>
                        <a:rPr sz="1500" b="0">
                          <a:solidFill>
                            <a:srgbClr val="0F172A"/>
                          </a:solidFill>
                          <a:latin typeface="맑은 고딕"/>
                          <a:ea typeface="맑은 고딕"/>
                          <a:cs typeface="맑은 고딕"/>
                        </a:rPr>
                        <a:t>단어 의미·맥락 모름</a:t>
                      </a:r>
                    </a:p>
                  </a:txBody>
                  <a:tcPr marL="101600" marR="50800" marT="50800" marB="50800" anchor="ctr">
                    <a:lnT w="25400" cap="flat" cmpd="sng" algn="ctr">
                      <a:solidFill>
                        <a:srgbClr val="1E3A8A"/>
                      </a:solidFill>
                      <a:prstDash val="solid"/>
                      <a:round/>
                      <a:headEnd type="none" w="med" len="med"/>
                      <a:tailEnd type="none" w="med" len="med"/>
                    </a:lnT>
                    <a:lnB w="9525" cap="flat">
                      <a:solidFill>
                        <a:srgbClr val="E2E8F0"/>
                      </a:solidFill>
                    </a:lnB>
                    <a:solidFill>
                      <a:srgbClr val="FFFFFF"/>
                    </a:solidFill>
                  </a:tcPr>
                </a:tc>
                <a:extLst>
                  <a:ext uri="{0D108BD9-81ED-4DB2-BD59-A6C34878D82A}">
                    <a16:rowId xmlns:a16="http://schemas.microsoft.com/office/drawing/2014/main" val="10001"/>
                  </a:ext>
                </a:extLst>
              </a:tr>
              <a:tr h="582930">
                <a:tc>
                  <a:txBody>
                    <a:bodyPr/>
                    <a:lstStyle/>
                    <a:p>
                      <a:pPr algn="l"/>
                      <a:r>
                        <a:rPr sz="1500" b="0">
                          <a:solidFill>
                            <a:srgbClr val="0F172A"/>
                          </a:solidFill>
                          <a:latin typeface="맑은 고딕"/>
                          <a:ea typeface="맑은 고딕"/>
                          <a:cs typeface="맑은 고딕"/>
                        </a:rPr>
                        <a:t>② BoN 코사인</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500" b="0">
                          <a:solidFill>
                            <a:srgbClr val="0F172A"/>
                          </a:solidFill>
                          <a:latin typeface="맑은 고딕"/>
                          <a:ea typeface="맑은 고딕"/>
                          <a:cs typeface="맑은 고딕"/>
                        </a:rPr>
                        <a:t>음절 2~3-gram 빈도 벡터</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500" b="0">
                          <a:solidFill>
                            <a:srgbClr val="0F172A"/>
                          </a:solidFill>
                          <a:latin typeface="맑은 고딕"/>
                          <a:ea typeface="맑은 고딕"/>
                          <a:cs typeface="맑은 고딕"/>
                        </a:rPr>
                        <a:t>Hybrid 89.3%</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500" b="0">
                          <a:solidFill>
                            <a:srgbClr val="0F172A"/>
                          </a:solidFill>
                          <a:latin typeface="맑은 고딕"/>
                          <a:ea typeface="맑은 고딕"/>
                          <a:cs typeface="맑은 고딕"/>
                        </a:rPr>
                        <a:t>어휘 겹침만 봄</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extLst>
                  <a:ext uri="{0D108BD9-81ED-4DB2-BD59-A6C34878D82A}">
                    <a16:rowId xmlns:a16="http://schemas.microsoft.com/office/drawing/2014/main" val="10002"/>
                  </a:ext>
                </a:extLst>
              </a:tr>
              <a:tr h="582930">
                <a:tc>
                  <a:txBody>
                    <a:bodyPr/>
                    <a:lstStyle/>
                    <a:p>
                      <a:pPr algn="l"/>
                      <a:r>
                        <a:rPr sz="1500" b="0">
                          <a:solidFill>
                            <a:srgbClr val="0F172A"/>
                          </a:solidFill>
                          <a:latin typeface="맑은 고딕"/>
                          <a:ea typeface="맑은 고딕"/>
                          <a:cs typeface="맑은 고딕"/>
                        </a:rPr>
                        <a:t>③ SBERT 코사인</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500" b="0">
                          <a:solidFill>
                            <a:srgbClr val="0F172A"/>
                          </a:solidFill>
                          <a:latin typeface="맑은 고딕"/>
                          <a:ea typeface="맑은 고딕"/>
                          <a:cs typeface="맑은 고딕"/>
                        </a:rPr>
                        <a:t>MiniLM-L12 384-d 의미 임베딩</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500" b="0">
                          <a:solidFill>
                            <a:srgbClr val="0F172A"/>
                          </a:solidFill>
                          <a:latin typeface="맑은 고딕"/>
                          <a:ea typeface="맑은 고딕"/>
                          <a:cs typeface="맑은 고딕"/>
                        </a:rPr>
                        <a:t>78.6% (단독)</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500" b="0">
                          <a:solidFill>
                            <a:srgbClr val="0F172A"/>
                          </a:solidFill>
                          <a:latin typeface="맑은 고딕"/>
                          <a:ea typeface="맑은 고딕"/>
                          <a:cs typeface="맑은 고딕"/>
                        </a:rPr>
                        <a:t>한국어 특화 아님</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94360" y="4526280"/>
            <a:ext cx="11002975" cy="141732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92608" tIns="54864" rIns="146304" bIns="54864" rtlCol="0" anchor="ctr"/>
          <a:lstStyle/>
          <a:p>
            <a:pPr algn="l">
              <a:lnSpc>
                <a:spcPct val="104000"/>
              </a:lnSpc>
            </a:pPr>
            <a:r>
              <a:rPr sz="1900" b="1" dirty="0">
                <a:solidFill>
                  <a:srgbClr val="B45309"/>
                </a:solidFill>
                <a:latin typeface="맑은 고딕"/>
                <a:ea typeface="맑은 고딕"/>
                <a:cs typeface="맑은 고딕"/>
              </a:rPr>
              <a:t>SBERT </a:t>
            </a:r>
            <a:r>
              <a:rPr sz="1900" b="1" dirty="0" err="1">
                <a:solidFill>
                  <a:srgbClr val="B45309"/>
                </a:solidFill>
                <a:latin typeface="맑은 고딕"/>
                <a:ea typeface="맑은 고딕"/>
                <a:cs typeface="맑은 고딕"/>
              </a:rPr>
              <a:t>단독</a:t>
            </a:r>
            <a:r>
              <a:rPr sz="1900" b="1" dirty="0">
                <a:solidFill>
                  <a:srgbClr val="B45309"/>
                </a:solidFill>
                <a:latin typeface="맑은 고딕"/>
                <a:ea typeface="맑은 고딕"/>
                <a:cs typeface="맑은 고딕"/>
              </a:rPr>
              <a:t>(78.6%)이 </a:t>
            </a:r>
            <a:r>
              <a:rPr sz="1900" b="1" dirty="0" err="1">
                <a:solidFill>
                  <a:srgbClr val="B45309"/>
                </a:solidFill>
                <a:latin typeface="맑은 고딕"/>
                <a:ea typeface="맑은 고딕"/>
                <a:cs typeface="맑은 고딕"/>
              </a:rPr>
              <a:t>키워드</a:t>
            </a:r>
            <a:r>
              <a:rPr sz="1900" b="1" dirty="0">
                <a:solidFill>
                  <a:srgbClr val="B45309"/>
                </a:solidFill>
                <a:latin typeface="맑은 고딕"/>
                <a:ea typeface="맑은 고딕"/>
                <a:cs typeface="맑은 고딕"/>
              </a:rPr>
              <a:t>(86.9%)</a:t>
            </a:r>
            <a:r>
              <a:rPr sz="1900" b="1" dirty="0" err="1">
                <a:solidFill>
                  <a:srgbClr val="B45309"/>
                </a:solidFill>
                <a:latin typeface="맑은 고딕"/>
                <a:ea typeface="맑은 고딕"/>
                <a:cs typeface="맑은 고딕"/>
              </a:rPr>
              <a:t>보다</a:t>
            </a:r>
            <a:r>
              <a:rPr sz="1900" b="1" dirty="0">
                <a:solidFill>
                  <a:srgbClr val="B45309"/>
                </a:solidFill>
                <a:latin typeface="맑은 고딕"/>
                <a:ea typeface="맑은 고딕"/>
                <a:cs typeface="맑은 고딕"/>
              </a:rPr>
              <a:t> </a:t>
            </a:r>
            <a:r>
              <a:rPr sz="1900" b="1" dirty="0" err="1">
                <a:solidFill>
                  <a:srgbClr val="B45309"/>
                </a:solidFill>
                <a:latin typeface="맑은 고딕"/>
                <a:ea typeface="맑은 고딕"/>
                <a:cs typeface="맑은 고딕"/>
              </a:rPr>
              <a:t>낮다</a:t>
            </a:r>
            <a:endParaRPr sz="1900" b="1" dirty="0">
              <a:solidFill>
                <a:srgbClr val="B45309"/>
              </a:solidFill>
              <a:latin typeface="맑은 고딕"/>
              <a:ea typeface="맑은 고딕"/>
              <a:cs typeface="맑은 고딕"/>
            </a:endParaRPr>
          </a:p>
          <a:p>
            <a:pPr algn="l">
              <a:lnSpc>
                <a:spcPct val="104000"/>
              </a:lnSpc>
              <a:spcBef>
                <a:spcPts val="700"/>
              </a:spcBef>
            </a:pPr>
            <a:r>
              <a:rPr sz="1500" b="0" dirty="0" err="1">
                <a:solidFill>
                  <a:srgbClr val="475569"/>
                </a:solidFill>
                <a:latin typeface="맑은 고딕"/>
                <a:ea typeface="맑은 고딕"/>
                <a:cs typeface="맑은 고딕"/>
              </a:rPr>
              <a:t>키워드는</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전문</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용어를</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정확히</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잡고</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SBERT는</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맥락을</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잡는다</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약점이</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서로</a:t>
            </a:r>
            <a:r>
              <a:rPr sz="1500" b="0" dirty="0">
                <a:solidFill>
                  <a:srgbClr val="475569"/>
                </a:solidFill>
                <a:latin typeface="맑은 고딕"/>
                <a:ea typeface="맑은 고딕"/>
                <a:cs typeface="맑은 고딕"/>
              </a:rPr>
              <a:t> </a:t>
            </a:r>
            <a:r>
              <a:rPr sz="1500" b="0" dirty="0" err="1">
                <a:solidFill>
                  <a:srgbClr val="475569"/>
                </a:solidFill>
                <a:latin typeface="맑은 고딕"/>
                <a:ea typeface="맑은 고딕"/>
                <a:cs typeface="맑은 고딕"/>
              </a:rPr>
              <a:t>다르다</a:t>
            </a:r>
            <a:r>
              <a:rPr sz="1500" b="0" dirty="0">
                <a:solidFill>
                  <a:srgbClr val="475569"/>
                </a:solidFill>
                <a:latin typeface="맑은 고딕"/>
                <a:ea typeface="맑은 고딕"/>
                <a:cs typeface="맑은 고딕"/>
              </a:rPr>
              <a:t> </a:t>
            </a:r>
            <a:r>
              <a:rPr lang="ko-KR" altLang="en-US" sz="1500" b="0" dirty="0">
                <a:solidFill>
                  <a:srgbClr val="475569"/>
                </a:solidFill>
                <a:latin typeface="맑은 고딕"/>
                <a:ea typeface="맑은 고딕"/>
                <a:cs typeface="맑은 고딕"/>
              </a:rPr>
              <a:t>→ </a:t>
            </a:r>
            <a:r>
              <a:rPr lang="en-US" altLang="ko-KR" sz="1500" b="0" dirty="0">
                <a:solidFill>
                  <a:srgbClr val="475569"/>
                </a:solidFill>
                <a:latin typeface="맑은 고딕"/>
                <a:ea typeface="맑은 고딕"/>
                <a:cs typeface="맑은 고딕"/>
              </a:rPr>
              <a:t>Hybrid</a:t>
            </a:r>
          </a:p>
        </p:txBody>
      </p:sp>
      <p:sp>
        <p:nvSpPr>
          <p:cNvPr id="7" name="Rectangle 6"/>
          <p:cNvSpPr/>
          <p:nvPr/>
        </p:nvSpPr>
        <p:spPr>
          <a:xfrm>
            <a:off x="594360" y="4709160"/>
            <a:ext cx="45720" cy="10515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9" name="TextBox 8"/>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05</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sz="3000" b="1" dirty="0">
                <a:solidFill>
                  <a:srgbClr val="0F172A"/>
                </a:solidFill>
                <a:latin typeface="맑은 고딕"/>
                <a:ea typeface="맑은 고딕"/>
                <a:cs typeface="맑은 고딕"/>
              </a:rPr>
              <a:t>Hybrid </a:t>
            </a:r>
            <a:r>
              <a:rPr sz="3000" b="1" dirty="0" err="1">
                <a:solidFill>
                  <a:srgbClr val="0F172A"/>
                </a:solidFill>
                <a:latin typeface="맑은 고딕"/>
                <a:ea typeface="맑은 고딕"/>
                <a:cs typeface="맑은 고딕"/>
              </a:rPr>
              <a:t>결합</a:t>
            </a:r>
            <a:endParaRPr sz="2100" b="1" dirty="0">
              <a:solidFill>
                <a:srgbClr val="B45309"/>
              </a:solidFill>
              <a:latin typeface="맑은 고딕"/>
              <a:ea typeface="맑은 고딕"/>
              <a:cs typeface="맑은 고딕"/>
            </a:endParaRP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2070850"/>
            <a:ext cx="6126480" cy="868680"/>
          </a:xfrm>
          <a:prstGeom prst="roundRect">
            <a:avLst>
              <a:gd name="adj" fmla="val 7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900" b="1">
                <a:solidFill>
                  <a:srgbClr val="FFFFFF"/>
                </a:solidFill>
                <a:latin typeface="맑은 고딕"/>
                <a:ea typeface="맑은 고딕"/>
                <a:cs typeface="맑은 고딕"/>
              </a:rPr>
              <a:t>최종 점수 = 키워드 × 0.45 + SBERT × 0.55</a:t>
            </a:r>
          </a:p>
        </p:txBody>
      </p:sp>
      <p:sp>
        <p:nvSpPr>
          <p:cNvPr id="6" name="TextBox 5"/>
          <p:cNvSpPr txBox="1"/>
          <p:nvPr/>
        </p:nvSpPr>
        <p:spPr>
          <a:xfrm>
            <a:off x="567729" y="3639312"/>
            <a:ext cx="6126480" cy="1543436"/>
          </a:xfrm>
          <a:prstGeom prst="rect">
            <a:avLst/>
          </a:prstGeom>
          <a:noFill/>
        </p:spPr>
        <p:txBody>
          <a:bodyPr wrap="square" lIns="0" tIns="0" rIns="0" bIns="0" anchor="t">
            <a:spAutoFit/>
          </a:bodyPr>
          <a:lstStyle/>
          <a:p>
            <a:pPr algn="l">
              <a:lnSpc>
                <a:spcPct val="104000"/>
              </a:lnSpc>
            </a:pPr>
            <a:r>
              <a:rPr sz="1700" b="1" dirty="0" err="1">
                <a:solidFill>
                  <a:srgbClr val="0F172A"/>
                </a:solidFill>
                <a:latin typeface="맑은 고딕"/>
                <a:ea typeface="맑은 고딕"/>
                <a:cs typeface="맑은 고딕"/>
              </a:rPr>
              <a:t>서로</a:t>
            </a:r>
            <a:r>
              <a:rPr sz="1700" b="1" dirty="0">
                <a:solidFill>
                  <a:srgbClr val="0F172A"/>
                </a:solidFill>
                <a:latin typeface="맑은 고딕"/>
                <a:ea typeface="맑은 고딕"/>
                <a:cs typeface="맑은 고딕"/>
              </a:rPr>
              <a:t> </a:t>
            </a:r>
            <a:r>
              <a:rPr sz="1700" b="1" dirty="0" err="1">
                <a:solidFill>
                  <a:srgbClr val="0F172A"/>
                </a:solidFill>
                <a:latin typeface="맑은 고딕"/>
                <a:ea typeface="맑은 고딕"/>
                <a:cs typeface="맑은 고딕"/>
              </a:rPr>
              <a:t>다른</a:t>
            </a:r>
            <a:r>
              <a:rPr sz="1700" b="1" dirty="0">
                <a:solidFill>
                  <a:srgbClr val="0F172A"/>
                </a:solidFill>
                <a:latin typeface="맑은 고딕"/>
                <a:ea typeface="맑은 고딕"/>
                <a:cs typeface="맑은 고딕"/>
              </a:rPr>
              <a:t> </a:t>
            </a:r>
            <a:r>
              <a:rPr sz="1700" b="1" dirty="0" err="1">
                <a:solidFill>
                  <a:srgbClr val="0F172A"/>
                </a:solidFill>
                <a:latin typeface="맑은 고딕"/>
                <a:ea typeface="맑은 고딕"/>
                <a:cs typeface="맑은 고딕"/>
              </a:rPr>
              <a:t>약점을</a:t>
            </a:r>
            <a:r>
              <a:rPr sz="1700" b="1" dirty="0">
                <a:solidFill>
                  <a:srgbClr val="0F172A"/>
                </a:solidFill>
                <a:latin typeface="맑은 고딕"/>
                <a:ea typeface="맑은 고딕"/>
                <a:cs typeface="맑은 고딕"/>
              </a:rPr>
              <a:t> </a:t>
            </a:r>
            <a:r>
              <a:rPr sz="1700" b="1" dirty="0" err="1">
                <a:solidFill>
                  <a:srgbClr val="0F172A"/>
                </a:solidFill>
                <a:latin typeface="맑은 고딕"/>
                <a:ea typeface="맑은 고딕"/>
                <a:cs typeface="맑은 고딕"/>
              </a:rPr>
              <a:t>보완</a:t>
            </a:r>
            <a:endParaRPr sz="1700" b="1" dirty="0">
              <a:solidFill>
                <a:srgbClr val="0F172A"/>
              </a:solidFill>
              <a:latin typeface="맑은 고딕"/>
              <a:ea typeface="맑은 고딕"/>
              <a:cs typeface="맑은 고딕"/>
            </a:endParaRPr>
          </a:p>
          <a:p>
            <a:pPr algn="l">
              <a:lnSpc>
                <a:spcPct val="104000"/>
              </a:lnSpc>
              <a:spcBef>
                <a:spcPts val="400"/>
              </a:spcBef>
            </a:pPr>
            <a:r>
              <a:rPr sz="1450" b="0" dirty="0" err="1">
                <a:solidFill>
                  <a:srgbClr val="475569"/>
                </a:solidFill>
                <a:latin typeface="맑은 고딕"/>
                <a:ea typeface="맑은 고딕"/>
                <a:cs typeface="맑은 고딕"/>
              </a:rPr>
              <a:t>전문</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용어</a:t>
            </a:r>
            <a:r>
              <a:rPr sz="1450" b="0" dirty="0">
                <a:solidFill>
                  <a:srgbClr val="475569"/>
                </a:solidFill>
                <a:latin typeface="맑은 고딕"/>
                <a:ea typeface="맑은 고딕"/>
                <a:cs typeface="맑은 고딕"/>
              </a:rPr>
              <a:t>(</a:t>
            </a:r>
            <a:r>
              <a:rPr sz="1450" b="0" dirty="0" err="1">
                <a:solidFill>
                  <a:srgbClr val="475569"/>
                </a:solidFill>
                <a:latin typeface="맑은 고딕"/>
                <a:ea typeface="맑은 고딕"/>
                <a:cs typeface="맑은 고딕"/>
              </a:rPr>
              <a:t>키워드</a:t>
            </a:r>
            <a:r>
              <a:rPr sz="1450" b="0" dirty="0">
                <a:solidFill>
                  <a:srgbClr val="475569"/>
                </a:solidFill>
                <a:latin typeface="맑은 고딕"/>
                <a:ea typeface="맑은 고딕"/>
                <a:cs typeface="맑은 고딕"/>
              </a:rPr>
              <a:t>) + </a:t>
            </a:r>
            <a:r>
              <a:rPr sz="1450" b="0" dirty="0" err="1">
                <a:solidFill>
                  <a:srgbClr val="475569"/>
                </a:solidFill>
                <a:latin typeface="맑은 고딕"/>
                <a:ea typeface="맑은 고딕"/>
                <a:cs typeface="맑은 고딕"/>
              </a:rPr>
              <a:t>문맥</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의미</a:t>
            </a:r>
            <a:r>
              <a:rPr sz="1450" b="0" dirty="0">
                <a:solidFill>
                  <a:srgbClr val="475569"/>
                </a:solidFill>
                <a:latin typeface="맑은 고딕"/>
                <a:ea typeface="맑은 고딕"/>
                <a:cs typeface="맑은 고딕"/>
              </a:rPr>
              <a:t>(SBERT) → </a:t>
            </a:r>
            <a:r>
              <a:rPr sz="1450" b="0" dirty="0" err="1">
                <a:solidFill>
                  <a:srgbClr val="475569"/>
                </a:solidFill>
                <a:latin typeface="맑은 고딕"/>
                <a:ea typeface="맑은 고딕"/>
                <a:cs typeface="맑은 고딕"/>
              </a:rPr>
              <a:t>단독</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최고치</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대비</a:t>
            </a:r>
            <a:r>
              <a:rPr sz="1450" b="0" dirty="0">
                <a:solidFill>
                  <a:srgbClr val="475569"/>
                </a:solidFill>
                <a:latin typeface="맑은 고딕"/>
                <a:ea typeface="맑은 고딕"/>
                <a:cs typeface="맑은 고딕"/>
              </a:rPr>
              <a:t> +3.6%p</a:t>
            </a:r>
          </a:p>
          <a:p>
            <a:pPr algn="l">
              <a:lnSpc>
                <a:spcPct val="104000"/>
              </a:lnSpc>
              <a:spcBef>
                <a:spcPts val="1400"/>
              </a:spcBef>
            </a:pPr>
            <a:r>
              <a:rPr sz="1700" b="1" dirty="0" err="1">
                <a:solidFill>
                  <a:srgbClr val="0F172A"/>
                </a:solidFill>
                <a:latin typeface="맑은 고딕"/>
                <a:ea typeface="맑은 고딕"/>
                <a:cs typeface="맑은 고딕"/>
              </a:rPr>
              <a:t>가중치</a:t>
            </a:r>
            <a:r>
              <a:rPr sz="1700" b="1" dirty="0">
                <a:solidFill>
                  <a:srgbClr val="0F172A"/>
                </a:solidFill>
                <a:latin typeface="맑은 고딕"/>
                <a:ea typeface="맑은 고딕"/>
                <a:cs typeface="맑은 고딕"/>
              </a:rPr>
              <a:t> 0.45는 </a:t>
            </a:r>
            <a:r>
              <a:rPr sz="1700" b="1" dirty="0" err="1">
                <a:solidFill>
                  <a:srgbClr val="0F172A"/>
                </a:solidFill>
                <a:latin typeface="맑은 고딕"/>
                <a:ea typeface="맑은 고딕"/>
                <a:cs typeface="맑은 고딕"/>
              </a:rPr>
              <a:t>임의값이</a:t>
            </a:r>
            <a:r>
              <a:rPr sz="1700" b="1" dirty="0">
                <a:solidFill>
                  <a:srgbClr val="0F172A"/>
                </a:solidFill>
                <a:latin typeface="맑은 고딕"/>
                <a:ea typeface="맑은 고딕"/>
                <a:cs typeface="맑은 고딕"/>
              </a:rPr>
              <a:t> </a:t>
            </a:r>
            <a:r>
              <a:rPr sz="1700" b="1" dirty="0" err="1">
                <a:solidFill>
                  <a:srgbClr val="0F172A"/>
                </a:solidFill>
                <a:latin typeface="맑은 고딕"/>
                <a:ea typeface="맑은 고딕"/>
                <a:cs typeface="맑은 고딕"/>
              </a:rPr>
              <a:t>아니다</a:t>
            </a:r>
            <a:endParaRPr sz="1700" b="1" dirty="0">
              <a:solidFill>
                <a:srgbClr val="0F172A"/>
              </a:solidFill>
              <a:latin typeface="맑은 고딕"/>
              <a:ea typeface="맑은 고딕"/>
              <a:cs typeface="맑은 고딕"/>
            </a:endParaRPr>
          </a:p>
          <a:p>
            <a:pPr algn="l">
              <a:lnSpc>
                <a:spcPct val="104000"/>
              </a:lnSpc>
              <a:spcBef>
                <a:spcPts val="400"/>
              </a:spcBef>
            </a:pPr>
            <a:r>
              <a:rPr sz="1450" b="0" dirty="0">
                <a:solidFill>
                  <a:srgbClr val="475569"/>
                </a:solidFill>
                <a:latin typeface="맑은 고딕"/>
                <a:ea typeface="맑은 고딕"/>
                <a:cs typeface="맑은 고딕"/>
              </a:rPr>
              <a:t>0→1 전 </a:t>
            </a:r>
            <a:r>
              <a:rPr sz="1450" b="0" dirty="0" err="1">
                <a:solidFill>
                  <a:srgbClr val="475569"/>
                </a:solidFill>
                <a:latin typeface="맑은 고딕"/>
                <a:ea typeface="맑은 고딕"/>
                <a:cs typeface="맑은 고딕"/>
              </a:rPr>
              <a:t>구간</a:t>
            </a:r>
            <a:r>
              <a:rPr sz="1450" b="0" dirty="0">
                <a:solidFill>
                  <a:srgbClr val="475569"/>
                </a:solidFill>
                <a:latin typeface="맑은 고딕"/>
                <a:ea typeface="맑은 고딕"/>
                <a:cs typeface="맑은 고딕"/>
              </a:rPr>
              <a:t> sweep: 0.3~0.9에서 </a:t>
            </a:r>
            <a:r>
              <a:rPr sz="1450" b="0" dirty="0" err="1">
                <a:solidFill>
                  <a:srgbClr val="475569"/>
                </a:solidFill>
                <a:latin typeface="맑은 고딕"/>
                <a:ea typeface="맑은 고딕"/>
                <a:cs typeface="맑은 고딕"/>
              </a:rPr>
              <a:t>정확도</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고원</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확인</a:t>
            </a:r>
            <a:endParaRPr sz="1450" b="0" dirty="0">
              <a:solidFill>
                <a:srgbClr val="475569"/>
              </a:solidFill>
              <a:latin typeface="맑은 고딕"/>
              <a:ea typeface="맑은 고딕"/>
              <a:cs typeface="맑은 고딕"/>
            </a:endParaRPr>
          </a:p>
          <a:p>
            <a:pPr algn="l">
              <a:lnSpc>
                <a:spcPct val="104000"/>
              </a:lnSpc>
              <a:spcBef>
                <a:spcPts val="300"/>
              </a:spcBef>
            </a:pP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특정</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값에</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과적합되지</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않은</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안정</a:t>
            </a:r>
            <a:r>
              <a:rPr sz="1450" b="0" dirty="0">
                <a:solidFill>
                  <a:srgbClr val="475569"/>
                </a:solidFill>
                <a:latin typeface="맑은 고딕"/>
                <a:ea typeface="맑은 고딕"/>
                <a:cs typeface="맑은 고딕"/>
              </a:rPr>
              <a:t> </a:t>
            </a:r>
            <a:r>
              <a:rPr sz="1450" b="0" dirty="0" err="1">
                <a:solidFill>
                  <a:srgbClr val="475569"/>
                </a:solidFill>
                <a:latin typeface="맑은 고딕"/>
                <a:ea typeface="맑은 고딕"/>
                <a:cs typeface="맑은 고딕"/>
              </a:rPr>
              <a:t>구간</a:t>
            </a:r>
            <a:r>
              <a:rPr sz="1450" b="0" dirty="0">
                <a:solidFill>
                  <a:srgbClr val="475569"/>
                </a:solidFill>
                <a:latin typeface="맑은 고딕"/>
                <a:ea typeface="맑은 고딕"/>
                <a:cs typeface="맑은 고딕"/>
              </a:rPr>
              <a:t> 내 </a:t>
            </a:r>
            <a:r>
              <a:rPr sz="1450" b="0" dirty="0" err="1">
                <a:solidFill>
                  <a:srgbClr val="475569"/>
                </a:solidFill>
                <a:latin typeface="맑은 고딕"/>
                <a:ea typeface="맑은 고딕"/>
                <a:cs typeface="맑은 고딕"/>
              </a:rPr>
              <a:t>선택</a:t>
            </a:r>
            <a:endParaRPr sz="1450" b="0" dirty="0">
              <a:solidFill>
                <a:srgbClr val="475569"/>
              </a:solidFill>
              <a:latin typeface="맑은 고딕"/>
              <a:ea typeface="맑은 고딕"/>
              <a:cs typeface="맑은 고딕"/>
            </a:endParaRPr>
          </a:p>
        </p:txBody>
      </p:sp>
      <p:sp>
        <p:nvSpPr>
          <p:cNvPr id="7" name="Rectangle 6"/>
          <p:cNvSpPr/>
          <p:nvPr/>
        </p:nvSpPr>
        <p:spPr>
          <a:xfrm>
            <a:off x="7132320" y="5074920"/>
            <a:ext cx="4465015"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97063" y="2896296"/>
            <a:ext cx="868680" cy="2178623"/>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68463" y="2567112"/>
            <a:ext cx="1325880" cy="292608"/>
          </a:xfrm>
          <a:prstGeom prst="rect">
            <a:avLst/>
          </a:prstGeom>
          <a:noFill/>
        </p:spPr>
        <p:txBody>
          <a:bodyPr wrap="square" lIns="0" tIns="0" rIns="0" bIns="0" anchor="t">
            <a:spAutoFit/>
          </a:bodyPr>
          <a:lstStyle/>
          <a:p>
            <a:pPr algn="ctr">
              <a:lnSpc>
                <a:spcPct val="104000"/>
              </a:lnSpc>
            </a:pPr>
            <a:r>
              <a:rPr sz="1600" b="1">
                <a:solidFill>
                  <a:srgbClr val="0F172A"/>
                </a:solidFill>
                <a:latin typeface="맑은 고딕"/>
                <a:ea typeface="맑은 고딕"/>
                <a:cs typeface="맑은 고딕"/>
              </a:rPr>
              <a:t>86.9%</a:t>
            </a:r>
          </a:p>
        </p:txBody>
      </p:sp>
      <p:sp>
        <p:nvSpPr>
          <p:cNvPr id="10" name="TextBox 9"/>
          <p:cNvSpPr txBox="1"/>
          <p:nvPr/>
        </p:nvSpPr>
        <p:spPr>
          <a:xfrm>
            <a:off x="7368463" y="5148072"/>
            <a:ext cx="1325880" cy="274320"/>
          </a:xfrm>
          <a:prstGeom prst="rect">
            <a:avLst/>
          </a:prstGeom>
          <a:noFill/>
        </p:spPr>
        <p:txBody>
          <a:bodyPr wrap="square" lIns="0" tIns="0" rIns="0" bIns="0" anchor="t">
            <a:spAutoFit/>
          </a:bodyPr>
          <a:lstStyle/>
          <a:p>
            <a:pPr algn="ctr">
              <a:lnSpc>
                <a:spcPct val="104000"/>
              </a:lnSpc>
            </a:pPr>
            <a:r>
              <a:rPr sz="1350" b="0">
                <a:solidFill>
                  <a:srgbClr val="475569"/>
                </a:solidFill>
                <a:latin typeface="맑은 고딕"/>
                <a:ea typeface="맑은 고딕"/>
                <a:cs typeface="맑은 고딕"/>
              </a:rPr>
              <a:t>키워드</a:t>
            </a:r>
          </a:p>
        </p:txBody>
      </p:sp>
      <p:sp>
        <p:nvSpPr>
          <p:cNvPr id="11" name="Rectangle 10"/>
          <p:cNvSpPr/>
          <p:nvPr/>
        </p:nvSpPr>
        <p:spPr>
          <a:xfrm>
            <a:off x="8930487" y="3568511"/>
            <a:ext cx="868680" cy="150640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01887" y="3239327"/>
            <a:ext cx="1325880" cy="292608"/>
          </a:xfrm>
          <a:prstGeom prst="rect">
            <a:avLst/>
          </a:prstGeom>
          <a:noFill/>
        </p:spPr>
        <p:txBody>
          <a:bodyPr wrap="square" lIns="0" tIns="0" rIns="0" bIns="0" anchor="t">
            <a:spAutoFit/>
          </a:bodyPr>
          <a:lstStyle/>
          <a:p>
            <a:pPr algn="ctr">
              <a:lnSpc>
                <a:spcPct val="104000"/>
              </a:lnSpc>
            </a:pPr>
            <a:r>
              <a:rPr sz="1600" b="1">
                <a:solidFill>
                  <a:srgbClr val="0F172A"/>
                </a:solidFill>
                <a:latin typeface="맑은 고딕"/>
                <a:ea typeface="맑은 고딕"/>
                <a:cs typeface="맑은 고딕"/>
              </a:rPr>
              <a:t>78.6%</a:t>
            </a:r>
          </a:p>
        </p:txBody>
      </p:sp>
      <p:sp>
        <p:nvSpPr>
          <p:cNvPr id="13" name="TextBox 12"/>
          <p:cNvSpPr txBox="1"/>
          <p:nvPr/>
        </p:nvSpPr>
        <p:spPr>
          <a:xfrm>
            <a:off x="8701887" y="5148072"/>
            <a:ext cx="1325880" cy="274320"/>
          </a:xfrm>
          <a:prstGeom prst="rect">
            <a:avLst/>
          </a:prstGeom>
          <a:noFill/>
        </p:spPr>
        <p:txBody>
          <a:bodyPr wrap="square" lIns="0" tIns="0" rIns="0" bIns="0" anchor="t">
            <a:spAutoFit/>
          </a:bodyPr>
          <a:lstStyle/>
          <a:p>
            <a:pPr algn="ctr">
              <a:lnSpc>
                <a:spcPct val="104000"/>
              </a:lnSpc>
            </a:pPr>
            <a:r>
              <a:rPr sz="1350" b="0">
                <a:solidFill>
                  <a:srgbClr val="475569"/>
                </a:solidFill>
                <a:latin typeface="맑은 고딕"/>
                <a:ea typeface="맑은 고딕"/>
                <a:cs typeface="맑은 고딕"/>
              </a:rPr>
              <a:t>SBERT</a:t>
            </a:r>
          </a:p>
        </p:txBody>
      </p:sp>
      <p:sp>
        <p:nvSpPr>
          <p:cNvPr id="14" name="Rectangle 13"/>
          <p:cNvSpPr/>
          <p:nvPr/>
        </p:nvSpPr>
        <p:spPr>
          <a:xfrm>
            <a:off x="10263911" y="2604733"/>
            <a:ext cx="868680" cy="247018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35311" y="2275549"/>
            <a:ext cx="1325880" cy="292608"/>
          </a:xfrm>
          <a:prstGeom prst="rect">
            <a:avLst/>
          </a:prstGeom>
          <a:noFill/>
        </p:spPr>
        <p:txBody>
          <a:bodyPr wrap="square" lIns="0" tIns="0" rIns="0" bIns="0" anchor="t">
            <a:spAutoFit/>
          </a:bodyPr>
          <a:lstStyle/>
          <a:p>
            <a:pPr algn="ctr">
              <a:lnSpc>
                <a:spcPct val="104000"/>
              </a:lnSpc>
            </a:pPr>
            <a:r>
              <a:rPr sz="1600" b="1">
                <a:solidFill>
                  <a:srgbClr val="2563EB"/>
                </a:solidFill>
                <a:latin typeface="맑은 고딕"/>
                <a:ea typeface="맑은 고딕"/>
                <a:cs typeface="맑은 고딕"/>
              </a:rPr>
              <a:t>90.5%</a:t>
            </a:r>
          </a:p>
        </p:txBody>
      </p:sp>
      <p:sp>
        <p:nvSpPr>
          <p:cNvPr id="16" name="TextBox 15"/>
          <p:cNvSpPr txBox="1"/>
          <p:nvPr/>
        </p:nvSpPr>
        <p:spPr>
          <a:xfrm>
            <a:off x="10035311" y="5148072"/>
            <a:ext cx="1325880" cy="274320"/>
          </a:xfrm>
          <a:prstGeom prst="rect">
            <a:avLst/>
          </a:prstGeom>
          <a:noFill/>
        </p:spPr>
        <p:txBody>
          <a:bodyPr wrap="square" lIns="0" tIns="0" rIns="0" bIns="0" anchor="t">
            <a:spAutoFit/>
          </a:bodyPr>
          <a:lstStyle/>
          <a:p>
            <a:pPr algn="ctr">
              <a:lnSpc>
                <a:spcPct val="104000"/>
              </a:lnSpc>
            </a:pPr>
            <a:r>
              <a:rPr sz="1350" b="1">
                <a:solidFill>
                  <a:srgbClr val="0F172A"/>
                </a:solidFill>
                <a:latin typeface="맑은 고딕"/>
                <a:ea typeface="맑은 고딕"/>
                <a:cs typeface="맑은 고딕"/>
              </a:rPr>
              <a:t>Hybrid</a:t>
            </a:r>
          </a:p>
        </p:txBody>
      </p:sp>
      <p:sp>
        <p:nvSpPr>
          <p:cNvPr id="17" name="TextBox 16"/>
          <p:cNvSpPr txBox="1"/>
          <p:nvPr/>
        </p:nvSpPr>
        <p:spPr>
          <a:xfrm>
            <a:off x="7132320" y="5623560"/>
            <a:ext cx="4465015" cy="274320"/>
          </a:xfrm>
          <a:prstGeom prst="rect">
            <a:avLst/>
          </a:prstGeom>
          <a:noFill/>
        </p:spPr>
        <p:txBody>
          <a:bodyPr wrap="square" lIns="0" tIns="0" rIns="0" bIns="0" anchor="t">
            <a:spAutoFit/>
          </a:bodyPr>
          <a:lstStyle/>
          <a:p>
            <a:pPr algn="ctr">
              <a:lnSpc>
                <a:spcPct val="104000"/>
              </a:lnSpc>
            </a:pPr>
            <a:r>
              <a:rPr sz="1100" b="0">
                <a:solidFill>
                  <a:srgbClr val="94A3B8"/>
                </a:solidFill>
                <a:latin typeface="맑은 고딕"/>
                <a:ea typeface="맑은 고딕"/>
                <a:cs typeface="맑은 고딕"/>
              </a:rPr>
              <a:t>합성 평가셋 84개 기준 · 축 60~95% 구간</a:t>
            </a:r>
          </a:p>
        </p:txBody>
      </p:sp>
      <p:sp>
        <p:nvSpPr>
          <p:cNvPr id="18" name="TextBox 17"/>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19" name="TextBox 18"/>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06</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lang="en-US" sz="3000" b="1" dirty="0">
                <a:solidFill>
                  <a:srgbClr val="0F172A"/>
                </a:solidFill>
                <a:latin typeface="맑은 고딕"/>
                <a:ea typeface="맑은 고딕"/>
                <a:cs typeface="맑은 고딕"/>
              </a:rPr>
              <a:t>Train Head </a:t>
            </a:r>
            <a:r>
              <a:rPr sz="3000" b="1" dirty="0">
                <a:solidFill>
                  <a:srgbClr val="0F172A"/>
                </a:solidFill>
                <a:latin typeface="맑은 고딕"/>
                <a:ea typeface="맑은 고딕"/>
                <a:cs typeface="맑은 고딕"/>
              </a:rPr>
              <a:t>— frozen SBERT 위 </a:t>
            </a:r>
            <a:r>
              <a:rPr sz="3000" b="1" dirty="0" err="1">
                <a:solidFill>
                  <a:srgbClr val="0F172A"/>
                </a:solidFill>
                <a:latin typeface="맑은 고딕"/>
                <a:ea typeface="맑은 고딕"/>
                <a:cs typeface="맑은 고딕"/>
              </a:rPr>
              <a:t>지도학습</a:t>
            </a:r>
            <a:r>
              <a:rPr sz="2100" b="1" dirty="0">
                <a:solidFill>
                  <a:srgbClr val="B45309"/>
                </a:solidFill>
                <a:latin typeface="맑은 고딕"/>
                <a:ea typeface="맑은 고딕"/>
                <a:cs typeface="맑은 고딕"/>
              </a:rPr>
              <a:t>  </a:t>
            </a: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85242" y="1876806"/>
            <a:ext cx="5852160" cy="786384"/>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37744" tIns="54864" rIns="146304" bIns="54864" rtlCol="0" anchor="ctr"/>
          <a:lstStyle/>
          <a:p>
            <a:pPr algn="l">
              <a:lnSpc>
                <a:spcPct val="104000"/>
              </a:lnSpc>
            </a:pPr>
            <a:r>
              <a:rPr sz="1600" b="1">
                <a:solidFill>
                  <a:srgbClr val="1E3A8A"/>
                </a:solidFill>
                <a:latin typeface="맑은 고딕"/>
                <a:ea typeface="맑은 고딕"/>
                <a:cs typeface="맑은 고딕"/>
              </a:rPr>
              <a:t>① 표준화   </a:t>
            </a:r>
            <a:r>
              <a:rPr sz="1350" b="0">
                <a:solidFill>
                  <a:srgbClr val="475569"/>
                </a:solidFill>
                <a:latin typeface="맑은 고딕"/>
                <a:ea typeface="맑은 고딕"/>
                <a:cs typeface="맑은 고딕"/>
              </a:rPr>
              <a:t>StandardScaler — 차원별 스케일 정렬</a:t>
            </a:r>
          </a:p>
        </p:txBody>
      </p:sp>
      <p:sp>
        <p:nvSpPr>
          <p:cNvPr id="6" name="Rounded Rectangle 5"/>
          <p:cNvSpPr/>
          <p:nvPr/>
        </p:nvSpPr>
        <p:spPr>
          <a:xfrm>
            <a:off x="585242" y="3035808"/>
            <a:ext cx="5852160" cy="786384"/>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37744" tIns="54864" rIns="146304" bIns="54864" rtlCol="0" anchor="ctr"/>
          <a:lstStyle/>
          <a:p>
            <a:pPr algn="l">
              <a:lnSpc>
                <a:spcPct val="104000"/>
              </a:lnSpc>
            </a:pPr>
            <a:r>
              <a:rPr sz="1600" b="1">
                <a:solidFill>
                  <a:srgbClr val="1E3A8A"/>
                </a:solidFill>
                <a:latin typeface="맑은 고딕"/>
                <a:ea typeface="맑은 고딕"/>
                <a:cs typeface="맑은 고딕"/>
              </a:rPr>
              <a:t>② 클래스 가중   </a:t>
            </a:r>
            <a:r>
              <a:rPr sz="1350" b="0">
                <a:solidFill>
                  <a:srgbClr val="475569"/>
                </a:solidFill>
                <a:latin typeface="맑은 고딕"/>
                <a:ea typeface="맑은 고딕"/>
                <a:cs typeface="맑은 고딕"/>
              </a:rPr>
              <a:t>class_weight='balanced' — 소수 도메인 보호</a:t>
            </a:r>
          </a:p>
        </p:txBody>
      </p:sp>
      <p:sp>
        <p:nvSpPr>
          <p:cNvPr id="7" name="Rounded Rectangle 6"/>
          <p:cNvSpPr/>
          <p:nvPr/>
        </p:nvSpPr>
        <p:spPr>
          <a:xfrm>
            <a:off x="594360" y="4243784"/>
            <a:ext cx="5852160" cy="786384"/>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37744" tIns="54864" rIns="146304" bIns="54864" rtlCol="0" anchor="ctr"/>
          <a:lstStyle/>
          <a:p>
            <a:pPr algn="l">
              <a:lnSpc>
                <a:spcPct val="104000"/>
              </a:lnSpc>
            </a:pPr>
            <a:r>
              <a:rPr sz="1600" b="1" dirty="0">
                <a:solidFill>
                  <a:srgbClr val="1E3A8A"/>
                </a:solidFill>
                <a:latin typeface="맑은 고딕"/>
                <a:ea typeface="맑은 고딕"/>
                <a:cs typeface="맑은 고딕"/>
              </a:rPr>
              <a:t>③ nested LOOCV   </a:t>
            </a:r>
            <a:r>
              <a:rPr sz="1350" b="0" dirty="0" err="1">
                <a:solidFill>
                  <a:srgbClr val="475569"/>
                </a:solidFill>
                <a:latin typeface="맑은 고딕"/>
                <a:ea typeface="맑은 고딕"/>
                <a:cs typeface="맑은 고딕"/>
              </a:rPr>
              <a:t>바깥</a:t>
            </a:r>
            <a:r>
              <a:rPr sz="1350" b="0" dirty="0">
                <a:solidFill>
                  <a:srgbClr val="475569"/>
                </a:solidFill>
                <a:latin typeface="맑은 고딕"/>
                <a:ea typeface="맑은 고딕"/>
                <a:cs typeface="맑은 고딕"/>
              </a:rPr>
              <a:t> LOOCV × </a:t>
            </a:r>
            <a:r>
              <a:rPr sz="1350" b="0" dirty="0" err="1">
                <a:solidFill>
                  <a:srgbClr val="475569"/>
                </a:solidFill>
                <a:latin typeface="맑은 고딕"/>
                <a:ea typeface="맑은 고딕"/>
                <a:cs typeface="맑은 고딕"/>
              </a:rPr>
              <a:t>안쪽</a:t>
            </a:r>
            <a:r>
              <a:rPr sz="1350" b="0" dirty="0">
                <a:solidFill>
                  <a:srgbClr val="475569"/>
                </a:solidFill>
                <a:latin typeface="맑은 고딕"/>
                <a:ea typeface="맑은 고딕"/>
                <a:cs typeface="맑은 고딕"/>
              </a:rPr>
              <a:t> CV — </a:t>
            </a:r>
            <a:r>
              <a:rPr sz="1350" b="0" dirty="0" err="1">
                <a:solidFill>
                  <a:srgbClr val="475569"/>
                </a:solidFill>
                <a:latin typeface="맑은 고딕"/>
                <a:ea typeface="맑은 고딕"/>
                <a:cs typeface="맑은 고딕"/>
              </a:rPr>
              <a:t>누수</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없는</a:t>
            </a:r>
            <a:r>
              <a:rPr sz="1350" b="0" dirty="0">
                <a:solidFill>
                  <a:srgbClr val="475569"/>
                </a:solidFill>
                <a:latin typeface="맑은 고딕"/>
                <a:ea typeface="맑은 고딕"/>
                <a:cs typeface="맑은 고딕"/>
              </a:rPr>
              <a:t> C </a:t>
            </a:r>
            <a:r>
              <a:rPr sz="1350" b="0" dirty="0" err="1">
                <a:solidFill>
                  <a:srgbClr val="475569"/>
                </a:solidFill>
                <a:latin typeface="맑은 고딕"/>
                <a:ea typeface="맑은 고딕"/>
                <a:cs typeface="맑은 고딕"/>
              </a:rPr>
              <a:t>선택</a:t>
            </a:r>
            <a:endParaRPr sz="1350" b="0" dirty="0">
              <a:solidFill>
                <a:srgbClr val="475569"/>
              </a:solidFill>
              <a:latin typeface="맑은 고딕"/>
              <a:ea typeface="맑은 고딕"/>
              <a:cs typeface="맑은 고딕"/>
            </a:endParaRPr>
          </a:p>
        </p:txBody>
      </p:sp>
      <p:sp>
        <p:nvSpPr>
          <p:cNvPr id="8" name="TextBox 7"/>
          <p:cNvSpPr txBox="1"/>
          <p:nvPr/>
        </p:nvSpPr>
        <p:spPr>
          <a:xfrm>
            <a:off x="1143000" y="5358868"/>
            <a:ext cx="5852160" cy="822960"/>
          </a:xfrm>
          <a:prstGeom prst="rect">
            <a:avLst/>
          </a:prstGeom>
          <a:noFill/>
        </p:spPr>
        <p:txBody>
          <a:bodyPr wrap="square" lIns="0" tIns="0" rIns="0" bIns="0" anchor="t">
            <a:spAutoFit/>
          </a:bodyPr>
          <a:lstStyle/>
          <a:p>
            <a:pPr algn="l">
              <a:lnSpc>
                <a:spcPct val="104000"/>
              </a:lnSpc>
            </a:pPr>
            <a:r>
              <a:rPr sz="1500" b="1" dirty="0">
                <a:solidFill>
                  <a:srgbClr val="0F172A"/>
                </a:solidFill>
                <a:latin typeface="맑은 고딕"/>
                <a:ea typeface="맑은 고딕"/>
                <a:cs typeface="맑은 고딕"/>
              </a:rPr>
              <a:t>nested LOOCV </a:t>
            </a:r>
            <a:r>
              <a:rPr sz="1500" b="1" dirty="0" err="1">
                <a:solidFill>
                  <a:srgbClr val="0F172A"/>
                </a:solidFill>
                <a:latin typeface="맑은 고딕"/>
                <a:ea typeface="맑은 고딕"/>
                <a:cs typeface="맑은 고딕"/>
              </a:rPr>
              <a:t>정확도</a:t>
            </a:r>
            <a:r>
              <a:rPr sz="1500" b="1" dirty="0">
                <a:solidFill>
                  <a:srgbClr val="0F172A"/>
                </a:solidFill>
                <a:latin typeface="맑은 고딕"/>
                <a:ea typeface="맑은 고딕"/>
                <a:cs typeface="맑은 고딕"/>
              </a:rPr>
              <a:t>  </a:t>
            </a:r>
            <a:r>
              <a:rPr sz="1500" b="0" dirty="0">
                <a:solidFill>
                  <a:srgbClr val="475569"/>
                </a:solidFill>
                <a:latin typeface="맑은 고딕"/>
                <a:ea typeface="맑은 고딕"/>
                <a:cs typeface="맑은 고딕"/>
              </a:rPr>
              <a:t>42.6% → 76.5% → </a:t>
            </a:r>
            <a:r>
              <a:rPr sz="1700" b="1" dirty="0">
                <a:solidFill>
                  <a:srgbClr val="2563EB"/>
                </a:solidFill>
                <a:latin typeface="맑은 고딕"/>
                <a:ea typeface="맑은 고딕"/>
                <a:cs typeface="맑은 고딕"/>
              </a:rPr>
              <a:t>79.8%</a:t>
            </a:r>
          </a:p>
          <a:p>
            <a:pPr algn="l">
              <a:lnSpc>
                <a:spcPct val="104000"/>
              </a:lnSpc>
              <a:spcBef>
                <a:spcPts val="300"/>
              </a:spcBef>
            </a:pPr>
            <a:r>
              <a:rPr sz="1250" b="0" dirty="0">
                <a:solidFill>
                  <a:srgbClr val="94A3B8"/>
                </a:solidFill>
                <a:latin typeface="맑은 고딕"/>
                <a:ea typeface="맑은 고딕"/>
                <a:cs typeface="맑은 고딕"/>
              </a:rPr>
              <a:t>(</a:t>
            </a:r>
            <a:r>
              <a:rPr sz="1250" b="0" dirty="0" err="1">
                <a:solidFill>
                  <a:srgbClr val="94A3B8"/>
                </a:solidFill>
                <a:latin typeface="맑은 고딕"/>
                <a:ea typeface="맑은 고딕"/>
                <a:cs typeface="맑은 고딕"/>
              </a:rPr>
              <a:t>초기</a:t>
            </a:r>
            <a:r>
              <a:rPr sz="1250" b="0" dirty="0">
                <a:solidFill>
                  <a:srgbClr val="94A3B8"/>
                </a:solidFill>
                <a:latin typeface="맑은 고딕"/>
                <a:ea typeface="맑은 고딕"/>
                <a:cs typeface="맑은 고딕"/>
              </a:rPr>
              <a:t> → </a:t>
            </a:r>
            <a:r>
              <a:rPr sz="1250" b="0" dirty="0" err="1">
                <a:solidFill>
                  <a:srgbClr val="94A3B8"/>
                </a:solidFill>
                <a:latin typeface="맑은 고딕"/>
                <a:ea typeface="맑은 고딕"/>
                <a:cs typeface="맑은 고딕"/>
              </a:rPr>
              <a:t>고도화</a:t>
            </a:r>
            <a:r>
              <a:rPr sz="1250" b="0" dirty="0">
                <a:solidFill>
                  <a:srgbClr val="94A3B8"/>
                </a:solidFill>
                <a:latin typeface="맑은 고딕"/>
                <a:ea typeface="맑은 고딕"/>
                <a:cs typeface="맑은 고딕"/>
              </a:rPr>
              <a:t> 3종 → </a:t>
            </a:r>
            <a:r>
              <a:rPr sz="1250" b="0" dirty="0" err="1">
                <a:solidFill>
                  <a:srgbClr val="94A3B8"/>
                </a:solidFill>
                <a:latin typeface="맑은 고딕"/>
                <a:ea typeface="맑은 고딕"/>
                <a:cs typeface="맑은 고딕"/>
              </a:rPr>
              <a:t>평가셋</a:t>
            </a:r>
            <a:r>
              <a:rPr sz="1250" b="0" dirty="0">
                <a:solidFill>
                  <a:srgbClr val="94A3B8"/>
                </a:solidFill>
                <a:latin typeface="맑은 고딕"/>
                <a:ea typeface="맑은 고딕"/>
                <a:cs typeface="맑은 고딕"/>
              </a:rPr>
              <a:t> </a:t>
            </a:r>
            <a:r>
              <a:rPr sz="1250" b="0" dirty="0" err="1">
                <a:solidFill>
                  <a:srgbClr val="94A3B8"/>
                </a:solidFill>
                <a:latin typeface="맑은 고딕"/>
                <a:ea typeface="맑은 고딕"/>
                <a:cs typeface="맑은 고딕"/>
              </a:rPr>
              <a:t>균형화</a:t>
            </a:r>
            <a:r>
              <a:rPr sz="1250" b="0" dirty="0">
                <a:solidFill>
                  <a:srgbClr val="94A3B8"/>
                </a:solidFill>
                <a:latin typeface="맑은 고딕"/>
                <a:ea typeface="맑은 고딕"/>
                <a:cs typeface="맑은 고딕"/>
              </a:rPr>
              <a:t>)</a:t>
            </a:r>
          </a:p>
        </p:txBody>
      </p:sp>
      <p:sp>
        <p:nvSpPr>
          <p:cNvPr id="9" name="Rounded Rectangle 8"/>
          <p:cNvSpPr/>
          <p:nvPr/>
        </p:nvSpPr>
        <p:spPr>
          <a:xfrm>
            <a:off x="6858000" y="1848972"/>
            <a:ext cx="4739335" cy="2286000"/>
          </a:xfrm>
          <a:prstGeom prst="roundRect">
            <a:avLst>
              <a:gd name="adj" fmla="val 7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350" b="1">
                <a:solidFill>
                  <a:srgbClr val="475569"/>
                </a:solidFill>
                <a:latin typeface="맑은 고딕"/>
                <a:ea typeface="맑은 고딕"/>
                <a:cs typeface="맑은 고딕"/>
              </a:rPr>
              <a:t>같은 조건, 알고리즘만 교체</a:t>
            </a:r>
          </a:p>
          <a:p>
            <a:pPr algn="ctr">
              <a:lnSpc>
                <a:spcPct val="104000"/>
              </a:lnSpc>
              <a:spcBef>
                <a:spcPts val="800"/>
              </a:spcBef>
            </a:pPr>
            <a:r>
              <a:rPr sz="2400" b="1">
                <a:solidFill>
                  <a:srgbClr val="2563EB"/>
                </a:solidFill>
                <a:latin typeface="맑은 고딕"/>
                <a:ea typeface="맑은 고딕"/>
                <a:cs typeface="맑은 고딕"/>
              </a:rPr>
              <a:t>LogReg 79.8%</a:t>
            </a:r>
          </a:p>
          <a:p>
            <a:pPr algn="ctr">
              <a:lnSpc>
                <a:spcPct val="104000"/>
              </a:lnSpc>
              <a:spcBef>
                <a:spcPts val="200"/>
              </a:spcBef>
            </a:pPr>
            <a:r>
              <a:rPr sz="1300" b="0">
                <a:solidFill>
                  <a:srgbClr val="94A3B8"/>
                </a:solidFill>
                <a:latin typeface="맑은 고딕"/>
                <a:ea typeface="맑은 고딕"/>
                <a:cs typeface="맑은 고딕"/>
              </a:rPr>
              <a:t>vs</a:t>
            </a:r>
          </a:p>
          <a:p>
            <a:pPr algn="ctr">
              <a:lnSpc>
                <a:spcPct val="104000"/>
              </a:lnSpc>
              <a:spcBef>
                <a:spcPts val="200"/>
              </a:spcBef>
            </a:pPr>
            <a:r>
              <a:rPr sz="1900" b="1">
                <a:solidFill>
                  <a:srgbClr val="475569"/>
                </a:solidFill>
                <a:latin typeface="맑은 고딕"/>
                <a:ea typeface="맑은 고딕"/>
                <a:cs typeface="맑은 고딕"/>
              </a:rPr>
              <a:t>MLP(은닉128) 67.9%</a:t>
            </a:r>
          </a:p>
        </p:txBody>
      </p:sp>
      <p:sp>
        <p:nvSpPr>
          <p:cNvPr id="10" name="Rounded Rectangle 9"/>
          <p:cNvSpPr/>
          <p:nvPr/>
        </p:nvSpPr>
        <p:spPr>
          <a:xfrm>
            <a:off x="6858000" y="4363572"/>
            <a:ext cx="4739335" cy="137160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37744" tIns="54864" rIns="146304" bIns="54864" rtlCol="0" anchor="ctr"/>
          <a:lstStyle/>
          <a:p>
            <a:pPr algn="l">
              <a:lnSpc>
                <a:spcPct val="104000"/>
              </a:lnSpc>
            </a:pPr>
            <a:r>
              <a:rPr sz="1550" b="1">
                <a:solidFill>
                  <a:srgbClr val="B45309"/>
                </a:solidFill>
                <a:latin typeface="맑은 고딕"/>
                <a:ea typeface="맑은 고딕"/>
                <a:cs typeface="맑은 고딕"/>
              </a:rPr>
              <a:t>클래스당 5개 소규모 → 선형이 승</a:t>
            </a:r>
          </a:p>
          <a:p>
            <a:pPr algn="l">
              <a:lnSpc>
                <a:spcPct val="104000"/>
              </a:lnSpc>
              <a:spcBef>
                <a:spcPts val="500"/>
              </a:spcBef>
            </a:pPr>
            <a:r>
              <a:rPr sz="1350" b="0">
                <a:solidFill>
                  <a:srgbClr val="475569"/>
                </a:solidFill>
                <a:latin typeface="맑은 고딕"/>
                <a:ea typeface="맑은 고딕"/>
                <a:cs typeface="맑은 고딕"/>
              </a:rPr>
              <a:t>배포도 LogReg — 브라우저 W·x+b 추론과 호환</a:t>
            </a:r>
          </a:p>
        </p:txBody>
      </p:sp>
      <p:sp>
        <p:nvSpPr>
          <p:cNvPr id="11" name="TextBox 10"/>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12" name="TextBox 11"/>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07</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lang="en-US" sz="3000" b="1" dirty="0">
                <a:solidFill>
                  <a:srgbClr val="0F172A"/>
                </a:solidFill>
                <a:latin typeface="맑은 고딕"/>
                <a:ea typeface="맑은 고딕"/>
                <a:cs typeface="맑은 고딕"/>
              </a:rPr>
              <a:t>Dataset Card </a:t>
            </a:r>
            <a:r>
              <a:rPr sz="3000" b="1" dirty="0">
                <a:solidFill>
                  <a:srgbClr val="0F172A"/>
                </a:solidFill>
                <a:latin typeface="맑은 고딕"/>
                <a:ea typeface="맑은 고딕"/>
                <a:cs typeface="맑은 고딕"/>
              </a:rPr>
              <a:t>— </a:t>
            </a:r>
            <a:r>
              <a:rPr sz="3000" b="1" dirty="0" err="1">
                <a:solidFill>
                  <a:srgbClr val="0F172A"/>
                </a:solidFill>
                <a:latin typeface="맑은 고딕"/>
                <a:ea typeface="맑은 고딕"/>
                <a:cs typeface="맑은 고딕"/>
              </a:rPr>
              <a:t>균형</a:t>
            </a:r>
            <a:r>
              <a:rPr sz="3000" b="1" dirty="0">
                <a:solidFill>
                  <a:srgbClr val="0F172A"/>
                </a:solidFill>
                <a:latin typeface="맑은 고딕"/>
                <a:ea typeface="맑은 고딕"/>
                <a:cs typeface="맑은 고딕"/>
              </a:rPr>
              <a:t> · </a:t>
            </a:r>
            <a:r>
              <a:rPr sz="3000" b="1" dirty="0" err="1">
                <a:solidFill>
                  <a:srgbClr val="0F172A"/>
                </a:solidFill>
                <a:latin typeface="맑은 고딕"/>
                <a:ea typeface="맑은 고딕"/>
                <a:cs typeface="맑은 고딕"/>
              </a:rPr>
              <a:t>난이도</a:t>
            </a:r>
            <a:r>
              <a:rPr sz="3000" b="1" dirty="0">
                <a:solidFill>
                  <a:srgbClr val="0F172A"/>
                </a:solidFill>
                <a:latin typeface="맑은 고딕"/>
                <a:ea typeface="맑은 고딕"/>
                <a:cs typeface="맑은 고딕"/>
              </a:rPr>
              <a:t> · </a:t>
            </a:r>
            <a:r>
              <a:rPr sz="3000" b="1" dirty="0" err="1">
                <a:solidFill>
                  <a:srgbClr val="0F172A"/>
                </a:solidFill>
                <a:latin typeface="맑은 고딕"/>
                <a:ea typeface="맑은 고딕"/>
                <a:cs typeface="맑은 고딕"/>
              </a:rPr>
              <a:t>단일</a:t>
            </a:r>
            <a:r>
              <a:rPr sz="3000" b="1" dirty="0">
                <a:solidFill>
                  <a:srgbClr val="0F172A"/>
                </a:solidFill>
                <a:latin typeface="맑은 고딕"/>
                <a:ea typeface="맑은 고딕"/>
                <a:cs typeface="맑은 고딕"/>
              </a:rPr>
              <a:t> </a:t>
            </a:r>
            <a:r>
              <a:rPr sz="3000" b="1" dirty="0" err="1">
                <a:solidFill>
                  <a:srgbClr val="0F172A"/>
                </a:solidFill>
                <a:latin typeface="맑은 고딕"/>
                <a:ea typeface="맑은 고딕"/>
                <a:cs typeface="맑은 고딕"/>
              </a:rPr>
              <a:t>출처</a:t>
            </a:r>
            <a:endParaRPr sz="3000" b="1" dirty="0">
              <a:solidFill>
                <a:srgbClr val="0F172A"/>
              </a:solidFill>
              <a:latin typeface="맑은 고딕"/>
              <a:ea typeface="맑은 고딕"/>
              <a:cs typeface="맑은 고딕"/>
            </a:endParaRP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783080"/>
            <a:ext cx="2545003" cy="1051560"/>
          </a:xfrm>
          <a:prstGeom prst="roundRect">
            <a:avLst>
              <a:gd name="adj" fmla="val 7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2600" b="1">
                <a:solidFill>
                  <a:srgbClr val="0F172A"/>
                </a:solidFill>
                <a:latin typeface="맑은 고딕"/>
                <a:ea typeface="맑은 고딕"/>
                <a:cs typeface="맑은 고딕"/>
              </a:rPr>
              <a:t>84</a:t>
            </a:r>
          </a:p>
          <a:p>
            <a:pPr algn="ctr">
              <a:lnSpc>
                <a:spcPct val="104000"/>
              </a:lnSpc>
              <a:spcBef>
                <a:spcPts val="300"/>
              </a:spcBef>
            </a:pPr>
            <a:r>
              <a:rPr sz="1250" b="0">
                <a:solidFill>
                  <a:srgbClr val="475569"/>
                </a:solidFill>
                <a:latin typeface="맑은 고딕"/>
                <a:ea typeface="맑은 고딕"/>
                <a:cs typeface="맑은 고딕"/>
              </a:rPr>
              <a:t>평가셋 (16개 도메인 × 5 균형)</a:t>
            </a:r>
          </a:p>
        </p:txBody>
      </p:sp>
      <p:sp>
        <p:nvSpPr>
          <p:cNvPr id="6" name="Rounded Rectangle 5"/>
          <p:cNvSpPr/>
          <p:nvPr/>
        </p:nvSpPr>
        <p:spPr>
          <a:xfrm>
            <a:off x="3413683" y="1783080"/>
            <a:ext cx="2545003" cy="1051560"/>
          </a:xfrm>
          <a:prstGeom prst="roundRect">
            <a:avLst>
              <a:gd name="adj" fmla="val 7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2600" b="1" dirty="0">
                <a:solidFill>
                  <a:srgbClr val="0F172A"/>
                </a:solidFill>
                <a:latin typeface="맑은 고딕"/>
                <a:ea typeface="맑은 고딕"/>
                <a:cs typeface="맑은 고딕"/>
              </a:rPr>
              <a:t>30</a:t>
            </a:r>
          </a:p>
          <a:p>
            <a:pPr algn="ctr">
              <a:lnSpc>
                <a:spcPct val="104000"/>
              </a:lnSpc>
              <a:spcBef>
                <a:spcPts val="300"/>
              </a:spcBef>
            </a:pPr>
            <a:r>
              <a:rPr sz="1250" b="0" dirty="0" err="1">
                <a:solidFill>
                  <a:srgbClr val="475569"/>
                </a:solidFill>
                <a:latin typeface="맑은 고딕"/>
                <a:ea typeface="맑은 고딕"/>
                <a:cs typeface="맑은 고딕"/>
              </a:rPr>
              <a:t>실제</a:t>
            </a:r>
            <a:r>
              <a:rPr sz="1250" b="0" dirty="0">
                <a:solidFill>
                  <a:srgbClr val="475569"/>
                </a:solidFill>
                <a:latin typeface="맑은 고딕"/>
                <a:ea typeface="맑은 고딕"/>
                <a:cs typeface="맑은 고딕"/>
              </a:rPr>
              <a:t> </a:t>
            </a:r>
            <a:r>
              <a:rPr sz="1250" b="0" dirty="0" err="1">
                <a:solidFill>
                  <a:srgbClr val="475569"/>
                </a:solidFill>
                <a:latin typeface="맑은 고딕"/>
                <a:ea typeface="맑은 고딕"/>
                <a:cs typeface="맑은 고딕"/>
              </a:rPr>
              <a:t>자소서</a:t>
            </a:r>
            <a:r>
              <a:rPr sz="1250" b="0" dirty="0">
                <a:solidFill>
                  <a:srgbClr val="475569"/>
                </a:solidFill>
                <a:latin typeface="맑은 고딕"/>
                <a:ea typeface="맑은 고딕"/>
                <a:cs typeface="맑은 고딕"/>
              </a:rPr>
              <a:t> PDF</a:t>
            </a:r>
          </a:p>
        </p:txBody>
      </p:sp>
      <p:sp>
        <p:nvSpPr>
          <p:cNvPr id="7" name="Rounded Rectangle 6"/>
          <p:cNvSpPr/>
          <p:nvPr/>
        </p:nvSpPr>
        <p:spPr>
          <a:xfrm>
            <a:off x="6233007" y="1783080"/>
            <a:ext cx="2545003" cy="1051560"/>
          </a:xfrm>
          <a:prstGeom prst="roundRect">
            <a:avLst>
              <a:gd name="adj" fmla="val 7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2600" b="1">
                <a:solidFill>
                  <a:srgbClr val="0F172A"/>
                </a:solidFill>
                <a:latin typeface="맑은 고딕"/>
                <a:ea typeface="맑은 고딕"/>
                <a:cs typeface="맑은 고딕"/>
              </a:rPr>
              <a:t>130</a:t>
            </a:r>
          </a:p>
          <a:p>
            <a:pPr algn="ctr">
              <a:lnSpc>
                <a:spcPct val="104000"/>
              </a:lnSpc>
              <a:spcBef>
                <a:spcPts val="300"/>
              </a:spcBef>
            </a:pPr>
            <a:r>
              <a:rPr sz="1250" b="0">
                <a:solidFill>
                  <a:srgbClr val="475569"/>
                </a:solidFill>
                <a:latin typeface="맑은 고딕"/>
                <a:ea typeface="맑은 고딕"/>
                <a:cs typeface="맑은 고딕"/>
              </a:rPr>
              <a:t>사전계산 SBERT 임베딩</a:t>
            </a:r>
          </a:p>
        </p:txBody>
      </p:sp>
      <p:sp>
        <p:nvSpPr>
          <p:cNvPr id="8" name="Rounded Rectangle 7"/>
          <p:cNvSpPr/>
          <p:nvPr/>
        </p:nvSpPr>
        <p:spPr>
          <a:xfrm>
            <a:off x="9052331" y="1783080"/>
            <a:ext cx="2545003" cy="1051560"/>
          </a:xfrm>
          <a:prstGeom prst="roundRect">
            <a:avLst>
              <a:gd name="adj" fmla="val 7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2600" b="1">
                <a:solidFill>
                  <a:srgbClr val="0F172A"/>
                </a:solidFill>
                <a:latin typeface="맑은 고딕"/>
                <a:ea typeface="맑은 고딕"/>
                <a:cs typeface="맑은 고딕"/>
              </a:rPr>
              <a:t>600+</a:t>
            </a:r>
          </a:p>
          <a:p>
            <a:pPr algn="ctr">
              <a:lnSpc>
                <a:spcPct val="104000"/>
              </a:lnSpc>
              <a:spcBef>
                <a:spcPts val="300"/>
              </a:spcBef>
            </a:pPr>
            <a:r>
              <a:rPr sz="1250" b="0">
                <a:solidFill>
                  <a:srgbClr val="475569"/>
                </a:solidFill>
                <a:latin typeface="맑은 고딕"/>
                <a:ea typeface="맑은 고딕"/>
                <a:cs typeface="맑은 고딕"/>
              </a:rPr>
              <a:t>도메인 키워드 사전</a:t>
            </a:r>
          </a:p>
        </p:txBody>
      </p:sp>
      <p:sp>
        <p:nvSpPr>
          <p:cNvPr id="9" name="TextBox 8"/>
          <p:cNvSpPr txBox="1"/>
          <p:nvPr/>
        </p:nvSpPr>
        <p:spPr>
          <a:xfrm>
            <a:off x="594360" y="3200400"/>
            <a:ext cx="11002975" cy="320040"/>
          </a:xfrm>
          <a:prstGeom prst="rect">
            <a:avLst/>
          </a:prstGeom>
          <a:noFill/>
        </p:spPr>
        <p:txBody>
          <a:bodyPr wrap="square" lIns="0" tIns="0" rIns="0" bIns="0" anchor="t">
            <a:spAutoFit/>
          </a:bodyPr>
          <a:lstStyle/>
          <a:p>
            <a:pPr algn="l">
              <a:lnSpc>
                <a:spcPct val="104000"/>
              </a:lnSpc>
            </a:pPr>
            <a:r>
              <a:rPr sz="1600" b="1">
                <a:solidFill>
                  <a:srgbClr val="0F172A"/>
                </a:solidFill>
                <a:latin typeface="맑은 고딕"/>
                <a:ea typeface="맑은 고딕"/>
                <a:cs typeface="맑은 고딕"/>
              </a:rPr>
              <a:t>평가셋 구성 — 쉬운 문장만 넣지 않았다</a:t>
            </a:r>
          </a:p>
        </p:txBody>
      </p:sp>
      <p:sp>
        <p:nvSpPr>
          <p:cNvPr id="10" name="Rectangle 9"/>
          <p:cNvSpPr/>
          <p:nvPr/>
        </p:nvSpPr>
        <p:spPr>
          <a:xfrm>
            <a:off x="594360" y="3611880"/>
            <a:ext cx="7971967" cy="457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3657600"/>
            <a:ext cx="7971967" cy="365760"/>
          </a:xfrm>
          <a:prstGeom prst="rect">
            <a:avLst/>
          </a:prstGeom>
          <a:noFill/>
        </p:spPr>
        <p:txBody>
          <a:bodyPr wrap="square" lIns="0" tIns="0" rIns="0" bIns="0" anchor="t">
            <a:spAutoFit/>
          </a:bodyPr>
          <a:lstStyle/>
          <a:p>
            <a:pPr algn="ctr">
              <a:lnSpc>
                <a:spcPct val="104000"/>
              </a:lnSpc>
            </a:pPr>
            <a:r>
              <a:rPr sz="1400" b="1">
                <a:solidFill>
                  <a:srgbClr val="FFFFFF"/>
                </a:solidFill>
                <a:latin typeface="맑은 고딕"/>
                <a:ea typeface="맑은 고딕"/>
                <a:cs typeface="맑은 고딕"/>
              </a:rPr>
              <a:t>61</a:t>
            </a:r>
          </a:p>
        </p:txBody>
      </p:sp>
      <p:sp>
        <p:nvSpPr>
          <p:cNvPr id="12" name="Rectangle 11"/>
          <p:cNvSpPr/>
          <p:nvPr/>
        </p:nvSpPr>
        <p:spPr>
          <a:xfrm>
            <a:off x="8584615" y="3611880"/>
            <a:ext cx="1422577" cy="4572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84615" y="3657600"/>
            <a:ext cx="1422577" cy="365760"/>
          </a:xfrm>
          <a:prstGeom prst="rect">
            <a:avLst/>
          </a:prstGeom>
          <a:noFill/>
        </p:spPr>
        <p:txBody>
          <a:bodyPr wrap="square" lIns="0" tIns="0" rIns="0" bIns="0" anchor="t">
            <a:spAutoFit/>
          </a:bodyPr>
          <a:lstStyle/>
          <a:p>
            <a:pPr algn="ctr">
              <a:lnSpc>
                <a:spcPct val="104000"/>
              </a:lnSpc>
            </a:pPr>
            <a:r>
              <a:rPr sz="1400" b="1">
                <a:solidFill>
                  <a:srgbClr val="FFFFFF"/>
                </a:solidFill>
                <a:latin typeface="맑은 고딕"/>
                <a:ea typeface="맑은 고딕"/>
                <a:cs typeface="맑은 고딕"/>
              </a:rPr>
              <a:t>11</a:t>
            </a:r>
          </a:p>
        </p:txBody>
      </p:sp>
      <p:sp>
        <p:nvSpPr>
          <p:cNvPr id="14" name="Rectangle 13"/>
          <p:cNvSpPr/>
          <p:nvPr/>
        </p:nvSpPr>
        <p:spPr>
          <a:xfrm>
            <a:off x="10025481" y="3611880"/>
            <a:ext cx="1029614" cy="4572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25481" y="3657600"/>
            <a:ext cx="1029614" cy="365760"/>
          </a:xfrm>
          <a:prstGeom prst="rect">
            <a:avLst/>
          </a:prstGeom>
          <a:noFill/>
        </p:spPr>
        <p:txBody>
          <a:bodyPr wrap="square" lIns="0" tIns="0" rIns="0" bIns="0" anchor="t">
            <a:spAutoFit/>
          </a:bodyPr>
          <a:lstStyle/>
          <a:p>
            <a:pPr algn="ctr">
              <a:lnSpc>
                <a:spcPct val="104000"/>
              </a:lnSpc>
            </a:pPr>
            <a:r>
              <a:rPr sz="1400" b="1">
                <a:solidFill>
                  <a:srgbClr val="FFFFFF"/>
                </a:solidFill>
                <a:latin typeface="맑은 고딕"/>
                <a:ea typeface="맑은 고딕"/>
                <a:cs typeface="맑은 고딕"/>
              </a:rPr>
              <a:t>8</a:t>
            </a:r>
          </a:p>
        </p:txBody>
      </p:sp>
      <p:sp>
        <p:nvSpPr>
          <p:cNvPr id="16" name="Rectangle 15"/>
          <p:cNvSpPr/>
          <p:nvPr/>
        </p:nvSpPr>
        <p:spPr>
          <a:xfrm>
            <a:off x="11073384" y="3611880"/>
            <a:ext cx="505663" cy="457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4224528"/>
            <a:ext cx="11002975" cy="320040"/>
          </a:xfrm>
          <a:prstGeom prst="rect">
            <a:avLst/>
          </a:prstGeom>
          <a:noFill/>
        </p:spPr>
        <p:txBody>
          <a:bodyPr wrap="square" lIns="0" tIns="0" rIns="0" bIns="0" anchor="t">
            <a:spAutoFit/>
          </a:bodyPr>
          <a:lstStyle/>
          <a:p>
            <a:pPr algn="l">
              <a:lnSpc>
                <a:spcPct val="104000"/>
              </a:lnSpc>
            </a:pPr>
            <a:r>
              <a:rPr sz="1200" b="0">
                <a:solidFill>
                  <a:srgbClr val="2563EB"/>
                </a:solidFill>
                <a:latin typeface="맑은 고딕"/>
                <a:ea typeface="맑은 고딕"/>
                <a:cs typeface="맑은 고딕"/>
              </a:rPr>
              <a:t>■ </a:t>
            </a:r>
            <a:r>
              <a:rPr sz="1300" b="0">
                <a:solidFill>
                  <a:srgbClr val="475569"/>
                </a:solidFill>
                <a:latin typeface="맑은 고딕"/>
                <a:ea typeface="맑은 고딕"/>
                <a:cs typeface="맑은 고딕"/>
              </a:rPr>
              <a:t>synthetic 61    </a:t>
            </a:r>
            <a:r>
              <a:rPr sz="1200" b="0">
                <a:solidFill>
                  <a:srgbClr val="60A5FA"/>
                </a:solidFill>
                <a:latin typeface="맑은 고딕"/>
                <a:ea typeface="맑은 고딕"/>
                <a:cs typeface="맑은 고딕"/>
              </a:rPr>
              <a:t>■ </a:t>
            </a:r>
            <a:r>
              <a:rPr sz="1300" b="0">
                <a:solidFill>
                  <a:srgbClr val="475569"/>
                </a:solidFill>
                <a:latin typeface="맑은 고딕"/>
                <a:ea typeface="맑은 고딕"/>
                <a:cs typeface="맑은 고딕"/>
              </a:rPr>
              <a:t>lexical_gap 11 — 키워드 없이 의미로만 판단    </a:t>
            </a:r>
            <a:r>
              <a:rPr sz="1200" b="0">
                <a:solidFill>
                  <a:srgbClr val="B45309"/>
                </a:solidFill>
                <a:latin typeface="맑은 고딕"/>
                <a:ea typeface="맑은 고딕"/>
                <a:cs typeface="맑은 고딕"/>
              </a:rPr>
              <a:t>■ </a:t>
            </a:r>
            <a:r>
              <a:rPr sz="1300" b="0">
                <a:solidFill>
                  <a:srgbClr val="475569"/>
                </a:solidFill>
                <a:latin typeface="맑은 고딕"/>
                <a:ea typeface="맑은 고딕"/>
                <a:cs typeface="맑은 고딕"/>
              </a:rPr>
              <a:t>stress_test 8 — 도메인 혼재    </a:t>
            </a:r>
            <a:r>
              <a:rPr sz="1200" b="0">
                <a:solidFill>
                  <a:srgbClr val="CBD5E1"/>
                </a:solidFill>
                <a:latin typeface="맑은 고딕"/>
                <a:ea typeface="맑은 고딕"/>
                <a:cs typeface="맑은 고딕"/>
              </a:rPr>
              <a:t>■ </a:t>
            </a:r>
            <a:r>
              <a:rPr sz="1300" b="0">
                <a:solidFill>
                  <a:srgbClr val="475569"/>
                </a:solidFill>
                <a:latin typeface="맑은 고딕"/>
                <a:ea typeface="맑은 고딕"/>
                <a:cs typeface="맑은 고딕"/>
              </a:rPr>
              <a:t>negative 4</a:t>
            </a:r>
          </a:p>
        </p:txBody>
      </p:sp>
      <p:sp>
        <p:nvSpPr>
          <p:cNvPr id="18" name="Rounded Rectangle 17"/>
          <p:cNvSpPr/>
          <p:nvPr/>
        </p:nvSpPr>
        <p:spPr>
          <a:xfrm>
            <a:off x="594360" y="4892040"/>
            <a:ext cx="11002975" cy="105156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92608" tIns="54864" rIns="146304" bIns="54864" rtlCol="0" anchor="ctr"/>
          <a:lstStyle/>
          <a:p>
            <a:pPr algn="l">
              <a:lnSpc>
                <a:spcPct val="104000"/>
              </a:lnSpc>
            </a:pPr>
            <a:r>
              <a:rPr sz="1550" b="1">
                <a:solidFill>
                  <a:srgbClr val="1E3A8A"/>
                </a:solidFill>
                <a:latin typeface="맑은 고딕"/>
                <a:ea typeface="맑은 고딕"/>
                <a:cs typeface="맑은 고딕"/>
              </a:rPr>
              <a:t>단일 출처 원칙 — </a:t>
            </a:r>
            <a:r>
              <a:rPr sz="1550" b="0">
                <a:solidFill>
                  <a:srgbClr val="0F172A"/>
                </a:solidFill>
                <a:latin typeface="맑은 고딕"/>
                <a:ea typeface="맑은 고딕"/>
                <a:cs typeface="맑은 고딕"/>
              </a:rPr>
              <a:t>evaluationDataset.js → exportEvalDataset.mjs → JSON 자동 생성</a:t>
            </a:r>
          </a:p>
          <a:p>
            <a:pPr algn="l">
              <a:lnSpc>
                <a:spcPct val="104000"/>
              </a:lnSpc>
              <a:spcBef>
                <a:spcPts val="500"/>
              </a:spcBef>
            </a:pPr>
            <a:r>
              <a:rPr sz="1350" b="0">
                <a:solidFill>
                  <a:srgbClr val="475569"/>
                </a:solidFill>
                <a:latin typeface="맑은 고딕"/>
                <a:ea typeface="맑은 고딕"/>
                <a:cs typeface="맑은 고딕"/>
              </a:rPr>
              <a:t>앱·Python 학습·평가 스크립트가 항상 같은 데이터를 본다 (수동 동기화 폐지)</a:t>
            </a:r>
          </a:p>
        </p:txBody>
      </p:sp>
      <p:sp>
        <p:nvSpPr>
          <p:cNvPr id="19" name="Rectangle 18"/>
          <p:cNvSpPr/>
          <p:nvPr/>
        </p:nvSpPr>
        <p:spPr>
          <a:xfrm>
            <a:off x="594360" y="5029200"/>
            <a:ext cx="45720" cy="7772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21" name="TextBox 20"/>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08</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sz="3000" b="1" dirty="0">
                <a:solidFill>
                  <a:srgbClr val="0F172A"/>
                </a:solidFill>
                <a:latin typeface="맑은 고딕"/>
                <a:ea typeface="맑은 고딕"/>
                <a:cs typeface="맑은 고딕"/>
              </a:rPr>
              <a:t>7-way Ablation — </a:t>
            </a:r>
            <a:r>
              <a:rPr sz="3000" b="1" dirty="0" err="1">
                <a:solidFill>
                  <a:srgbClr val="0F172A"/>
                </a:solidFill>
                <a:latin typeface="맑은 고딕"/>
                <a:ea typeface="맑은 고딕"/>
                <a:cs typeface="맑은 고딕"/>
              </a:rPr>
              <a:t>같은</a:t>
            </a:r>
            <a:r>
              <a:rPr sz="3000" b="1" dirty="0">
                <a:solidFill>
                  <a:srgbClr val="0F172A"/>
                </a:solidFill>
                <a:latin typeface="맑은 고딕"/>
                <a:ea typeface="맑은 고딕"/>
                <a:cs typeface="맑은 고딕"/>
              </a:rPr>
              <a:t> </a:t>
            </a:r>
            <a:r>
              <a:rPr sz="3000" b="1" dirty="0" err="1">
                <a:solidFill>
                  <a:srgbClr val="0F172A"/>
                </a:solidFill>
                <a:latin typeface="맑은 고딕"/>
                <a:ea typeface="맑은 고딕"/>
                <a:cs typeface="맑은 고딕"/>
              </a:rPr>
              <a:t>조건</a:t>
            </a:r>
            <a:r>
              <a:rPr sz="3000" b="1" dirty="0">
                <a:solidFill>
                  <a:srgbClr val="0F172A"/>
                </a:solidFill>
                <a:latin typeface="맑은 고딕"/>
                <a:ea typeface="맑은 고딕"/>
                <a:cs typeface="맑은 고딕"/>
              </a:rPr>
              <a:t>, 7가지 </a:t>
            </a:r>
            <a:r>
              <a:rPr sz="3000" b="1" dirty="0" err="1">
                <a:solidFill>
                  <a:srgbClr val="0F172A"/>
                </a:solidFill>
                <a:latin typeface="맑은 고딕"/>
                <a:ea typeface="맑은 고딕"/>
                <a:cs typeface="맑은 고딕"/>
              </a:rPr>
              <a:t>방법</a:t>
            </a:r>
            <a:r>
              <a:rPr sz="2100" b="1" dirty="0">
                <a:solidFill>
                  <a:srgbClr val="B45309"/>
                </a:solidFill>
                <a:latin typeface="맑은 고딕"/>
                <a:ea typeface="맑은 고딕"/>
                <a:cs typeface="맑은 고딕"/>
              </a:rPr>
              <a:t> </a:t>
            </a: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755648"/>
          <a:ext cx="11002975" cy="3977639"/>
        </p:xfrm>
        <a:graphic>
          <a:graphicData uri="http://schemas.openxmlformats.org/drawingml/2006/table">
            <a:tbl>
              <a:tblPr firstRow="1" bandRow="1">
                <a:tableStyleId>{2D5ABB26-0587-4C30-8999-92F81FD0307C}</a:tableStyleId>
              </a:tblPr>
              <a:tblGrid>
                <a:gridCol w="40233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538935">
                  <a:extLst>
                    <a:ext uri="{9D8B030D-6E8A-4147-A177-3AD203B41FA5}">
                      <a16:colId xmlns:a16="http://schemas.microsoft.com/office/drawing/2014/main" val="20004"/>
                    </a:ext>
                  </a:extLst>
                </a:gridCol>
              </a:tblGrid>
              <a:tr h="497204">
                <a:tc>
                  <a:txBody>
                    <a:bodyPr/>
                    <a:lstStyle/>
                    <a:p>
                      <a:pPr algn="l"/>
                      <a:r>
                        <a:rPr sz="1400" b="1">
                          <a:solidFill>
                            <a:srgbClr val="1E3A8A"/>
                          </a:solidFill>
                          <a:latin typeface="맑은 고딕"/>
                          <a:ea typeface="맑은 고딕"/>
                          <a:cs typeface="맑은 고딕"/>
                        </a:rPr>
                        <a:t>방법</a:t>
                      </a:r>
                    </a:p>
                  </a:txBody>
                  <a:tcPr marL="101600" marR="50800" marT="63500" marB="63500" anchor="ctr">
                    <a:lnB w="25400" cap="flat">
                      <a:solidFill>
                        <a:srgbClr val="1E3A8A"/>
                      </a:solidFill>
                    </a:lnB>
                    <a:solidFill>
                      <a:srgbClr val="FFFFFF"/>
                    </a:solidFill>
                  </a:tcPr>
                </a:tc>
                <a:tc>
                  <a:txBody>
                    <a:bodyPr/>
                    <a:lstStyle/>
                    <a:p>
                      <a:pPr algn="ctr"/>
                      <a:r>
                        <a:rPr sz="1400" b="1">
                          <a:solidFill>
                            <a:srgbClr val="1E3A8A"/>
                          </a:solidFill>
                          <a:latin typeface="맑은 고딕"/>
                          <a:ea typeface="맑은 고딕"/>
                          <a:cs typeface="맑은 고딕"/>
                        </a:rPr>
                        <a:t>Accuracy</a:t>
                      </a:r>
                    </a:p>
                  </a:txBody>
                  <a:tcPr marL="101600" marR="50800" marT="63500" marB="63500" anchor="ctr">
                    <a:lnB w="25400" cap="flat">
                      <a:solidFill>
                        <a:srgbClr val="1E3A8A"/>
                      </a:solidFill>
                    </a:lnB>
                    <a:solidFill>
                      <a:srgbClr val="FFFFFF"/>
                    </a:solidFill>
                  </a:tcPr>
                </a:tc>
                <a:tc>
                  <a:txBody>
                    <a:bodyPr/>
                    <a:lstStyle/>
                    <a:p>
                      <a:pPr algn="ctr"/>
                      <a:r>
                        <a:rPr sz="1400" b="1">
                          <a:solidFill>
                            <a:srgbClr val="1E3A8A"/>
                          </a:solidFill>
                          <a:latin typeface="맑은 고딕"/>
                          <a:ea typeface="맑은 고딕"/>
                          <a:cs typeface="맑은 고딕"/>
                        </a:rPr>
                        <a:t>95% CI</a:t>
                      </a:r>
                    </a:p>
                  </a:txBody>
                  <a:tcPr marL="101600" marR="50800" marT="63500" marB="63500" anchor="ctr">
                    <a:lnB w="25400" cap="flat">
                      <a:solidFill>
                        <a:srgbClr val="1E3A8A"/>
                      </a:solidFill>
                    </a:lnB>
                    <a:solidFill>
                      <a:srgbClr val="FFFFFF"/>
                    </a:solidFill>
                  </a:tcPr>
                </a:tc>
                <a:tc>
                  <a:txBody>
                    <a:bodyPr/>
                    <a:lstStyle/>
                    <a:p>
                      <a:pPr algn="ctr"/>
                      <a:r>
                        <a:rPr sz="1400" b="1">
                          <a:solidFill>
                            <a:srgbClr val="1E3A8A"/>
                          </a:solidFill>
                          <a:latin typeface="맑은 고딕"/>
                          <a:ea typeface="맑은 고딕"/>
                          <a:cs typeface="맑은 고딕"/>
                        </a:rPr>
                        <a:t>Macro F1</a:t>
                      </a:r>
                    </a:p>
                  </a:txBody>
                  <a:tcPr marL="101600" marR="50800" marT="63500" marB="63500" anchor="ctr">
                    <a:lnB w="25400" cap="flat">
                      <a:solidFill>
                        <a:srgbClr val="1E3A8A"/>
                      </a:solidFill>
                    </a:lnB>
                    <a:solidFill>
                      <a:srgbClr val="FFFFFF"/>
                    </a:solidFill>
                  </a:tcPr>
                </a:tc>
                <a:tc>
                  <a:txBody>
                    <a:bodyPr/>
                    <a:lstStyle/>
                    <a:p>
                      <a:pPr algn="ctr"/>
                      <a:r>
                        <a:rPr sz="1400" b="1">
                          <a:solidFill>
                            <a:srgbClr val="1E3A8A"/>
                          </a:solidFill>
                          <a:latin typeface="맑은 고딕"/>
                          <a:ea typeface="맑은 고딕"/>
                          <a:cs typeface="맑은 고딕"/>
                        </a:rPr>
                        <a:t>Coverage</a:t>
                      </a:r>
                    </a:p>
                  </a:txBody>
                  <a:tcPr marL="101600" marR="50800" marT="63500" marB="63500" anchor="ctr">
                    <a:lnB w="25400" cap="flat">
                      <a:solidFill>
                        <a:srgbClr val="1E3A8A"/>
                      </a:solidFill>
                    </a:lnB>
                    <a:solidFill>
                      <a:srgbClr val="FFFFFF"/>
                    </a:solidFill>
                  </a:tcPr>
                </a:tc>
                <a:extLst>
                  <a:ext uri="{0D108BD9-81ED-4DB2-BD59-A6C34878D82A}">
                    <a16:rowId xmlns:a16="http://schemas.microsoft.com/office/drawing/2014/main" val="10000"/>
                  </a:ext>
                </a:extLst>
              </a:tr>
              <a:tr h="497204">
                <a:tc>
                  <a:txBody>
                    <a:bodyPr/>
                    <a:lstStyle/>
                    <a:p>
                      <a:pPr algn="l"/>
                      <a:r>
                        <a:rPr sz="1400" b="0">
                          <a:solidFill>
                            <a:srgbClr val="0F172A"/>
                          </a:solidFill>
                          <a:latin typeface="맑은 고딕"/>
                          <a:ea typeface="맑은 고딕"/>
                          <a:cs typeface="맑은 고딕"/>
                        </a:rPr>
                        <a:t>Keyword-only</a:t>
                      </a:r>
                    </a:p>
                  </a:txBody>
                  <a:tcPr marL="101600" marR="50800" marT="50800" marB="50800" anchor="ctr">
                    <a:lnT w="25400" cap="flat" cmpd="sng" algn="ctr">
                      <a:solidFill>
                        <a:srgbClr val="1E3A8A"/>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86.9%</a:t>
                      </a:r>
                    </a:p>
                  </a:txBody>
                  <a:tcPr marL="101600" marR="50800" marT="50800" marB="50800" anchor="ctr">
                    <a:lnT w="25400" cap="flat" cmpd="sng" algn="ctr">
                      <a:solidFill>
                        <a:srgbClr val="1E3A8A"/>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[79.8, 94.0]</a:t>
                      </a:r>
                    </a:p>
                  </a:txBody>
                  <a:tcPr marL="101600" marR="50800" marT="50800" marB="50800" anchor="ctr">
                    <a:lnT w="25400" cap="flat" cmpd="sng" algn="ctr">
                      <a:solidFill>
                        <a:srgbClr val="1E3A8A"/>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87.4%</a:t>
                      </a:r>
                    </a:p>
                  </a:txBody>
                  <a:tcPr marL="101600" marR="50800" marT="50800" marB="50800" anchor="ctr">
                    <a:lnT w="25400" cap="flat" cmpd="sng" algn="ctr">
                      <a:solidFill>
                        <a:srgbClr val="1E3A8A"/>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89.3%</a:t>
                      </a:r>
                    </a:p>
                  </a:txBody>
                  <a:tcPr marL="101600" marR="50800" marT="50800" marB="50800" anchor="ctr">
                    <a:lnT w="25400" cap="flat" cmpd="sng" algn="ctr">
                      <a:solidFill>
                        <a:srgbClr val="1E3A8A"/>
                      </a:solidFill>
                      <a:prstDash val="solid"/>
                      <a:round/>
                      <a:headEnd type="none" w="med" len="med"/>
                      <a:tailEnd type="none" w="med" len="med"/>
                    </a:lnT>
                    <a:lnB w="9525" cap="flat">
                      <a:solidFill>
                        <a:srgbClr val="E2E8F0"/>
                      </a:solidFill>
                    </a:lnB>
                    <a:solidFill>
                      <a:srgbClr val="FFFFFF"/>
                    </a:solidFill>
                  </a:tcPr>
                </a:tc>
                <a:extLst>
                  <a:ext uri="{0D108BD9-81ED-4DB2-BD59-A6C34878D82A}">
                    <a16:rowId xmlns:a16="http://schemas.microsoft.com/office/drawing/2014/main" val="10001"/>
                  </a:ext>
                </a:extLst>
              </a:tr>
              <a:tr h="497204">
                <a:tc>
                  <a:txBody>
                    <a:bodyPr/>
                    <a:lstStyle/>
                    <a:p>
                      <a:pPr algn="l"/>
                      <a:r>
                        <a:rPr sz="1400" b="0">
                          <a:solidFill>
                            <a:srgbClr val="0F172A"/>
                          </a:solidFill>
                          <a:latin typeface="맑은 고딕"/>
                          <a:ea typeface="맑은 고딕"/>
                          <a:cs typeface="맑은 고딕"/>
                        </a:rPr>
                        <a:t>BoN Hybrid</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400" b="0">
                          <a:solidFill>
                            <a:srgbClr val="0F172A"/>
                          </a:solidFill>
                          <a:latin typeface="맑은 고딕"/>
                          <a:ea typeface="맑은 고딕"/>
                          <a:cs typeface="맑은 고딕"/>
                        </a:rPr>
                        <a:t>89.3%</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400" b="0">
                          <a:solidFill>
                            <a:srgbClr val="0F172A"/>
                          </a:solidFill>
                          <a:latin typeface="맑은 고딕"/>
                          <a:ea typeface="맑은 고딕"/>
                          <a:cs typeface="맑은 고딕"/>
                        </a:rPr>
                        <a:t>[82.1, 95.2]</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400" b="0">
                          <a:solidFill>
                            <a:srgbClr val="0F172A"/>
                          </a:solidFill>
                          <a:latin typeface="맑은 고딕"/>
                          <a:ea typeface="맑은 고딕"/>
                          <a:cs typeface="맑은 고딕"/>
                        </a:rPr>
                        <a:t>89.4%</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400" b="0">
                          <a:solidFill>
                            <a:srgbClr val="0F172A"/>
                          </a:solidFill>
                          <a:latin typeface="맑은 고딕"/>
                          <a:ea typeface="맑은 고딕"/>
                          <a:cs typeface="맑은 고딕"/>
                        </a:rPr>
                        <a:t>91.7%</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extLst>
                  <a:ext uri="{0D108BD9-81ED-4DB2-BD59-A6C34878D82A}">
                    <a16:rowId xmlns:a16="http://schemas.microsoft.com/office/drawing/2014/main" val="10002"/>
                  </a:ext>
                </a:extLst>
              </a:tr>
              <a:tr h="497204">
                <a:tc>
                  <a:txBody>
                    <a:bodyPr/>
                    <a:lstStyle/>
                    <a:p>
                      <a:pPr algn="l"/>
                      <a:r>
                        <a:rPr sz="1400" b="0">
                          <a:solidFill>
                            <a:srgbClr val="0F172A"/>
                          </a:solidFill>
                          <a:latin typeface="맑은 고딕"/>
                          <a:ea typeface="맑은 고딕"/>
                          <a:cs typeface="맑은 고딕"/>
                        </a:rPr>
                        <a:t>SBERT-only</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78.6%</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[69.0, 86.9]</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79.5%</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89.3%</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extLst>
                  <a:ext uri="{0D108BD9-81ED-4DB2-BD59-A6C34878D82A}">
                    <a16:rowId xmlns:a16="http://schemas.microsoft.com/office/drawing/2014/main" val="10003"/>
                  </a:ext>
                </a:extLst>
              </a:tr>
              <a:tr h="497204">
                <a:tc>
                  <a:txBody>
                    <a:bodyPr/>
                    <a:lstStyle/>
                    <a:p>
                      <a:pPr algn="l"/>
                      <a:r>
                        <a:rPr sz="1400" b="1">
                          <a:solidFill>
                            <a:srgbClr val="B45309"/>
                          </a:solidFill>
                          <a:latin typeface="맑은 고딕"/>
                          <a:ea typeface="맑은 고딕"/>
                          <a:cs typeface="맑은 고딕"/>
                        </a:rPr>
                        <a:t>SBERT Hybrid  ★</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EF3C7"/>
                    </a:solidFill>
                  </a:tcPr>
                </a:tc>
                <a:tc>
                  <a:txBody>
                    <a:bodyPr/>
                    <a:lstStyle/>
                    <a:p>
                      <a:pPr algn="ctr"/>
                      <a:r>
                        <a:rPr sz="1400" b="1">
                          <a:solidFill>
                            <a:srgbClr val="B45309"/>
                          </a:solidFill>
                          <a:latin typeface="맑은 고딕"/>
                          <a:ea typeface="맑은 고딕"/>
                          <a:cs typeface="맑은 고딕"/>
                        </a:rPr>
                        <a:t>90.5%</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EF3C7"/>
                    </a:solidFill>
                  </a:tcPr>
                </a:tc>
                <a:tc>
                  <a:txBody>
                    <a:bodyPr/>
                    <a:lstStyle/>
                    <a:p>
                      <a:pPr algn="ctr"/>
                      <a:r>
                        <a:rPr sz="1400" b="1">
                          <a:solidFill>
                            <a:srgbClr val="B45309"/>
                          </a:solidFill>
                          <a:latin typeface="맑은 고딕"/>
                          <a:ea typeface="맑은 고딕"/>
                          <a:cs typeface="맑은 고딕"/>
                        </a:rPr>
                        <a:t>[83.3, 96.4]</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EF3C7"/>
                    </a:solidFill>
                  </a:tcPr>
                </a:tc>
                <a:tc>
                  <a:txBody>
                    <a:bodyPr/>
                    <a:lstStyle/>
                    <a:p>
                      <a:pPr algn="ctr"/>
                      <a:r>
                        <a:rPr sz="1400" b="1">
                          <a:solidFill>
                            <a:srgbClr val="B45309"/>
                          </a:solidFill>
                          <a:latin typeface="맑은 고딕"/>
                          <a:ea typeface="맑은 고딕"/>
                          <a:cs typeface="맑은 고딕"/>
                        </a:rPr>
                        <a:t>90.7%</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EF3C7"/>
                    </a:solidFill>
                  </a:tcPr>
                </a:tc>
                <a:tc>
                  <a:txBody>
                    <a:bodyPr/>
                    <a:lstStyle/>
                    <a:p>
                      <a:pPr algn="ctr"/>
                      <a:r>
                        <a:rPr sz="1400" b="1">
                          <a:solidFill>
                            <a:srgbClr val="B45309"/>
                          </a:solidFill>
                          <a:latin typeface="맑은 고딕"/>
                          <a:ea typeface="맑은 고딕"/>
                          <a:cs typeface="맑은 고딕"/>
                        </a:rPr>
                        <a:t>91.7%</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EF3C7"/>
                    </a:solidFill>
                  </a:tcPr>
                </a:tc>
                <a:extLst>
                  <a:ext uri="{0D108BD9-81ED-4DB2-BD59-A6C34878D82A}">
                    <a16:rowId xmlns:a16="http://schemas.microsoft.com/office/drawing/2014/main" val="10004"/>
                  </a:ext>
                </a:extLst>
              </a:tr>
              <a:tr h="497204">
                <a:tc>
                  <a:txBody>
                    <a:bodyPr/>
                    <a:lstStyle/>
                    <a:p>
                      <a:pPr algn="l"/>
                      <a:r>
                        <a:rPr sz="1400" b="0">
                          <a:solidFill>
                            <a:srgbClr val="0F172A"/>
                          </a:solidFill>
                          <a:latin typeface="맑은 고딕"/>
                          <a:ea typeface="맑은 고딕"/>
                          <a:cs typeface="맑은 고딕"/>
                        </a:rPr>
                        <a:t>SBERT Hybrid + Threshold</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90.5%</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[83.3, 96.4]</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90.7%</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91.7%</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extLst>
                  <a:ext uri="{0D108BD9-81ED-4DB2-BD59-A6C34878D82A}">
                    <a16:rowId xmlns:a16="http://schemas.microsoft.com/office/drawing/2014/main" val="10005"/>
                  </a:ext>
                </a:extLst>
              </a:tr>
              <a:tr h="497204">
                <a:tc>
                  <a:txBody>
                    <a:bodyPr/>
                    <a:lstStyle/>
                    <a:p>
                      <a:pPr algn="l"/>
                      <a:r>
                        <a:rPr sz="1400" b="0">
                          <a:solidFill>
                            <a:srgbClr val="0F172A"/>
                          </a:solidFill>
                          <a:latin typeface="맑은 고딕"/>
                          <a:ea typeface="맑은 고딕"/>
                          <a:cs typeface="맑은 고딕"/>
                        </a:rPr>
                        <a:t>Learned Head (LOOCV)</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400" b="0">
                          <a:solidFill>
                            <a:srgbClr val="0F172A"/>
                          </a:solidFill>
                          <a:latin typeface="맑은 고딕"/>
                          <a:ea typeface="맑은 고딕"/>
                          <a:cs typeface="맑은 고딕"/>
                        </a:rPr>
                        <a:t>79.8%</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400" b="0">
                          <a:solidFill>
                            <a:srgbClr val="0F172A"/>
                          </a:solidFill>
                          <a:latin typeface="맑은 고딕"/>
                          <a:ea typeface="맑은 고딕"/>
                          <a:cs typeface="맑은 고딕"/>
                        </a:rPr>
                        <a:t>[70.2, 86.9]</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400" b="0">
                          <a:solidFill>
                            <a:srgbClr val="0F172A"/>
                          </a:solidFill>
                          <a:latin typeface="맑은 고딕"/>
                          <a:ea typeface="맑은 고딕"/>
                          <a:cs typeface="맑은 고딕"/>
                        </a:rPr>
                        <a:t>78.6%</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tc>
                  <a:txBody>
                    <a:bodyPr/>
                    <a:lstStyle/>
                    <a:p>
                      <a:pPr algn="ctr"/>
                      <a:r>
                        <a:rPr sz="1400" b="0">
                          <a:solidFill>
                            <a:srgbClr val="0F172A"/>
                          </a:solidFill>
                          <a:latin typeface="맑은 고딕"/>
                          <a:ea typeface="맑은 고딕"/>
                          <a:cs typeface="맑은 고딕"/>
                        </a:rPr>
                        <a:t>100%</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8FAFC"/>
                    </a:solidFill>
                  </a:tcPr>
                </a:tc>
                <a:extLst>
                  <a:ext uri="{0D108BD9-81ED-4DB2-BD59-A6C34878D82A}">
                    <a16:rowId xmlns:a16="http://schemas.microsoft.com/office/drawing/2014/main" val="10006"/>
                  </a:ext>
                </a:extLst>
              </a:tr>
              <a:tr h="497211">
                <a:tc>
                  <a:txBody>
                    <a:bodyPr/>
                    <a:lstStyle/>
                    <a:p>
                      <a:pPr algn="l"/>
                      <a:r>
                        <a:rPr sz="1400" b="0">
                          <a:solidFill>
                            <a:srgbClr val="0F172A"/>
                          </a:solidFill>
                          <a:latin typeface="맑은 고딕"/>
                          <a:ea typeface="맑은 고딕"/>
                          <a:cs typeface="맑은 고딕"/>
                        </a:rPr>
                        <a:t>Learned Head Hybrid (참고)</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92.9%</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[86.9, 97.6]</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89.7%</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tc>
                  <a:txBody>
                    <a:bodyPr/>
                    <a:lstStyle/>
                    <a:p>
                      <a:pPr algn="ctr"/>
                      <a:r>
                        <a:rPr sz="1400" b="0">
                          <a:solidFill>
                            <a:srgbClr val="0F172A"/>
                          </a:solidFill>
                          <a:latin typeface="맑은 고딕"/>
                          <a:ea typeface="맑은 고딕"/>
                          <a:cs typeface="맑은 고딕"/>
                        </a:rPr>
                        <a:t>100%</a:t>
                      </a:r>
                    </a:p>
                  </a:txBody>
                  <a:tcPr marL="101600" marR="50800" marT="50800" marB="50800" anchor="ctr">
                    <a:lnT w="9525" cap="flat" cmpd="sng" algn="ctr">
                      <a:solidFill>
                        <a:srgbClr val="E2E8F0"/>
                      </a:solidFill>
                      <a:prstDash val="solid"/>
                      <a:round/>
                      <a:headEnd type="none" w="med" len="med"/>
                      <a:tailEnd type="none" w="med" len="med"/>
                    </a:lnT>
                    <a:lnB w="9525" cap="flat">
                      <a:solidFill>
                        <a:srgbClr val="E2E8F0"/>
                      </a:solidFill>
                    </a:lnB>
                    <a:solidFill>
                      <a:srgbClr val="FFFFFF"/>
                    </a:solidFill>
                  </a:tcPr>
                </a:tc>
                <a:extLst>
                  <a:ext uri="{0D108BD9-81ED-4DB2-BD59-A6C34878D82A}">
                    <a16:rowId xmlns:a16="http://schemas.microsoft.com/office/drawing/2014/main" val="10007"/>
                  </a:ext>
                </a:extLst>
              </a:tr>
            </a:tbl>
          </a:graphicData>
        </a:graphic>
      </p:graphicFrame>
      <p:sp>
        <p:nvSpPr>
          <p:cNvPr id="6" name="Rounded Rectangle 5"/>
          <p:cNvSpPr/>
          <p:nvPr/>
        </p:nvSpPr>
        <p:spPr>
          <a:xfrm>
            <a:off x="594360" y="5870448"/>
            <a:ext cx="11002975" cy="475488"/>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sz="1350" b="1">
                <a:solidFill>
                  <a:srgbClr val="475569"/>
                </a:solidFill>
                <a:latin typeface="맑은 고딕"/>
                <a:ea typeface="맑은 고딕"/>
                <a:cs typeface="맑은 고딕"/>
              </a:rPr>
              <a:t>부트스트랩 2,000회 · 시드 고정으로 재현 가능 · 서비스 기본값 = SBERT Hybrid 90.5%</a:t>
            </a:r>
          </a:p>
        </p:txBody>
      </p:sp>
      <p:sp>
        <p:nvSpPr>
          <p:cNvPr id="7" name="TextBox 6"/>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8" name="TextBox 7"/>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09</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lang="en-US" altLang="ko-KR" sz="3000" b="1" dirty="0">
                <a:solidFill>
                  <a:srgbClr val="0F172A"/>
                </a:solidFill>
                <a:latin typeface="맑은 고딕"/>
                <a:ea typeface="맑은 고딕"/>
                <a:cs typeface="맑은 고딕"/>
              </a:rPr>
              <a:t>Evaluation</a:t>
            </a:r>
            <a:endParaRPr sz="2100" b="1" dirty="0">
              <a:solidFill>
                <a:srgbClr val="B45309"/>
              </a:solidFill>
              <a:latin typeface="맑은 고딕"/>
              <a:ea typeface="맑은 고딕"/>
              <a:cs typeface="맑은 고딕"/>
            </a:endParaRP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874519"/>
            <a:ext cx="3454298" cy="3977639"/>
          </a:xfrm>
          <a:prstGeom prst="roundRect">
            <a:avLst>
              <a:gd name="adj" fmla="val 4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37744" tIns="274320" rIns="219456" bIns="54864" rtlCol="0" anchor="t"/>
          <a:lstStyle/>
          <a:p>
            <a:pPr algn="l">
              <a:lnSpc>
                <a:spcPct val="104000"/>
              </a:lnSpc>
            </a:pPr>
            <a:r>
              <a:rPr sz="1450" b="1" dirty="0" err="1">
                <a:solidFill>
                  <a:srgbClr val="B45309"/>
                </a:solidFill>
                <a:latin typeface="맑은 고딕"/>
                <a:ea typeface="맑은 고딕"/>
                <a:cs typeface="맑은 고딕"/>
              </a:rPr>
              <a:t>일반화</a:t>
            </a:r>
            <a:r>
              <a:rPr sz="1450" b="1" dirty="0">
                <a:solidFill>
                  <a:srgbClr val="B45309"/>
                </a:solidFill>
                <a:latin typeface="맑은 고딕"/>
                <a:ea typeface="맑은 고딕"/>
                <a:cs typeface="맑은 고딕"/>
              </a:rPr>
              <a:t> 갭 </a:t>
            </a:r>
            <a:r>
              <a:rPr sz="1450" b="1" dirty="0" err="1">
                <a:solidFill>
                  <a:srgbClr val="B45309"/>
                </a:solidFill>
                <a:latin typeface="맑은 고딕"/>
                <a:ea typeface="맑은 고딕"/>
                <a:cs typeface="맑은 고딕"/>
              </a:rPr>
              <a:t>공개</a:t>
            </a:r>
            <a:endParaRPr sz="1450" b="1" dirty="0">
              <a:solidFill>
                <a:srgbClr val="B45309"/>
              </a:solidFill>
              <a:latin typeface="맑은 고딕"/>
              <a:ea typeface="맑은 고딕"/>
              <a:cs typeface="맑은 고딕"/>
            </a:endParaRPr>
          </a:p>
          <a:p>
            <a:pPr algn="l">
              <a:lnSpc>
                <a:spcPct val="104000"/>
              </a:lnSpc>
              <a:spcBef>
                <a:spcPts val="1000"/>
              </a:spcBef>
            </a:pPr>
            <a:r>
              <a:rPr sz="2600" b="1" dirty="0">
                <a:solidFill>
                  <a:srgbClr val="0F172A"/>
                </a:solidFill>
                <a:latin typeface="맑은 고딕"/>
                <a:ea typeface="맑은 고딕"/>
                <a:cs typeface="맑은 고딕"/>
              </a:rPr>
              <a:t>90.5% → 72.4%</a:t>
            </a:r>
          </a:p>
          <a:p>
            <a:pPr algn="l">
              <a:lnSpc>
                <a:spcPct val="115000"/>
              </a:lnSpc>
              <a:spcBef>
                <a:spcPts val="1200"/>
              </a:spcBef>
            </a:pPr>
            <a:r>
              <a:rPr sz="1350" b="0" dirty="0" err="1">
                <a:solidFill>
                  <a:srgbClr val="475569"/>
                </a:solidFill>
                <a:latin typeface="맑은 고딕"/>
                <a:ea typeface="맑은 고딕"/>
                <a:cs typeface="맑은 고딕"/>
              </a:rPr>
              <a:t>합성</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평가셋</a:t>
            </a:r>
            <a:r>
              <a:rPr sz="1350" b="0" dirty="0">
                <a:solidFill>
                  <a:srgbClr val="475569"/>
                </a:solidFill>
                <a:latin typeface="맑은 고딕"/>
                <a:ea typeface="맑은 고딕"/>
                <a:cs typeface="맑은 고딕"/>
              </a:rPr>
              <a:t> → </a:t>
            </a:r>
            <a:r>
              <a:rPr sz="1350" b="0" dirty="0" err="1">
                <a:solidFill>
                  <a:srgbClr val="475569"/>
                </a:solidFill>
                <a:latin typeface="맑은 고딕"/>
                <a:ea typeface="맑은 고딕"/>
                <a:cs typeface="맑은 고딕"/>
              </a:rPr>
              <a:t>실제</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자소서</a:t>
            </a:r>
            <a:r>
              <a:rPr sz="1350" b="0" dirty="0">
                <a:solidFill>
                  <a:srgbClr val="475569"/>
                </a:solidFill>
                <a:latin typeface="맑은 고딕"/>
                <a:ea typeface="맑은 고딕"/>
                <a:cs typeface="맑은 고딕"/>
              </a:rPr>
              <a:t> 29건 </a:t>
            </a:r>
            <a:r>
              <a:rPr sz="1350" b="0" dirty="0" err="1">
                <a:solidFill>
                  <a:srgbClr val="475569"/>
                </a:solidFill>
                <a:latin typeface="맑은 고딕"/>
                <a:ea typeface="맑은 고딕"/>
                <a:cs typeface="맑은 고딕"/>
              </a:rPr>
              <a:t>홀드아웃</a:t>
            </a:r>
            <a:r>
              <a:rPr sz="1350" b="0" dirty="0">
                <a:solidFill>
                  <a:srgbClr val="475569"/>
                </a:solidFill>
                <a:latin typeface="맑은 고딕"/>
                <a:ea typeface="맑은 고딕"/>
                <a:cs typeface="맑은 고딕"/>
              </a:rPr>
              <a:t>.</a:t>
            </a:r>
          </a:p>
          <a:p>
            <a:pPr algn="l">
              <a:lnSpc>
                <a:spcPct val="115000"/>
              </a:lnSpc>
              <a:spcBef>
                <a:spcPts val="800"/>
              </a:spcBef>
            </a:pPr>
            <a:r>
              <a:rPr sz="1350" b="0" dirty="0">
                <a:solidFill>
                  <a:srgbClr val="475569"/>
                </a:solidFill>
                <a:latin typeface="맑은 고딕"/>
                <a:ea typeface="맑은 고딕"/>
                <a:cs typeface="맑은 고딕"/>
              </a:rPr>
              <a:t>단, </a:t>
            </a:r>
            <a:r>
              <a:rPr sz="1350" b="0" dirty="0" err="1">
                <a:solidFill>
                  <a:srgbClr val="475569"/>
                </a:solidFill>
                <a:latin typeface="맑은 고딕"/>
                <a:ea typeface="맑은 고딕"/>
                <a:cs typeface="맑은 고딕"/>
              </a:rPr>
              <a:t>실데이터</a:t>
            </a:r>
            <a:r>
              <a:rPr sz="1350" b="0" dirty="0">
                <a:solidFill>
                  <a:srgbClr val="475569"/>
                </a:solidFill>
                <a:latin typeface="맑은 고딕"/>
                <a:ea typeface="맑은 고딕"/>
                <a:cs typeface="맑은 고딕"/>
              </a:rPr>
              <a:t> Macro F1은 SBERT Hybrid 86.4% &gt; </a:t>
            </a:r>
            <a:r>
              <a:rPr sz="1350" b="0" dirty="0" err="1">
                <a:solidFill>
                  <a:srgbClr val="475569"/>
                </a:solidFill>
                <a:latin typeface="맑은 고딕"/>
                <a:ea typeface="맑은 고딕"/>
                <a:cs typeface="맑은 고딕"/>
              </a:rPr>
              <a:t>키워드</a:t>
            </a:r>
            <a:r>
              <a:rPr sz="1350" b="0" dirty="0">
                <a:solidFill>
                  <a:srgbClr val="475569"/>
                </a:solidFill>
                <a:latin typeface="맑은 고딕"/>
                <a:ea typeface="맑은 고딕"/>
                <a:cs typeface="맑은 고딕"/>
              </a:rPr>
              <a:t> 79.0% — </a:t>
            </a:r>
            <a:r>
              <a:rPr sz="1350" b="0" dirty="0" err="1">
                <a:solidFill>
                  <a:srgbClr val="475569"/>
                </a:solidFill>
                <a:latin typeface="맑은 고딕"/>
                <a:ea typeface="맑은 고딕"/>
                <a:cs typeface="맑은 고딕"/>
              </a:rPr>
              <a:t>의미</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임베딩</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가치는</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실데이터에서</a:t>
            </a:r>
            <a:r>
              <a:rPr sz="1350" b="0" dirty="0">
                <a:solidFill>
                  <a:srgbClr val="475569"/>
                </a:solidFill>
                <a:latin typeface="맑은 고딕"/>
                <a:ea typeface="맑은 고딕"/>
                <a:cs typeface="맑은 고딕"/>
              </a:rPr>
              <a:t> 더 </a:t>
            </a:r>
            <a:r>
              <a:rPr sz="1350" b="0" dirty="0" err="1">
                <a:solidFill>
                  <a:srgbClr val="475569"/>
                </a:solidFill>
                <a:latin typeface="맑은 고딕"/>
                <a:ea typeface="맑은 고딕"/>
                <a:cs typeface="맑은 고딕"/>
              </a:rPr>
              <a:t>분명</a:t>
            </a:r>
            <a:endParaRPr sz="1350" b="0" dirty="0">
              <a:solidFill>
                <a:srgbClr val="475569"/>
              </a:solidFill>
              <a:latin typeface="맑은 고딕"/>
              <a:ea typeface="맑은 고딕"/>
              <a:cs typeface="맑은 고딕"/>
            </a:endParaRPr>
          </a:p>
        </p:txBody>
      </p:sp>
      <p:sp>
        <p:nvSpPr>
          <p:cNvPr id="6" name="Rectangle 5"/>
          <p:cNvSpPr/>
          <p:nvPr/>
        </p:nvSpPr>
        <p:spPr>
          <a:xfrm>
            <a:off x="594360" y="1874519"/>
            <a:ext cx="3454298" cy="6400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68698" y="1874519"/>
            <a:ext cx="3454298" cy="3977639"/>
          </a:xfrm>
          <a:prstGeom prst="roundRect">
            <a:avLst>
              <a:gd name="adj" fmla="val 4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37744" tIns="274320" rIns="219456" bIns="54864" rtlCol="0" anchor="t"/>
          <a:lstStyle/>
          <a:p>
            <a:pPr algn="l">
              <a:lnSpc>
                <a:spcPct val="104000"/>
              </a:lnSpc>
            </a:pPr>
            <a:r>
              <a:rPr sz="1450" b="1">
                <a:solidFill>
                  <a:srgbClr val="1E3A8A"/>
                </a:solidFill>
                <a:latin typeface="맑은 고딕"/>
                <a:ea typeface="맑은 고딕"/>
                <a:cs typeface="맑은 고딕"/>
              </a:rPr>
              <a:t>과대평가 자체 교정</a:t>
            </a:r>
          </a:p>
          <a:p>
            <a:pPr algn="l">
              <a:lnSpc>
                <a:spcPct val="104000"/>
              </a:lnSpc>
              <a:spcBef>
                <a:spcPts val="1000"/>
              </a:spcBef>
            </a:pPr>
            <a:r>
              <a:rPr sz="2600" b="1">
                <a:solidFill>
                  <a:srgbClr val="0F172A"/>
                </a:solidFill>
                <a:latin typeface="맑은 고딕"/>
                <a:ea typeface="맑은 고딕"/>
                <a:cs typeface="맑은 고딕"/>
              </a:rPr>
              <a:t>97.1% → 90.5%</a:t>
            </a:r>
          </a:p>
          <a:p>
            <a:pPr algn="l">
              <a:lnSpc>
                <a:spcPct val="115000"/>
              </a:lnSpc>
              <a:spcBef>
                <a:spcPts val="1200"/>
              </a:spcBef>
            </a:pPr>
            <a:r>
              <a:rPr sz="1350" b="0">
                <a:solidFill>
                  <a:srgbClr val="475569"/>
                </a:solidFill>
                <a:latin typeface="맑은 고딕"/>
                <a:ea typeface="맑은 고딕"/>
                <a:cs typeface="맑은 고딕"/>
              </a:rPr>
              <a:t>평가셋을 68→84개로 키우고 어렵게 만든 결과.</a:t>
            </a:r>
          </a:p>
          <a:p>
            <a:pPr algn="l">
              <a:lnSpc>
                <a:spcPct val="115000"/>
              </a:lnSpc>
              <a:spcBef>
                <a:spcPts val="800"/>
              </a:spcBef>
            </a:pPr>
            <a:r>
              <a:rPr sz="1350" b="0">
                <a:solidFill>
                  <a:srgbClr val="475569"/>
                </a:solidFill>
                <a:latin typeface="맑은 고딕"/>
                <a:ea typeface="맑은 고딕"/>
                <a:cs typeface="맑은 고딕"/>
              </a:rPr>
              <a:t>성능 하락이 아니라 쉬운 평가셋이 만든 거품을 스스로 걷어낸 수치</a:t>
            </a:r>
          </a:p>
        </p:txBody>
      </p:sp>
      <p:sp>
        <p:nvSpPr>
          <p:cNvPr id="8" name="Rectangle 7"/>
          <p:cNvSpPr/>
          <p:nvPr/>
        </p:nvSpPr>
        <p:spPr>
          <a:xfrm>
            <a:off x="4368698" y="1874519"/>
            <a:ext cx="3454298" cy="6400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143036" y="1874519"/>
            <a:ext cx="3454298" cy="3977639"/>
          </a:xfrm>
          <a:prstGeom prst="roundRect">
            <a:avLst>
              <a:gd name="adj" fmla="val 4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37744" tIns="274320" rIns="219456" bIns="54864" rtlCol="0" anchor="t"/>
          <a:lstStyle/>
          <a:p>
            <a:pPr algn="l">
              <a:lnSpc>
                <a:spcPct val="104000"/>
              </a:lnSpc>
            </a:pPr>
            <a:r>
              <a:rPr sz="1450" b="1" dirty="0" err="1">
                <a:solidFill>
                  <a:srgbClr val="475569"/>
                </a:solidFill>
                <a:latin typeface="맑은 고딕"/>
                <a:ea typeface="맑은 고딕"/>
                <a:cs typeface="맑은 고딕"/>
              </a:rPr>
              <a:t>음성</a:t>
            </a:r>
            <a:r>
              <a:rPr sz="1450" b="1" dirty="0">
                <a:solidFill>
                  <a:srgbClr val="475569"/>
                </a:solidFill>
                <a:latin typeface="맑은 고딕"/>
                <a:ea typeface="맑은 고딕"/>
                <a:cs typeface="맑은 고딕"/>
              </a:rPr>
              <a:t> </a:t>
            </a:r>
            <a:r>
              <a:rPr sz="1450" b="1" dirty="0" err="1">
                <a:solidFill>
                  <a:srgbClr val="475569"/>
                </a:solidFill>
                <a:latin typeface="맑은 고딕"/>
                <a:ea typeface="맑은 고딕"/>
                <a:cs typeface="맑은 고딕"/>
              </a:rPr>
              <a:t>결과도</a:t>
            </a:r>
            <a:r>
              <a:rPr sz="1450" b="1" dirty="0">
                <a:solidFill>
                  <a:srgbClr val="475569"/>
                </a:solidFill>
                <a:latin typeface="맑은 고딕"/>
                <a:ea typeface="맑은 고딕"/>
                <a:cs typeface="맑은 고딕"/>
              </a:rPr>
              <a:t> </a:t>
            </a:r>
            <a:r>
              <a:rPr sz="1450" b="1" dirty="0" err="1">
                <a:solidFill>
                  <a:srgbClr val="475569"/>
                </a:solidFill>
                <a:latin typeface="맑은 고딕"/>
                <a:ea typeface="맑은 고딕"/>
                <a:cs typeface="맑은 고딕"/>
              </a:rPr>
              <a:t>보고</a:t>
            </a:r>
            <a:endParaRPr sz="1450" b="1" dirty="0">
              <a:solidFill>
                <a:srgbClr val="475569"/>
              </a:solidFill>
              <a:latin typeface="맑은 고딕"/>
              <a:ea typeface="맑은 고딕"/>
              <a:cs typeface="맑은 고딕"/>
            </a:endParaRPr>
          </a:p>
          <a:p>
            <a:pPr algn="l">
              <a:lnSpc>
                <a:spcPct val="104000"/>
              </a:lnSpc>
              <a:spcBef>
                <a:spcPts val="1000"/>
              </a:spcBef>
            </a:pPr>
            <a:r>
              <a:rPr sz="2600" b="1" dirty="0">
                <a:solidFill>
                  <a:srgbClr val="0F172A"/>
                </a:solidFill>
                <a:latin typeface="맑은 고딕"/>
                <a:ea typeface="맑은 고딕"/>
                <a:cs typeface="맑은 고딕"/>
              </a:rPr>
              <a:t>79.8% → 77.4%</a:t>
            </a:r>
          </a:p>
          <a:p>
            <a:pPr algn="l">
              <a:lnSpc>
                <a:spcPct val="115000"/>
              </a:lnSpc>
              <a:spcBef>
                <a:spcPts val="1200"/>
              </a:spcBef>
            </a:pPr>
            <a:r>
              <a:rPr sz="1350" b="0" dirty="0" err="1">
                <a:solidFill>
                  <a:srgbClr val="475569"/>
                </a:solidFill>
                <a:latin typeface="맑은 고딕"/>
                <a:ea typeface="맑은 고딕"/>
                <a:cs typeface="맑은 고딕"/>
              </a:rPr>
              <a:t>실데이터</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PDF를</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학습에</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추가하자</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오히려</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하락</a:t>
            </a:r>
            <a:r>
              <a:rPr sz="1350" b="0" dirty="0">
                <a:solidFill>
                  <a:srgbClr val="475569"/>
                </a:solidFill>
                <a:latin typeface="맑은 고딕"/>
                <a:ea typeface="맑은 고딕"/>
                <a:cs typeface="맑은 고딕"/>
              </a:rPr>
              <a:t>.</a:t>
            </a:r>
          </a:p>
          <a:p>
            <a:pPr algn="l">
              <a:lnSpc>
                <a:spcPct val="115000"/>
              </a:lnSpc>
              <a:spcBef>
                <a:spcPts val="800"/>
              </a:spcBef>
            </a:pPr>
            <a:r>
              <a:rPr sz="1350" b="0" dirty="0" err="1">
                <a:solidFill>
                  <a:srgbClr val="475569"/>
                </a:solidFill>
                <a:latin typeface="맑은 고딕"/>
                <a:ea typeface="맑은 고딕"/>
                <a:cs typeface="맑은 고딕"/>
              </a:rPr>
              <a:t>자동</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판단으로</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미배포</a:t>
            </a:r>
            <a:r>
              <a:rPr sz="1350" b="0" dirty="0">
                <a:solidFill>
                  <a:srgbClr val="475569"/>
                </a:solidFill>
                <a:latin typeface="맑은 고딕"/>
                <a:ea typeface="맑은 고딕"/>
                <a:cs typeface="맑은 고딕"/>
              </a:rPr>
              <a:t> — “</a:t>
            </a:r>
            <a:r>
              <a:rPr sz="1350" b="0" dirty="0" err="1">
                <a:solidFill>
                  <a:srgbClr val="475569"/>
                </a:solidFill>
                <a:latin typeface="맑은 고딕"/>
                <a:ea typeface="맑은 고딕"/>
                <a:cs typeface="맑은 고딕"/>
              </a:rPr>
              <a:t>데이터</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무작정</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확대는</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답이</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아니다”를</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실험으로</a:t>
            </a:r>
            <a:r>
              <a:rPr sz="1350" b="0" dirty="0">
                <a:solidFill>
                  <a:srgbClr val="475569"/>
                </a:solidFill>
                <a:latin typeface="맑은 고딕"/>
                <a:ea typeface="맑은 고딕"/>
                <a:cs typeface="맑은 고딕"/>
              </a:rPr>
              <a:t> </a:t>
            </a:r>
            <a:r>
              <a:rPr sz="1350" b="0" dirty="0" err="1">
                <a:solidFill>
                  <a:srgbClr val="475569"/>
                </a:solidFill>
                <a:latin typeface="맑은 고딕"/>
                <a:ea typeface="맑은 고딕"/>
                <a:cs typeface="맑은 고딕"/>
              </a:rPr>
              <a:t>입증</a:t>
            </a:r>
            <a:endParaRPr sz="1350" b="0" dirty="0">
              <a:solidFill>
                <a:srgbClr val="475569"/>
              </a:solidFill>
              <a:latin typeface="맑은 고딕"/>
              <a:ea typeface="맑은 고딕"/>
              <a:cs typeface="맑은 고딕"/>
            </a:endParaRPr>
          </a:p>
        </p:txBody>
      </p:sp>
      <p:sp>
        <p:nvSpPr>
          <p:cNvPr id="10" name="Rectangle 9"/>
          <p:cNvSpPr/>
          <p:nvPr/>
        </p:nvSpPr>
        <p:spPr>
          <a:xfrm>
            <a:off x="8143036" y="1874519"/>
            <a:ext cx="3454298" cy="6400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12" name="TextBox 11"/>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10</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lang="en-US" sz="3000" b="1" dirty="0">
                <a:solidFill>
                  <a:srgbClr val="0F172A"/>
                </a:solidFill>
                <a:latin typeface="맑은 고딕"/>
                <a:ea typeface="맑은 고딕"/>
                <a:cs typeface="맑은 고딕"/>
              </a:rPr>
              <a:t>Learning Curve</a:t>
            </a:r>
            <a:endParaRPr sz="3000" b="1" dirty="0">
              <a:solidFill>
                <a:srgbClr val="0F172A"/>
              </a:solidFill>
              <a:latin typeface="맑은 고딕"/>
              <a:ea typeface="맑은 고딕"/>
              <a:cs typeface="맑은 고딕"/>
            </a:endParaRP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5394960"/>
            <a:ext cx="5623560"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2373571"/>
            <a:ext cx="5623560" cy="2011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062675"/>
            <a:ext cx="5623560" cy="274320"/>
          </a:xfrm>
          <a:prstGeom prst="rect">
            <a:avLst/>
          </a:prstGeom>
          <a:noFill/>
        </p:spPr>
        <p:txBody>
          <a:bodyPr wrap="square" lIns="0" tIns="0" rIns="0" bIns="0" anchor="t">
            <a:spAutoFit/>
          </a:bodyPr>
          <a:lstStyle/>
          <a:p>
            <a:pPr algn="r">
              <a:lnSpc>
                <a:spcPct val="104000"/>
              </a:lnSpc>
            </a:pPr>
            <a:r>
              <a:rPr sz="1200" b="1">
                <a:solidFill>
                  <a:srgbClr val="B45309"/>
                </a:solidFill>
                <a:latin typeface="맑은 고딕"/>
                <a:ea typeface="맑은 고딕"/>
                <a:cs typeface="맑은 고딕"/>
              </a:rPr>
              <a:t>코사인 Hybrid 90.5% (기준선)</a:t>
            </a:r>
          </a:p>
        </p:txBody>
      </p:sp>
      <p:cxnSp>
        <p:nvCxnSpPr>
          <p:cNvPr id="8" name="Connector 7"/>
          <p:cNvCxnSpPr/>
          <p:nvPr/>
        </p:nvCxnSpPr>
        <p:spPr>
          <a:xfrm flipV="1">
            <a:off x="960120" y="3562150"/>
            <a:ext cx="1783080" cy="1248508"/>
          </a:xfrm>
          <a:prstGeom prst="line">
            <a:avLst/>
          </a:prstGeom>
          <a:ln w="34925">
            <a:solidFill>
              <a:srgbClr val="2563E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743200" y="3327431"/>
            <a:ext cx="1783080" cy="234719"/>
          </a:xfrm>
          <a:prstGeom prst="line">
            <a:avLst/>
          </a:prstGeom>
          <a:ln w="34925">
            <a:solidFill>
              <a:srgbClr val="2563E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4526280" y="3087717"/>
            <a:ext cx="1783080" cy="239714"/>
          </a:xfrm>
          <a:prstGeom prst="line">
            <a:avLst/>
          </a:prstGeom>
          <a:ln w="34925">
            <a:solidFill>
              <a:srgbClr val="2563EB"/>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896112" y="4746650"/>
            <a:ext cx="128016" cy="1280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4426610"/>
            <a:ext cx="1005840" cy="274320"/>
          </a:xfrm>
          <a:prstGeom prst="rect">
            <a:avLst/>
          </a:prstGeom>
          <a:noFill/>
        </p:spPr>
        <p:txBody>
          <a:bodyPr wrap="square" lIns="0" tIns="0" rIns="0" bIns="0" anchor="t">
            <a:spAutoFit/>
          </a:bodyPr>
          <a:lstStyle/>
          <a:p>
            <a:pPr algn="ctr">
              <a:lnSpc>
                <a:spcPct val="104000"/>
              </a:lnSpc>
            </a:pPr>
            <a:r>
              <a:rPr sz="1350" b="1">
                <a:solidFill>
                  <a:srgbClr val="0F172A"/>
                </a:solidFill>
                <a:latin typeface="맑은 고딕"/>
                <a:ea typeface="맑은 고딕"/>
                <a:cs typeface="맑은 고딕"/>
              </a:rPr>
              <a:t>41.7%</a:t>
            </a:r>
          </a:p>
        </p:txBody>
      </p:sp>
      <p:sp>
        <p:nvSpPr>
          <p:cNvPr id="13" name="TextBox 12"/>
          <p:cNvSpPr txBox="1"/>
          <p:nvPr/>
        </p:nvSpPr>
        <p:spPr>
          <a:xfrm>
            <a:off x="457200" y="5468112"/>
            <a:ext cx="1005840" cy="274320"/>
          </a:xfrm>
          <a:prstGeom prst="rect">
            <a:avLst/>
          </a:prstGeom>
          <a:noFill/>
        </p:spPr>
        <p:txBody>
          <a:bodyPr wrap="square" lIns="0" tIns="0" rIns="0" bIns="0" anchor="t">
            <a:spAutoFit/>
          </a:bodyPr>
          <a:lstStyle/>
          <a:p>
            <a:pPr algn="ctr">
              <a:lnSpc>
                <a:spcPct val="104000"/>
              </a:lnSpc>
            </a:pPr>
            <a:r>
              <a:rPr sz="1250" b="0">
                <a:solidFill>
                  <a:srgbClr val="475569"/>
                </a:solidFill>
                <a:latin typeface="맑은 고딕"/>
                <a:ea typeface="맑은 고딕"/>
                <a:cs typeface="맑은 고딕"/>
              </a:rPr>
              <a:t>n=14</a:t>
            </a:r>
          </a:p>
        </p:txBody>
      </p:sp>
      <p:sp>
        <p:nvSpPr>
          <p:cNvPr id="14" name="Oval 13"/>
          <p:cNvSpPr/>
          <p:nvPr/>
        </p:nvSpPr>
        <p:spPr>
          <a:xfrm>
            <a:off x="2679192" y="3498142"/>
            <a:ext cx="128016" cy="1280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40280" y="3178102"/>
            <a:ext cx="1005840" cy="274320"/>
          </a:xfrm>
          <a:prstGeom prst="rect">
            <a:avLst/>
          </a:prstGeom>
          <a:noFill/>
        </p:spPr>
        <p:txBody>
          <a:bodyPr wrap="square" lIns="0" tIns="0" rIns="0" bIns="0" anchor="t">
            <a:spAutoFit/>
          </a:bodyPr>
          <a:lstStyle/>
          <a:p>
            <a:pPr algn="ctr">
              <a:lnSpc>
                <a:spcPct val="104000"/>
              </a:lnSpc>
            </a:pPr>
            <a:r>
              <a:rPr sz="1350" b="1">
                <a:solidFill>
                  <a:srgbClr val="0F172A"/>
                </a:solidFill>
                <a:latin typeface="맑은 고딕"/>
                <a:ea typeface="맑은 고딕"/>
                <a:cs typeface="맑은 고딕"/>
              </a:rPr>
              <a:t>66.7%</a:t>
            </a:r>
          </a:p>
        </p:txBody>
      </p:sp>
      <p:sp>
        <p:nvSpPr>
          <p:cNvPr id="16" name="TextBox 15"/>
          <p:cNvSpPr txBox="1"/>
          <p:nvPr/>
        </p:nvSpPr>
        <p:spPr>
          <a:xfrm>
            <a:off x="2240280" y="5468112"/>
            <a:ext cx="1005840" cy="274320"/>
          </a:xfrm>
          <a:prstGeom prst="rect">
            <a:avLst/>
          </a:prstGeom>
          <a:noFill/>
        </p:spPr>
        <p:txBody>
          <a:bodyPr wrap="square" lIns="0" tIns="0" rIns="0" bIns="0" anchor="t">
            <a:spAutoFit/>
          </a:bodyPr>
          <a:lstStyle/>
          <a:p>
            <a:pPr algn="ctr">
              <a:lnSpc>
                <a:spcPct val="104000"/>
              </a:lnSpc>
            </a:pPr>
            <a:r>
              <a:rPr sz="1250" b="0">
                <a:solidFill>
                  <a:srgbClr val="475569"/>
                </a:solidFill>
                <a:latin typeface="맑은 고딕"/>
                <a:ea typeface="맑은 고딕"/>
                <a:cs typeface="맑은 고딕"/>
              </a:rPr>
              <a:t>n=28</a:t>
            </a:r>
          </a:p>
        </p:txBody>
      </p:sp>
      <p:sp>
        <p:nvSpPr>
          <p:cNvPr id="17" name="Oval 16"/>
          <p:cNvSpPr/>
          <p:nvPr/>
        </p:nvSpPr>
        <p:spPr>
          <a:xfrm>
            <a:off x="4462272" y="3263423"/>
            <a:ext cx="128016" cy="1280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23360" y="2943383"/>
            <a:ext cx="1005840" cy="274320"/>
          </a:xfrm>
          <a:prstGeom prst="rect">
            <a:avLst/>
          </a:prstGeom>
          <a:noFill/>
        </p:spPr>
        <p:txBody>
          <a:bodyPr wrap="square" lIns="0" tIns="0" rIns="0" bIns="0" anchor="t">
            <a:spAutoFit/>
          </a:bodyPr>
          <a:lstStyle/>
          <a:p>
            <a:pPr algn="ctr">
              <a:lnSpc>
                <a:spcPct val="104000"/>
              </a:lnSpc>
            </a:pPr>
            <a:r>
              <a:rPr sz="1350" b="1">
                <a:solidFill>
                  <a:srgbClr val="0F172A"/>
                </a:solidFill>
                <a:latin typeface="맑은 고딕"/>
                <a:ea typeface="맑은 고딕"/>
                <a:cs typeface="맑은 고딕"/>
              </a:rPr>
              <a:t>71.4%</a:t>
            </a:r>
          </a:p>
        </p:txBody>
      </p:sp>
      <p:sp>
        <p:nvSpPr>
          <p:cNvPr id="19" name="TextBox 18"/>
          <p:cNvSpPr txBox="1"/>
          <p:nvPr/>
        </p:nvSpPr>
        <p:spPr>
          <a:xfrm>
            <a:off x="4023360" y="5468112"/>
            <a:ext cx="1005840" cy="274320"/>
          </a:xfrm>
          <a:prstGeom prst="rect">
            <a:avLst/>
          </a:prstGeom>
          <a:noFill/>
        </p:spPr>
        <p:txBody>
          <a:bodyPr wrap="square" lIns="0" tIns="0" rIns="0" bIns="0" anchor="t">
            <a:spAutoFit/>
          </a:bodyPr>
          <a:lstStyle/>
          <a:p>
            <a:pPr algn="ctr">
              <a:lnSpc>
                <a:spcPct val="104000"/>
              </a:lnSpc>
            </a:pPr>
            <a:r>
              <a:rPr sz="1250" b="0">
                <a:solidFill>
                  <a:srgbClr val="475569"/>
                </a:solidFill>
                <a:latin typeface="맑은 고딕"/>
                <a:ea typeface="맑은 고딕"/>
                <a:cs typeface="맑은 고딕"/>
              </a:rPr>
              <a:t>n=42</a:t>
            </a:r>
          </a:p>
        </p:txBody>
      </p:sp>
      <p:sp>
        <p:nvSpPr>
          <p:cNvPr id="20" name="Oval 19"/>
          <p:cNvSpPr/>
          <p:nvPr/>
        </p:nvSpPr>
        <p:spPr>
          <a:xfrm>
            <a:off x="6245352" y="3023709"/>
            <a:ext cx="128016" cy="1280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06440" y="2703669"/>
            <a:ext cx="1005840" cy="274320"/>
          </a:xfrm>
          <a:prstGeom prst="rect">
            <a:avLst/>
          </a:prstGeom>
          <a:noFill/>
        </p:spPr>
        <p:txBody>
          <a:bodyPr wrap="square" lIns="0" tIns="0" rIns="0" bIns="0" anchor="t">
            <a:spAutoFit/>
          </a:bodyPr>
          <a:lstStyle/>
          <a:p>
            <a:pPr algn="ctr">
              <a:lnSpc>
                <a:spcPct val="104000"/>
              </a:lnSpc>
            </a:pPr>
            <a:r>
              <a:rPr sz="1350" b="1">
                <a:solidFill>
                  <a:srgbClr val="0F172A"/>
                </a:solidFill>
                <a:latin typeface="맑은 고딕"/>
                <a:ea typeface="맑은 고딕"/>
                <a:cs typeface="맑은 고딕"/>
              </a:rPr>
              <a:t>76.2%</a:t>
            </a:r>
          </a:p>
        </p:txBody>
      </p:sp>
      <p:sp>
        <p:nvSpPr>
          <p:cNvPr id="22" name="TextBox 21"/>
          <p:cNvSpPr txBox="1"/>
          <p:nvPr/>
        </p:nvSpPr>
        <p:spPr>
          <a:xfrm>
            <a:off x="5806440" y="5468112"/>
            <a:ext cx="1005840" cy="274320"/>
          </a:xfrm>
          <a:prstGeom prst="rect">
            <a:avLst/>
          </a:prstGeom>
          <a:noFill/>
        </p:spPr>
        <p:txBody>
          <a:bodyPr wrap="square" lIns="0" tIns="0" rIns="0" bIns="0" anchor="t">
            <a:spAutoFit/>
          </a:bodyPr>
          <a:lstStyle/>
          <a:p>
            <a:pPr algn="ctr">
              <a:lnSpc>
                <a:spcPct val="104000"/>
              </a:lnSpc>
            </a:pPr>
            <a:r>
              <a:rPr sz="1250" b="0">
                <a:solidFill>
                  <a:srgbClr val="475569"/>
                </a:solidFill>
                <a:latin typeface="맑은 고딕"/>
                <a:ea typeface="맑은 고딕"/>
                <a:cs typeface="맑은 고딕"/>
              </a:rPr>
              <a:t>n=56</a:t>
            </a:r>
          </a:p>
        </p:txBody>
      </p:sp>
      <p:sp>
        <p:nvSpPr>
          <p:cNvPr id="23" name="TextBox 22"/>
          <p:cNvSpPr txBox="1"/>
          <p:nvPr/>
        </p:nvSpPr>
        <p:spPr>
          <a:xfrm>
            <a:off x="822960" y="5897880"/>
            <a:ext cx="5623560" cy="274320"/>
          </a:xfrm>
          <a:prstGeom prst="rect">
            <a:avLst/>
          </a:prstGeom>
          <a:noFill/>
        </p:spPr>
        <p:txBody>
          <a:bodyPr wrap="square" lIns="0" tIns="0" rIns="0" bIns="0" anchor="t">
            <a:spAutoFit/>
          </a:bodyPr>
          <a:lstStyle/>
          <a:p>
            <a:pPr algn="ctr">
              <a:lnSpc>
                <a:spcPct val="104000"/>
              </a:lnSpc>
            </a:pPr>
            <a:r>
              <a:rPr sz="1100" b="0">
                <a:solidFill>
                  <a:srgbClr val="94A3B8"/>
                </a:solidFill>
                <a:latin typeface="맑은 고딕"/>
                <a:ea typeface="맑은 고딕"/>
                <a:cs typeface="맑은 고딕"/>
              </a:rPr>
              <a:t>Learned Head LOOCV Accuracy · 랜덤 기준 6.25%</a:t>
            </a:r>
          </a:p>
        </p:txBody>
      </p:sp>
      <p:sp>
        <p:nvSpPr>
          <p:cNvPr id="24" name="Rounded Rectangle 23"/>
          <p:cNvSpPr/>
          <p:nvPr/>
        </p:nvSpPr>
        <p:spPr>
          <a:xfrm>
            <a:off x="6949440" y="2011680"/>
            <a:ext cx="4647895" cy="137160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56032" tIns="54864" rIns="146304" bIns="54864" rtlCol="0" anchor="ctr"/>
          <a:lstStyle/>
          <a:p>
            <a:pPr algn="l">
              <a:lnSpc>
                <a:spcPct val="104000"/>
              </a:lnSpc>
            </a:pPr>
            <a:r>
              <a:rPr sz="1700" b="1">
                <a:solidFill>
                  <a:srgbClr val="2563EB"/>
                </a:solidFill>
                <a:latin typeface="맑은 고딕"/>
                <a:ea typeface="맑은 고딕"/>
                <a:cs typeface="맑은 고딕"/>
              </a:rPr>
              <a:t>곡선이 아직 오르는 중</a:t>
            </a:r>
          </a:p>
          <a:p>
            <a:pPr algn="l">
              <a:lnSpc>
                <a:spcPct val="104000"/>
              </a:lnSpc>
              <a:spcBef>
                <a:spcPts val="500"/>
              </a:spcBef>
            </a:pPr>
            <a:r>
              <a:rPr sz="1400" b="0">
                <a:solidFill>
                  <a:srgbClr val="475569"/>
                </a:solidFill>
                <a:latin typeface="맑은 고딕"/>
                <a:ea typeface="맑은 고딕"/>
                <a:cs typeface="맑은 고딕"/>
              </a:rPr>
              <a:t>n이 2배 될 때마다 상승 지속 · 고원 미도달</a:t>
            </a:r>
          </a:p>
        </p:txBody>
      </p:sp>
      <p:sp>
        <p:nvSpPr>
          <p:cNvPr id="25" name="Rounded Rectangle 24"/>
          <p:cNvSpPr/>
          <p:nvPr/>
        </p:nvSpPr>
        <p:spPr>
          <a:xfrm>
            <a:off x="6949440" y="3566160"/>
            <a:ext cx="4647895" cy="137160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56032" tIns="54864" rIns="146304" bIns="54864" rtlCol="0" anchor="ctr"/>
          <a:lstStyle/>
          <a:p>
            <a:pPr algn="l">
              <a:lnSpc>
                <a:spcPct val="104000"/>
              </a:lnSpc>
            </a:pPr>
            <a:r>
              <a:rPr sz="1700" b="1">
                <a:solidFill>
                  <a:srgbClr val="B45309"/>
                </a:solidFill>
                <a:latin typeface="맑은 고딕"/>
                <a:ea typeface="맑은 고딕"/>
                <a:cs typeface="맑은 고딕"/>
              </a:rPr>
              <a:t>병목은 데이터 양</a:t>
            </a:r>
          </a:p>
          <a:p>
            <a:pPr algn="l">
              <a:lnSpc>
                <a:spcPct val="112000"/>
              </a:lnSpc>
              <a:spcBef>
                <a:spcPts val="500"/>
              </a:spcBef>
            </a:pPr>
            <a:r>
              <a:rPr sz="1400" b="0">
                <a:solidFill>
                  <a:srgbClr val="475569"/>
                </a:solidFill>
                <a:latin typeface="맑은 고딕"/>
                <a:ea typeface="맑은 고딕"/>
                <a:cs typeface="맑은 고딕"/>
              </a:rPr>
              <a:t>알고리즘 한계가 아니므로, 질 좋은 데이터 확충 시 기준선(90.5%) 접근 가능</a:t>
            </a:r>
          </a:p>
        </p:txBody>
      </p:sp>
      <p:sp>
        <p:nvSpPr>
          <p:cNvPr id="26" name="TextBox 25"/>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27" name="TextBox 26"/>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11</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lang="en-US" sz="3000" b="1" dirty="0">
                <a:solidFill>
                  <a:srgbClr val="0F172A"/>
                </a:solidFill>
                <a:latin typeface="맑은 고딕"/>
                <a:ea typeface="맑은 고딕"/>
                <a:cs typeface="맑은 고딕"/>
              </a:rPr>
              <a:t>Dashboard</a:t>
            </a:r>
            <a:endParaRPr sz="3000" b="1" dirty="0">
              <a:solidFill>
                <a:srgbClr val="0F172A"/>
              </a:solidFill>
              <a:latin typeface="맑은 고딕"/>
              <a:ea typeface="맑은 고딕"/>
              <a:cs typeface="맑은 고딕"/>
            </a:endParaRP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2109845"/>
            <a:ext cx="5394960" cy="91440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685800" tIns="54864" rIns="146304" bIns="54864" rtlCol="0" anchor="ctr"/>
          <a:lstStyle/>
          <a:p>
            <a:pPr algn="l">
              <a:lnSpc>
                <a:spcPct val="104000"/>
              </a:lnSpc>
            </a:pPr>
            <a:r>
              <a:rPr sz="1650" b="1">
                <a:solidFill>
                  <a:srgbClr val="0F172A"/>
                </a:solidFill>
                <a:latin typeface="맑은 고딕"/>
                <a:ea typeface="맑은 고딕"/>
                <a:cs typeface="맑은 고딕"/>
              </a:rPr>
              <a:t>자소서 PDF 업로드</a:t>
            </a:r>
          </a:p>
          <a:p>
            <a:pPr algn="l">
              <a:lnSpc>
                <a:spcPct val="104000"/>
              </a:lnSpc>
              <a:spcBef>
                <a:spcPts val="300"/>
              </a:spcBef>
            </a:pPr>
            <a:r>
              <a:rPr sz="1300" b="0">
                <a:solidFill>
                  <a:srgbClr val="475569"/>
                </a:solidFill>
                <a:latin typeface="맑은 고딕"/>
                <a:ea typeface="맑은 고딕"/>
                <a:cs typeface="맑은 고딕"/>
              </a:rPr>
              <a:t>도메인 판정 + 레이더 차트</a:t>
            </a:r>
          </a:p>
        </p:txBody>
      </p:sp>
      <p:sp>
        <p:nvSpPr>
          <p:cNvPr id="6" name="Oval 5"/>
          <p:cNvSpPr/>
          <p:nvPr/>
        </p:nvSpPr>
        <p:spPr>
          <a:xfrm>
            <a:off x="758952" y="2356734"/>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4000"/>
              </a:lnSpc>
            </a:pPr>
            <a:r>
              <a:rPr sz="1600" b="1">
                <a:solidFill>
                  <a:srgbClr val="FFFFFF"/>
                </a:solidFill>
                <a:latin typeface="맑은 고딕"/>
                <a:ea typeface="맑은 고딕"/>
                <a:cs typeface="맑은 고딕"/>
              </a:rPr>
              <a:t>1</a:t>
            </a:r>
          </a:p>
        </p:txBody>
      </p:sp>
      <p:sp>
        <p:nvSpPr>
          <p:cNvPr id="7" name="Rounded Rectangle 6"/>
          <p:cNvSpPr/>
          <p:nvPr/>
        </p:nvSpPr>
        <p:spPr>
          <a:xfrm>
            <a:off x="594360" y="3188837"/>
            <a:ext cx="5394960" cy="91440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685800" tIns="54864" rIns="146304" bIns="54864" rtlCol="0" anchor="ctr"/>
          <a:lstStyle/>
          <a:p>
            <a:pPr algn="l">
              <a:lnSpc>
                <a:spcPct val="104000"/>
              </a:lnSpc>
            </a:pPr>
            <a:r>
              <a:rPr sz="1650" b="1">
                <a:solidFill>
                  <a:srgbClr val="0F172A"/>
                </a:solidFill>
                <a:latin typeface="맑은 고딕"/>
                <a:ea typeface="맑은 고딕"/>
                <a:cs typeface="맑은 고딕"/>
              </a:rPr>
              <a:t>Audit Panel</a:t>
            </a:r>
          </a:p>
          <a:p>
            <a:pPr algn="l">
              <a:lnSpc>
                <a:spcPct val="104000"/>
              </a:lnSpc>
              <a:spcBef>
                <a:spcPts val="300"/>
              </a:spcBef>
            </a:pPr>
            <a:r>
              <a:rPr sz="1300" b="0">
                <a:solidFill>
                  <a:srgbClr val="475569"/>
                </a:solidFill>
                <a:latin typeface="맑은 고딕"/>
                <a:ea typeface="맑은 고딕"/>
                <a:cs typeface="맑은 고딕"/>
              </a:rPr>
              <a:t>판정 근거 — 키워드·가중치·유사도 공개</a:t>
            </a:r>
          </a:p>
        </p:txBody>
      </p:sp>
      <p:sp>
        <p:nvSpPr>
          <p:cNvPr id="8" name="Oval 7"/>
          <p:cNvSpPr/>
          <p:nvPr/>
        </p:nvSpPr>
        <p:spPr>
          <a:xfrm>
            <a:off x="758952" y="3435725"/>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4000"/>
              </a:lnSpc>
            </a:pPr>
            <a:r>
              <a:rPr sz="1600" b="1">
                <a:solidFill>
                  <a:srgbClr val="FFFFFF"/>
                </a:solidFill>
                <a:latin typeface="맑은 고딕"/>
                <a:ea typeface="맑은 고딕"/>
                <a:cs typeface="맑은 고딕"/>
              </a:rPr>
              <a:t>2</a:t>
            </a:r>
          </a:p>
        </p:txBody>
      </p:sp>
      <p:sp>
        <p:nvSpPr>
          <p:cNvPr id="9" name="Rounded Rectangle 8"/>
          <p:cNvSpPr/>
          <p:nvPr/>
        </p:nvSpPr>
        <p:spPr>
          <a:xfrm>
            <a:off x="594360" y="4267830"/>
            <a:ext cx="5394960" cy="914400"/>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685800" tIns="54864" rIns="146304" bIns="54864" rtlCol="0" anchor="ctr"/>
          <a:lstStyle/>
          <a:p>
            <a:pPr algn="l">
              <a:lnSpc>
                <a:spcPct val="104000"/>
              </a:lnSpc>
            </a:pPr>
            <a:r>
              <a:rPr sz="1650" b="1">
                <a:solidFill>
                  <a:srgbClr val="0F172A"/>
                </a:solidFill>
                <a:latin typeface="맑은 고딕"/>
                <a:ea typeface="맑은 고딕"/>
                <a:cs typeface="맑은 고딕"/>
              </a:rPr>
              <a:t>Career Mind-Map</a:t>
            </a:r>
          </a:p>
          <a:p>
            <a:pPr algn="l">
              <a:lnSpc>
                <a:spcPct val="104000"/>
              </a:lnSpc>
              <a:spcBef>
                <a:spcPts val="300"/>
              </a:spcBef>
            </a:pPr>
            <a:r>
              <a:rPr sz="1300" b="0">
                <a:solidFill>
                  <a:srgbClr val="475569"/>
                </a:solidFill>
                <a:latin typeface="맑은 고딕"/>
                <a:ea typeface="맑은 고딕"/>
                <a:cs typeface="맑은 고딕"/>
              </a:rPr>
              <a:t>역량 중심 → 직무·연구실 연결 시각화</a:t>
            </a:r>
          </a:p>
        </p:txBody>
      </p:sp>
      <p:sp>
        <p:nvSpPr>
          <p:cNvPr id="10" name="Oval 9"/>
          <p:cNvSpPr/>
          <p:nvPr/>
        </p:nvSpPr>
        <p:spPr>
          <a:xfrm>
            <a:off x="758952" y="45147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4000"/>
              </a:lnSpc>
            </a:pPr>
            <a:r>
              <a:rPr sz="1600" b="1">
                <a:solidFill>
                  <a:srgbClr val="FFFFFF"/>
                </a:solidFill>
                <a:latin typeface="맑은 고딕"/>
                <a:ea typeface="맑은 고딕"/>
                <a:cs typeface="맑은 고딕"/>
              </a:rPr>
              <a:t>3</a:t>
            </a:r>
          </a:p>
        </p:txBody>
      </p:sp>
      <p:sp>
        <p:nvSpPr>
          <p:cNvPr id="11" name="Rounded Rectangle 10"/>
          <p:cNvSpPr/>
          <p:nvPr/>
        </p:nvSpPr>
        <p:spPr>
          <a:xfrm>
            <a:off x="6400800" y="2109845"/>
            <a:ext cx="5196535" cy="3200400"/>
          </a:xfrm>
          <a:prstGeom prst="roundRect">
            <a:avLst>
              <a:gd name="adj" fmla="val 7000"/>
            </a:avLst>
          </a:prstGeom>
          <a:solidFill>
            <a:srgbClr val="F8FAFC"/>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ctr">
              <a:lnSpc>
                <a:spcPct val="104000"/>
              </a:lnSpc>
            </a:pPr>
            <a:r>
              <a:rPr lang="ko-KR" altLang="en-US" sz="1500" b="1" dirty="0">
                <a:solidFill>
                  <a:srgbClr val="94A3B8"/>
                </a:solidFill>
                <a:latin typeface="맑은 고딕"/>
                <a:ea typeface="맑은 고딕"/>
                <a:cs typeface="맑은 고딕"/>
              </a:rPr>
              <a:t>앱 스크린샷</a:t>
            </a:r>
          </a:p>
          <a:p>
            <a:pPr algn="ctr">
              <a:lnSpc>
                <a:spcPct val="104000"/>
              </a:lnSpc>
              <a:spcBef>
                <a:spcPts val="400"/>
              </a:spcBef>
            </a:pPr>
            <a:r>
              <a:rPr lang="en-US" altLang="ko-KR" sz="1250" b="0" dirty="0">
                <a:solidFill>
                  <a:srgbClr val="94A3B8"/>
                </a:solidFill>
                <a:latin typeface="맑은 고딕"/>
                <a:ea typeface="맑은 고딕"/>
                <a:cs typeface="맑은 고딕"/>
              </a:rPr>
              <a:t>(</a:t>
            </a:r>
            <a:r>
              <a:rPr lang="ko-KR" altLang="en-US" sz="1250" b="0" dirty="0">
                <a:solidFill>
                  <a:srgbClr val="94A3B8"/>
                </a:solidFill>
                <a:latin typeface="맑은 고딕"/>
                <a:ea typeface="맑은 고딕"/>
                <a:cs typeface="맑은 고딕"/>
              </a:rPr>
              <a:t>분석 결과 화면 캡처를 여기에 배치</a:t>
            </a:r>
            <a:r>
              <a:rPr lang="en-US" altLang="ko-KR" sz="1250" b="0" dirty="0">
                <a:solidFill>
                  <a:srgbClr val="94A3B8"/>
                </a:solidFill>
                <a:latin typeface="맑은 고딕"/>
                <a:ea typeface="맑은 고딕"/>
                <a:cs typeface="맑은 고딕"/>
              </a:rPr>
              <a:t>)</a:t>
            </a:r>
          </a:p>
        </p:txBody>
      </p:sp>
      <p:sp>
        <p:nvSpPr>
          <p:cNvPr id="13" name="TextBox 12"/>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14" name="TextBox 13"/>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12</a:t>
            </a:r>
            <a:r>
              <a:rPr sz="1200" b="0" dirty="0">
                <a:solidFill>
                  <a:srgbClr val="94A3B8"/>
                </a:solidFill>
                <a:latin typeface="맑은 고딕"/>
                <a:ea typeface="맑은 고딕"/>
                <a:cs typeface="맑은 고딕"/>
              </a:rPr>
              <a:t> / </a:t>
            </a:r>
            <a:r>
              <a:rPr lang="en-US" sz="1200" dirty="0">
                <a:solidFill>
                  <a:srgbClr val="94A3B8"/>
                </a:solidFill>
                <a:latin typeface="맑은 고딕"/>
                <a:ea typeface="맑은 고딕"/>
                <a:cs typeface="맑은 고딕"/>
              </a:rPr>
              <a:t>13</a:t>
            </a:r>
            <a:endParaRPr sz="1200" b="0" dirty="0">
              <a:solidFill>
                <a:srgbClr val="94A3B8"/>
              </a:solidFill>
              <a:latin typeface="맑은 고딕"/>
              <a:ea typeface="맑은 고딕"/>
              <a:cs typeface="맑은 고딕"/>
            </a:endParaRPr>
          </a:p>
        </p:txBody>
      </p:sp>
      <p:pic>
        <p:nvPicPr>
          <p:cNvPr id="18" name="그림 17">
            <a:extLst>
              <a:ext uri="{FF2B5EF4-FFF2-40B4-BE49-F238E27FC236}">
                <a16:creationId xmlns:a16="http://schemas.microsoft.com/office/drawing/2014/main" id="{C77BC3FD-7C07-223F-C9FF-9D3229411348}"/>
              </a:ext>
            </a:extLst>
          </p:cNvPr>
          <p:cNvPicPr>
            <a:picLocks noChangeAspect="1"/>
          </p:cNvPicPr>
          <p:nvPr/>
        </p:nvPicPr>
        <p:blipFill>
          <a:blip r:embed="rId3"/>
          <a:stretch>
            <a:fillRect/>
          </a:stretch>
        </p:blipFill>
        <p:spPr>
          <a:xfrm>
            <a:off x="6322856" y="1410814"/>
            <a:ext cx="5274479" cy="40621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31520"/>
            <a:ext cx="11002975" cy="443968"/>
          </a:xfrm>
          <a:prstGeom prst="rect">
            <a:avLst/>
          </a:prstGeom>
          <a:noFill/>
        </p:spPr>
        <p:txBody>
          <a:bodyPr wrap="square" lIns="0" tIns="0" rIns="0" bIns="0" anchor="t">
            <a:spAutoFit/>
          </a:bodyPr>
          <a:lstStyle/>
          <a:p>
            <a:pPr algn="l">
              <a:lnSpc>
                <a:spcPct val="104000"/>
              </a:lnSpc>
            </a:pPr>
            <a:r>
              <a:rPr lang="en-US" sz="3000" b="1" dirty="0">
                <a:solidFill>
                  <a:srgbClr val="0F172A"/>
                </a:solidFill>
                <a:latin typeface="맑은 고딕"/>
                <a:ea typeface="맑은 고딕"/>
                <a:cs typeface="맑은 고딕"/>
              </a:rPr>
              <a:t> Limitation &amp; Future work</a:t>
            </a:r>
            <a:endParaRPr sz="3000" b="1" dirty="0">
              <a:solidFill>
                <a:srgbClr val="0F172A"/>
              </a:solidFill>
              <a:latin typeface="맑은 고딕"/>
              <a:ea typeface="맑은 고딕"/>
              <a:cs typeface="맑은 고딕"/>
            </a:endParaRPr>
          </a:p>
        </p:txBody>
      </p:sp>
      <p:sp>
        <p:nvSpPr>
          <p:cNvPr id="4" name="Rectangle 3"/>
          <p:cNvSpPr/>
          <p:nvPr/>
        </p:nvSpPr>
        <p:spPr>
          <a:xfrm>
            <a:off x="594360" y="1463040"/>
            <a:ext cx="96012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755648"/>
            <a:ext cx="5074920" cy="320040"/>
          </a:xfrm>
          <a:prstGeom prst="rect">
            <a:avLst/>
          </a:prstGeom>
          <a:noFill/>
        </p:spPr>
        <p:txBody>
          <a:bodyPr wrap="square" lIns="0" tIns="0" rIns="0" bIns="0" anchor="t">
            <a:spAutoFit/>
          </a:bodyPr>
          <a:lstStyle/>
          <a:p>
            <a:pPr algn="l">
              <a:lnSpc>
                <a:spcPct val="104000"/>
              </a:lnSpc>
            </a:pPr>
            <a:r>
              <a:rPr sz="1500" b="1">
                <a:solidFill>
                  <a:srgbClr val="475569"/>
                </a:solidFill>
                <a:latin typeface="맑은 고딕"/>
                <a:ea typeface="맑은 고딕"/>
                <a:cs typeface="맑은 고딕"/>
              </a:rPr>
              <a:t>한계</a:t>
            </a:r>
          </a:p>
        </p:txBody>
      </p:sp>
      <p:sp>
        <p:nvSpPr>
          <p:cNvPr id="6" name="TextBox 5"/>
          <p:cNvSpPr txBox="1"/>
          <p:nvPr/>
        </p:nvSpPr>
        <p:spPr>
          <a:xfrm>
            <a:off x="6537960" y="1755648"/>
            <a:ext cx="5074920" cy="320040"/>
          </a:xfrm>
          <a:prstGeom prst="rect">
            <a:avLst/>
          </a:prstGeom>
          <a:noFill/>
        </p:spPr>
        <p:txBody>
          <a:bodyPr wrap="square" lIns="0" tIns="0" rIns="0" bIns="0" anchor="t">
            <a:spAutoFit/>
          </a:bodyPr>
          <a:lstStyle/>
          <a:p>
            <a:pPr algn="l">
              <a:lnSpc>
                <a:spcPct val="104000"/>
              </a:lnSpc>
            </a:pPr>
            <a:r>
              <a:rPr sz="1500" b="1">
                <a:solidFill>
                  <a:srgbClr val="2563EB"/>
                </a:solidFill>
                <a:latin typeface="맑은 고딕"/>
                <a:ea typeface="맑은 고딕"/>
                <a:cs typeface="맑은 고딕"/>
              </a:rPr>
              <a:t>향후 방향</a:t>
            </a:r>
          </a:p>
        </p:txBody>
      </p:sp>
      <p:sp>
        <p:nvSpPr>
          <p:cNvPr id="7" name="Rounded Rectangle 6"/>
          <p:cNvSpPr/>
          <p:nvPr/>
        </p:nvSpPr>
        <p:spPr>
          <a:xfrm>
            <a:off x="594360" y="2176272"/>
            <a:ext cx="5074920" cy="804672"/>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19456" tIns="54864" rIns="146304" bIns="54864" rtlCol="0" anchor="ctr"/>
          <a:lstStyle/>
          <a:p>
            <a:pPr algn="l">
              <a:lnSpc>
                <a:spcPct val="104000"/>
              </a:lnSpc>
            </a:pPr>
            <a:r>
              <a:rPr sz="1450" b="0">
                <a:solidFill>
                  <a:srgbClr val="0F172A"/>
                </a:solidFill>
                <a:latin typeface="맑은 고딕"/>
                <a:ea typeface="맑은 고딕"/>
                <a:cs typeface="맑은 고딕"/>
              </a:rPr>
              <a:t>다국어 범용 SBERT — 한국어 전문어 약함</a:t>
            </a:r>
          </a:p>
        </p:txBody>
      </p:sp>
      <p:sp>
        <p:nvSpPr>
          <p:cNvPr id="8" name="TextBox 7"/>
          <p:cNvSpPr txBox="1"/>
          <p:nvPr/>
        </p:nvSpPr>
        <p:spPr>
          <a:xfrm>
            <a:off x="5760720" y="2176272"/>
            <a:ext cx="685800" cy="804672"/>
          </a:xfrm>
          <a:prstGeom prst="rect">
            <a:avLst/>
          </a:prstGeom>
          <a:noFill/>
        </p:spPr>
        <p:txBody>
          <a:bodyPr wrap="square" lIns="0" tIns="0" rIns="0" bIns="0" anchor="ctr">
            <a:spAutoFit/>
          </a:bodyPr>
          <a:lstStyle/>
          <a:p>
            <a:pPr algn="ctr">
              <a:lnSpc>
                <a:spcPct val="104000"/>
              </a:lnSpc>
            </a:pPr>
            <a:r>
              <a:rPr sz="1800" b="1">
                <a:solidFill>
                  <a:srgbClr val="94A3B8"/>
                </a:solidFill>
                <a:latin typeface="맑은 고딕"/>
                <a:ea typeface="맑은 고딕"/>
                <a:cs typeface="맑은 고딕"/>
              </a:rPr>
              <a:t>→</a:t>
            </a:r>
          </a:p>
        </p:txBody>
      </p:sp>
      <p:sp>
        <p:nvSpPr>
          <p:cNvPr id="9" name="Rounded Rectangle 8"/>
          <p:cNvSpPr/>
          <p:nvPr/>
        </p:nvSpPr>
        <p:spPr>
          <a:xfrm>
            <a:off x="6537960" y="2176272"/>
            <a:ext cx="5074920" cy="804672"/>
          </a:xfrm>
          <a:prstGeom prst="roundRect">
            <a:avLst>
              <a:gd name="adj" fmla="val 7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54864" rIns="146304" bIns="54864" rtlCol="0" anchor="ctr"/>
          <a:lstStyle/>
          <a:p>
            <a:pPr algn="l">
              <a:lnSpc>
                <a:spcPct val="104000"/>
              </a:lnSpc>
            </a:pPr>
            <a:r>
              <a:rPr sz="1450" b="1">
                <a:solidFill>
                  <a:srgbClr val="1E3A8A"/>
                </a:solidFill>
                <a:latin typeface="맑은 고딕"/>
                <a:ea typeface="맑은 고딕"/>
                <a:cs typeface="맑은 고딕"/>
              </a:rPr>
              <a:t>한국어 특화 임베딩(bge-m3-ko) 교체</a:t>
            </a:r>
          </a:p>
        </p:txBody>
      </p:sp>
      <p:sp>
        <p:nvSpPr>
          <p:cNvPr id="10" name="Rounded Rectangle 9"/>
          <p:cNvSpPr/>
          <p:nvPr/>
        </p:nvSpPr>
        <p:spPr>
          <a:xfrm>
            <a:off x="594360" y="3145536"/>
            <a:ext cx="5074920" cy="804672"/>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19456" tIns="54864" rIns="146304" bIns="54864" rtlCol="0" anchor="ctr"/>
          <a:lstStyle/>
          <a:p>
            <a:pPr algn="l">
              <a:lnSpc>
                <a:spcPct val="104000"/>
              </a:lnSpc>
            </a:pPr>
            <a:r>
              <a:rPr sz="1450" b="0">
                <a:solidFill>
                  <a:srgbClr val="0F172A"/>
                </a:solidFill>
                <a:latin typeface="맑은 고딕"/>
                <a:ea typeface="맑은 고딕"/>
                <a:cs typeface="맑은 고딕"/>
              </a:rPr>
              <a:t>평가셋 84개 — 통계적 한계는 CI로 보완</a:t>
            </a:r>
          </a:p>
        </p:txBody>
      </p:sp>
      <p:sp>
        <p:nvSpPr>
          <p:cNvPr id="11" name="TextBox 10"/>
          <p:cNvSpPr txBox="1"/>
          <p:nvPr/>
        </p:nvSpPr>
        <p:spPr>
          <a:xfrm>
            <a:off x="5760720" y="3145536"/>
            <a:ext cx="685800" cy="804672"/>
          </a:xfrm>
          <a:prstGeom prst="rect">
            <a:avLst/>
          </a:prstGeom>
          <a:noFill/>
        </p:spPr>
        <p:txBody>
          <a:bodyPr wrap="square" lIns="0" tIns="0" rIns="0" bIns="0" anchor="ctr">
            <a:spAutoFit/>
          </a:bodyPr>
          <a:lstStyle/>
          <a:p>
            <a:pPr algn="ctr">
              <a:lnSpc>
                <a:spcPct val="104000"/>
              </a:lnSpc>
            </a:pPr>
            <a:r>
              <a:rPr sz="1800" b="1">
                <a:solidFill>
                  <a:srgbClr val="94A3B8"/>
                </a:solidFill>
                <a:latin typeface="맑은 고딕"/>
                <a:ea typeface="맑은 고딕"/>
                <a:cs typeface="맑은 고딕"/>
              </a:rPr>
              <a:t>→</a:t>
            </a:r>
          </a:p>
        </p:txBody>
      </p:sp>
      <p:sp>
        <p:nvSpPr>
          <p:cNvPr id="12" name="Rounded Rectangle 11"/>
          <p:cNvSpPr/>
          <p:nvPr/>
        </p:nvSpPr>
        <p:spPr>
          <a:xfrm>
            <a:off x="6537960" y="3145536"/>
            <a:ext cx="5074920" cy="804672"/>
          </a:xfrm>
          <a:prstGeom prst="roundRect">
            <a:avLst>
              <a:gd name="adj" fmla="val 7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54864" rIns="146304" bIns="54864" rtlCol="0" anchor="ctr"/>
          <a:lstStyle/>
          <a:p>
            <a:pPr algn="l">
              <a:lnSpc>
                <a:spcPct val="104000"/>
              </a:lnSpc>
            </a:pPr>
            <a:r>
              <a:rPr sz="1450" b="1">
                <a:solidFill>
                  <a:srgbClr val="1E3A8A"/>
                </a:solidFill>
                <a:latin typeface="맑은 고딕"/>
                <a:ea typeface="맑은 고딕"/>
                <a:cs typeface="맑은 고딕"/>
              </a:rPr>
              <a:t>평가셋 확대 — 학습곡선이 효과를 보장</a:t>
            </a:r>
          </a:p>
        </p:txBody>
      </p:sp>
      <p:sp>
        <p:nvSpPr>
          <p:cNvPr id="13" name="Rounded Rectangle 12"/>
          <p:cNvSpPr/>
          <p:nvPr/>
        </p:nvSpPr>
        <p:spPr>
          <a:xfrm>
            <a:off x="594360" y="4114800"/>
            <a:ext cx="5074920" cy="804672"/>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19456" tIns="54864" rIns="146304" bIns="54864" rtlCol="0" anchor="ctr"/>
          <a:lstStyle/>
          <a:p>
            <a:pPr algn="l">
              <a:lnSpc>
                <a:spcPct val="104000"/>
              </a:lnSpc>
            </a:pPr>
            <a:r>
              <a:rPr sz="1450" b="0">
                <a:solidFill>
                  <a:srgbClr val="0F172A"/>
                </a:solidFill>
                <a:latin typeface="맑은 고딕"/>
                <a:ea typeface="맑은 고딕"/>
                <a:cs typeface="맑은 고딕"/>
              </a:rPr>
              <a:t>합성 ↔ 실데이터 일반화 갭 (72.4%)</a:t>
            </a:r>
          </a:p>
        </p:txBody>
      </p:sp>
      <p:sp>
        <p:nvSpPr>
          <p:cNvPr id="14" name="TextBox 13"/>
          <p:cNvSpPr txBox="1"/>
          <p:nvPr/>
        </p:nvSpPr>
        <p:spPr>
          <a:xfrm>
            <a:off x="5760720" y="4114800"/>
            <a:ext cx="685800" cy="804672"/>
          </a:xfrm>
          <a:prstGeom prst="rect">
            <a:avLst/>
          </a:prstGeom>
          <a:noFill/>
        </p:spPr>
        <p:txBody>
          <a:bodyPr wrap="square" lIns="0" tIns="0" rIns="0" bIns="0" anchor="ctr">
            <a:spAutoFit/>
          </a:bodyPr>
          <a:lstStyle/>
          <a:p>
            <a:pPr algn="ctr">
              <a:lnSpc>
                <a:spcPct val="104000"/>
              </a:lnSpc>
            </a:pPr>
            <a:r>
              <a:rPr sz="1800" b="1">
                <a:solidFill>
                  <a:srgbClr val="94A3B8"/>
                </a:solidFill>
                <a:latin typeface="맑은 고딕"/>
                <a:ea typeface="맑은 고딕"/>
                <a:cs typeface="맑은 고딕"/>
              </a:rPr>
              <a:t>→</a:t>
            </a:r>
          </a:p>
        </p:txBody>
      </p:sp>
      <p:sp>
        <p:nvSpPr>
          <p:cNvPr id="15" name="Rounded Rectangle 14"/>
          <p:cNvSpPr/>
          <p:nvPr/>
        </p:nvSpPr>
        <p:spPr>
          <a:xfrm>
            <a:off x="6537960" y="4114800"/>
            <a:ext cx="5074920" cy="804672"/>
          </a:xfrm>
          <a:prstGeom prst="roundRect">
            <a:avLst>
              <a:gd name="adj" fmla="val 7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54864" rIns="146304" bIns="54864" rtlCol="0" anchor="ctr"/>
          <a:lstStyle/>
          <a:p>
            <a:pPr algn="l">
              <a:lnSpc>
                <a:spcPct val="104000"/>
              </a:lnSpc>
            </a:pPr>
            <a:r>
              <a:rPr sz="1450" b="1">
                <a:solidFill>
                  <a:srgbClr val="1E3A8A"/>
                </a:solidFill>
                <a:latin typeface="맑은 고딕"/>
                <a:ea typeface="맑은 고딕"/>
                <a:cs typeface="맑은 고딕"/>
              </a:rPr>
              <a:t>실제 자소서 수집 + 도메인 fine-tuning</a:t>
            </a:r>
          </a:p>
        </p:txBody>
      </p:sp>
      <p:sp>
        <p:nvSpPr>
          <p:cNvPr id="16" name="Rounded Rectangle 15"/>
          <p:cNvSpPr/>
          <p:nvPr/>
        </p:nvSpPr>
        <p:spPr>
          <a:xfrm>
            <a:off x="594360" y="5084064"/>
            <a:ext cx="5074920" cy="804672"/>
          </a:xfrm>
          <a:prstGeom prst="roundRect">
            <a:avLst>
              <a:gd name="adj" fmla="val 7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19456" tIns="54864" rIns="146304" bIns="54864" rtlCol="0" anchor="ctr"/>
          <a:lstStyle/>
          <a:p>
            <a:pPr algn="l">
              <a:lnSpc>
                <a:spcPct val="104000"/>
              </a:lnSpc>
            </a:pPr>
            <a:r>
              <a:rPr sz="1450" b="0">
                <a:solidFill>
                  <a:srgbClr val="0F172A"/>
                </a:solidFill>
                <a:latin typeface="맑은 고딕"/>
                <a:ea typeface="맑은 고딕"/>
                <a:cs typeface="맑은 고딕"/>
              </a:rPr>
              <a:t>추천 풀이 정적 데이터에 고정</a:t>
            </a:r>
          </a:p>
        </p:txBody>
      </p:sp>
      <p:sp>
        <p:nvSpPr>
          <p:cNvPr id="17" name="TextBox 16"/>
          <p:cNvSpPr txBox="1"/>
          <p:nvPr/>
        </p:nvSpPr>
        <p:spPr>
          <a:xfrm>
            <a:off x="5760720" y="5084064"/>
            <a:ext cx="685800" cy="804672"/>
          </a:xfrm>
          <a:prstGeom prst="rect">
            <a:avLst/>
          </a:prstGeom>
          <a:noFill/>
        </p:spPr>
        <p:txBody>
          <a:bodyPr wrap="square" lIns="0" tIns="0" rIns="0" bIns="0" anchor="ctr">
            <a:spAutoFit/>
          </a:bodyPr>
          <a:lstStyle/>
          <a:p>
            <a:pPr algn="ctr">
              <a:lnSpc>
                <a:spcPct val="104000"/>
              </a:lnSpc>
            </a:pPr>
            <a:r>
              <a:rPr sz="1800" b="1">
                <a:solidFill>
                  <a:srgbClr val="94A3B8"/>
                </a:solidFill>
                <a:latin typeface="맑은 고딕"/>
                <a:ea typeface="맑은 고딕"/>
                <a:cs typeface="맑은 고딕"/>
              </a:rPr>
              <a:t>→</a:t>
            </a:r>
          </a:p>
        </p:txBody>
      </p:sp>
      <p:sp>
        <p:nvSpPr>
          <p:cNvPr id="18" name="Rounded Rectangle 17"/>
          <p:cNvSpPr/>
          <p:nvPr/>
        </p:nvSpPr>
        <p:spPr>
          <a:xfrm>
            <a:off x="6537960" y="5084064"/>
            <a:ext cx="5074920" cy="804672"/>
          </a:xfrm>
          <a:prstGeom prst="roundRect">
            <a:avLst>
              <a:gd name="adj" fmla="val 7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54864" rIns="146304" bIns="54864" rtlCol="0" anchor="ctr"/>
          <a:lstStyle/>
          <a:p>
            <a:pPr algn="l">
              <a:lnSpc>
                <a:spcPct val="104000"/>
              </a:lnSpc>
            </a:pPr>
            <a:r>
              <a:rPr sz="1450" b="1">
                <a:solidFill>
                  <a:srgbClr val="1E3A8A"/>
                </a:solidFill>
                <a:latin typeface="맑은 고딕"/>
                <a:ea typeface="맑은 고딕"/>
                <a:cs typeface="맑은 고딕"/>
              </a:rPr>
              <a:t>채용공고 크롤링 — 실시간 직무 매칭</a:t>
            </a:r>
          </a:p>
        </p:txBody>
      </p:sp>
      <p:sp>
        <p:nvSpPr>
          <p:cNvPr id="19" name="TextBox 18"/>
          <p:cNvSpPr txBox="1"/>
          <p:nvPr/>
        </p:nvSpPr>
        <p:spPr>
          <a:xfrm>
            <a:off x="594360" y="6473952"/>
            <a:ext cx="6400800" cy="274320"/>
          </a:xfrm>
          <a:prstGeom prst="rect">
            <a:avLst/>
          </a:prstGeom>
          <a:noFill/>
        </p:spPr>
        <p:txBody>
          <a:bodyPr wrap="square" lIns="0" tIns="0" rIns="0" bIns="0" anchor="t">
            <a:spAutoFit/>
          </a:bodyPr>
          <a:lstStyle/>
          <a:p>
            <a:pPr algn="l">
              <a:lnSpc>
                <a:spcPct val="104000"/>
              </a:lnSpc>
            </a:pPr>
            <a:r>
              <a:rPr sz="900" b="0">
                <a:solidFill>
                  <a:srgbClr val="94A3B8"/>
                </a:solidFill>
                <a:latin typeface="맑은 고딕"/>
                <a:ea typeface="맑은 고딕"/>
                <a:cs typeface="맑은 고딕"/>
              </a:rPr>
              <a:t>Career-Path Navigator</a:t>
            </a:r>
          </a:p>
        </p:txBody>
      </p:sp>
      <p:sp>
        <p:nvSpPr>
          <p:cNvPr id="20" name="TextBox 19"/>
          <p:cNvSpPr txBox="1"/>
          <p:nvPr/>
        </p:nvSpPr>
        <p:spPr>
          <a:xfrm>
            <a:off x="10134295" y="6446520"/>
            <a:ext cx="1463040" cy="177613"/>
          </a:xfrm>
          <a:prstGeom prst="rect">
            <a:avLst/>
          </a:prstGeom>
          <a:noFill/>
        </p:spPr>
        <p:txBody>
          <a:bodyPr wrap="square" lIns="0" tIns="0" rIns="0" bIns="0" anchor="t">
            <a:spAutoFit/>
          </a:bodyPr>
          <a:lstStyle/>
          <a:p>
            <a:pPr algn="r">
              <a:lnSpc>
                <a:spcPct val="104000"/>
              </a:lnSpc>
            </a:pPr>
            <a:r>
              <a:rPr sz="1200" b="1" dirty="0">
                <a:solidFill>
                  <a:srgbClr val="475569"/>
                </a:solidFill>
                <a:latin typeface="맑은 고딕"/>
                <a:ea typeface="맑은 고딕"/>
                <a:cs typeface="맑은 고딕"/>
              </a:rPr>
              <a:t>13</a:t>
            </a:r>
            <a:r>
              <a:rPr sz="1200" b="0" dirty="0">
                <a:solidFill>
                  <a:srgbClr val="94A3B8"/>
                </a:solidFill>
                <a:latin typeface="맑은 고딕"/>
                <a:ea typeface="맑은 고딕"/>
                <a:cs typeface="맑은 고딕"/>
              </a:rPr>
              <a:t> / 1</a:t>
            </a:r>
            <a:r>
              <a:rPr lang="en-US" sz="1200" b="0" dirty="0">
                <a:solidFill>
                  <a:srgbClr val="94A3B8"/>
                </a:solidFill>
                <a:latin typeface="맑은 고딕"/>
                <a:ea typeface="맑은 고딕"/>
                <a:cs typeface="맑은 고딕"/>
              </a:rPr>
              <a:t>3</a:t>
            </a:r>
            <a:endParaRPr sz="1200" b="0" dirty="0">
              <a:solidFill>
                <a:srgbClr val="94A3B8"/>
              </a:solidFill>
              <a:latin typeface="맑은 고딕"/>
              <a:ea typeface="맑은 고딕"/>
              <a:cs typeface="맑은 고딕"/>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1556</Words>
  <Application>Microsoft Office PowerPoint</Application>
  <PresentationFormat>와이드스크린</PresentationFormat>
  <Paragraphs>258</Paragraphs>
  <Slides>13</Slides>
  <Notes>13</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13</vt:i4>
      </vt:variant>
    </vt:vector>
  </HeadingPairs>
  <TitlesOfParts>
    <vt:vector size="17"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이준구</cp:lastModifiedBy>
  <cp:revision>11</cp:revision>
  <dcterms:created xsi:type="dcterms:W3CDTF">2013-01-27T09:14:16Z</dcterms:created>
  <dcterms:modified xsi:type="dcterms:W3CDTF">2026-06-11T16:00:47Z</dcterms:modified>
  <cp:category/>
</cp:coreProperties>
</file>